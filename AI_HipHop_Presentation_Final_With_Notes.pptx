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5" r:id="rId19"/>
    <p:sldId id="276" r:id="rId20"/>
    <p:sldId id="277" r:id="rId21"/>
  </p:sldIdLst>
  <p:sldSz cx="9144000" cy="5143500" type="screen16x9"/>
  <p:notesSz cx="6858000" cy="9144000"/>
  <p:embeddedFontLst>
    <p:embeddedFont>
      <p:font typeface="Montserrat" panose="00000500000000000000" pitchFamily="2" charset="0"/>
      <p:regular r:id="rId23"/>
      <p:bold r:id="rId24"/>
      <p:italic r:id="rId25"/>
      <p:boldItalic r:id="rId26"/>
    </p:embeddedFont>
    <p:embeddedFont>
      <p:font typeface="Montserrat SemiBold" panose="00000700000000000000" pitchFamily="2" charset="0"/>
      <p:regular r:id="rId27"/>
      <p:bold r:id="rId28"/>
      <p:boldItalic r:id="rId29"/>
    </p:embeddedFont>
    <p:embeddedFont>
      <p:font typeface="Open Sans" panose="020B0606030504020204" pitchFamily="34" charset="0"/>
      <p:regular r:id="rId30"/>
      <p:bold r:id="rId31"/>
      <p:italic r:id="rId32"/>
      <p:boldItalic r:id="rId33"/>
    </p:embeddedFont>
    <p:embeddedFont>
      <p:font typeface="Open Sans SemiBold" panose="020B0706030804020204" pitchFamily="34" charset="0"/>
      <p:regular r:id="rId34"/>
      <p:bold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108" y="108"/>
      </p:cViewPr>
      <p:guideLst/>
    </p:cSldViewPr>
  </p:slideViewPr>
  <p:notesTextViewPr>
    <p:cViewPr>
      <p:scale>
        <a:sx n="1" d="1"/>
        <a:sy n="1" d="1"/>
      </p:scale>
      <p:origin x="0" y="-90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bar"/>
        <c:grouping val="clustered"/>
        <c:varyColors val="0"/>
        <c:ser>
          <c:idx val="0"/>
          <c:order val="0"/>
          <c:tx>
            <c:strRef>
              <c:f>Sheet1!$B$1</c:f>
              <c:strCache>
                <c:ptCount val="1"/>
                <c:pt idx="0">
                  <c:v>Series 1</c:v>
                </c:pt>
              </c:strCache>
            </c:strRef>
          </c:tx>
          <c:spPr>
            <a:solidFill>
              <a:srgbClr val="5470C6"/>
            </a:solidFill>
          </c:spPr>
          <c:invertIfNegative val="1"/>
          <c:dLbls>
            <c:dLbl>
              <c:idx val="0"/>
              <c:tx>
                <c:rich>
                  <a:bodyPr/>
                  <a:lstStyle/>
                  <a:p>
                    <a:r>
                      <a:rPr lang="en-US" sz="750" b="1">
                        <a:solidFill>
                          <a:srgbClr val="1F1F1F"/>
                        </a:solidFill>
                        <a:latin typeface="Open Sans"/>
                      </a:rPr>
                      <a:t>54%</a:t>
                    </a:r>
                  </a:p>
                </c:rich>
              </c:tx>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154-4E80-93A4-D73A55400E2E}"/>
                </c:ext>
              </c:extLst>
            </c:dLbl>
            <c:dLbl>
              <c:idx val="1"/>
              <c:tx>
                <c:rich>
                  <a:bodyPr/>
                  <a:lstStyle/>
                  <a:p>
                    <a:r>
                      <a:rPr lang="en-US" sz="750" b="1">
                        <a:solidFill>
                          <a:srgbClr val="1F1F1F"/>
                        </a:solidFill>
                        <a:latin typeface="Open Sans"/>
                      </a:rPr>
                      <a:t>53%</a:t>
                    </a:r>
                  </a:p>
                </c:rich>
              </c:tx>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154-4E80-93A4-D73A55400E2E}"/>
                </c:ext>
              </c:extLst>
            </c:dLbl>
            <c:dLbl>
              <c:idx val="2"/>
              <c:tx>
                <c:rich>
                  <a:bodyPr/>
                  <a:lstStyle/>
                  <a:p>
                    <a:r>
                      <a:rPr lang="en-US" sz="750" b="1">
                        <a:solidFill>
                          <a:srgbClr val="1F1F1F"/>
                        </a:solidFill>
                        <a:latin typeface="Open Sans"/>
                      </a:rPr>
                      <a:t>38%</a:t>
                    </a:r>
                  </a:p>
                </c:rich>
              </c:tx>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154-4E80-93A4-D73A55400E2E}"/>
                </c:ext>
              </c:extLst>
            </c:dLbl>
            <c:dLbl>
              <c:idx val="3"/>
              <c:tx>
                <c:rich>
                  <a:bodyPr/>
                  <a:lstStyle/>
                  <a:p>
                    <a:r>
                      <a:rPr lang="en-US" sz="750" b="1">
                        <a:solidFill>
                          <a:srgbClr val="1F1F1F"/>
                        </a:solidFill>
                        <a:latin typeface="Open Sans"/>
                      </a:rPr>
                      <a:t>35%</a:t>
                    </a:r>
                  </a:p>
                </c:rich>
              </c:tx>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154-4E80-93A4-D73A55400E2E}"/>
                </c:ext>
              </c:extLst>
            </c:dLbl>
            <c:dLbl>
              <c:idx val="4"/>
              <c:tx>
                <c:rich>
                  <a:bodyPr/>
                  <a:lstStyle/>
                  <a:p>
                    <a:r>
                      <a:rPr lang="en-US" sz="750" b="1">
                        <a:solidFill>
                          <a:srgbClr val="1F1F1F"/>
                        </a:solidFill>
                        <a:latin typeface="Open Sans"/>
                      </a:rPr>
                      <a:t>18%</a:t>
                    </a:r>
                  </a:p>
                </c:rich>
              </c:tx>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154-4E80-93A4-D73A55400E2E}"/>
                </c:ext>
              </c:extLst>
            </c:dLbl>
            <c:numFmt formatCode="0.##&quot;%&quot;" sourceLinked="0"/>
            <c:spPr>
              <a:noFill/>
              <a:ln>
                <a:noFill/>
              </a:ln>
              <a:effectLst/>
            </c:spPr>
            <c:txPr>
              <a:bodyPr/>
              <a:lstStyle/>
              <a:p>
                <a:pPr>
                  <a:defRPr sz="750" b="1">
                    <a:solidFill>
                      <a:srgbClr val="1F1F1F"/>
                    </a:solidFill>
                    <a:latin typeface="Open Sans"/>
                  </a:defRPr>
                </a:pPr>
                <a:endParaRPr lang="en-US"/>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Electronic</c:v>
                </c:pt>
                <c:pt idx="1">
                  <c:v>Hip-Hop</c:v>
                </c:pt>
                <c:pt idx="2">
                  <c:v>Pop</c:v>
                </c:pt>
                <c:pt idx="3">
                  <c:v>R&amp;B</c:v>
                </c:pt>
                <c:pt idx="4">
                  <c:v>Rock</c:v>
                </c:pt>
              </c:strCache>
            </c:strRef>
          </c:cat>
          <c:val>
            <c:numRef>
              <c:f>Sheet1!$B$2:$B$6</c:f>
              <c:numCache>
                <c:formatCode>General</c:formatCode>
                <c:ptCount val="5"/>
                <c:pt idx="0">
                  <c:v>54</c:v>
                </c:pt>
                <c:pt idx="1">
                  <c:v>53</c:v>
                </c:pt>
                <c:pt idx="2">
                  <c:v>38</c:v>
                </c:pt>
                <c:pt idx="3">
                  <c:v>35</c:v>
                </c:pt>
                <c:pt idx="4">
                  <c:v>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E154-4E80-93A4-D73A55400E2E}"/>
            </c:ext>
          </c:extLst>
        </c:ser>
        <c:dLbls>
          <c:showLegendKey val="0"/>
          <c:showVal val="0"/>
          <c:showCatName val="0"/>
          <c:showSerName val="0"/>
          <c:showPercent val="0"/>
          <c:showBubbleSize val="0"/>
        </c:dLbls>
        <c:gapWidth val="61"/>
        <c:axId val="48698312"/>
        <c:axId val="48720968"/>
      </c:barChart>
      <c:catAx>
        <c:axId val="48698312"/>
        <c:scaling>
          <c:orientation val="maxMin"/>
        </c:scaling>
        <c:delete val="0"/>
        <c:axPos val="l"/>
        <c:numFmt formatCode="General" sourceLinked="1"/>
        <c:majorTickMark val="none"/>
        <c:minorTickMark val="cross"/>
        <c:tickLblPos val="nextTo"/>
        <c:spPr>
          <a:ln>
            <a:noFill/>
          </a:ln>
        </c:spPr>
        <c:txPr>
          <a:bodyPr rot="0"/>
          <a:lstStyle/>
          <a:p>
            <a:pPr>
              <a:defRPr sz="750" b="1" i="0">
                <a:solidFill>
                  <a:srgbClr val="5B5B5B"/>
                </a:solidFill>
                <a:latin typeface="Arial"/>
              </a:defRPr>
            </a:pPr>
            <a:endParaRPr lang="en-US"/>
          </a:p>
        </c:txPr>
        <c:crossAx val="48720968"/>
        <c:crosses val="autoZero"/>
        <c:auto val="1"/>
        <c:lblAlgn val="ctr"/>
        <c:lblOffset val="60"/>
        <c:noMultiLvlLbl val="1"/>
      </c:catAx>
      <c:valAx>
        <c:axId val="48720968"/>
        <c:scaling>
          <c:orientation val="minMax"/>
          <c:max val="60"/>
          <c:min val="0"/>
        </c:scaling>
        <c:delete val="0"/>
        <c:axPos val="t"/>
        <c:majorGridlines>
          <c:spPr>
            <a:ln w="9525">
              <a:solidFill>
                <a:srgbClr val="000000">
                  <a:alpha val="8000"/>
                </a:srgbClr>
              </a:solidFill>
              <a:prstDash val="solid"/>
            </a:ln>
          </c:spPr>
        </c:majorGridlines>
        <c:title>
          <c:tx>
            <c:rich>
              <a:bodyPr/>
              <a:lstStyle/>
              <a:p>
                <a:r>
                  <a:rPr lang="en-US" sz="750" b="1" i="0">
                    <a:solidFill>
                      <a:srgbClr val="5B5B5B"/>
                    </a:solidFill>
                    <a:latin typeface="Arial"/>
                  </a:rPr>
                  <a:t>Adoption rate (%)</a:t>
                </a:r>
              </a:p>
            </c:rich>
          </c:tx>
          <c:overlay val="0"/>
        </c:title>
        <c:numFmt formatCode="0.##&quot;%&quot;" sourceLinked="0"/>
        <c:majorTickMark val="none"/>
        <c:minorTickMark val="none"/>
        <c:tickLblPos val="nextTo"/>
        <c:spPr>
          <a:ln w="9525">
            <a:solidFill>
              <a:srgbClr val="5B5B5B">
                <a:alpha val="28000"/>
              </a:srgbClr>
            </a:solidFill>
            <a:prstDash val="solid"/>
          </a:ln>
        </c:spPr>
        <c:txPr>
          <a:bodyPr rot="0"/>
          <a:lstStyle/>
          <a:p>
            <a:pPr>
              <a:defRPr sz="750" b="0" i="0">
                <a:solidFill>
                  <a:srgbClr val="5B5B5B"/>
                </a:solidFill>
                <a:latin typeface="Arial"/>
              </a:defRPr>
            </a:pPr>
            <a:endParaRPr lang="en-US"/>
          </a:p>
        </c:txPr>
        <c:crossAx val="48698312"/>
        <c:crosses val="autoZero"/>
        <c:crossBetween val="between"/>
      </c:valAx>
    </c:plotArea>
    <c:plotVisOnly val="1"/>
    <c:dispBlanksAs val="gap"/>
    <c:showDLblsOverMax val="1"/>
  </c:chart>
  <c:txPr>
    <a:bodyPr rot="0"/>
    <a:lstStyle/>
    <a:p>
      <a:pPr>
        <a:defRPr sz="9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C05EEB-E9E3-4772-8020-1E9BDD57821C}"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5908E-10AC-40D9-BE88-B23ABF7F0709}" type="slidenum">
              <a:rPr lang="en-US" smtClean="0"/>
              <a:t>‹#›</a:t>
            </a:fld>
            <a:endParaRPr lang="en-US"/>
          </a:p>
        </p:txBody>
      </p:sp>
    </p:spTree>
    <p:extLst>
      <p:ext uri="{BB962C8B-B14F-4D97-AF65-F5344CB8AC3E}">
        <p14:creationId xmlns:p14="http://schemas.microsoft.com/office/powerpoint/2010/main" val="4083562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 AI &amp; Hip-Hop</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Good morning/afternoon, class.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My name is Komla Dravie. I’m a Data Engineer by day and I am trying to wrap up my MSDS coursework. This is my last class.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I’d like to begin with a simple question, albeit not an easy one: if an AI system can produce a song that sounds exactly like and feels exactly like a Jay-Z song vocally, rhythmically.  Who then is the artist?</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This isn’t just a music-only question.  But it is also a question about responsibility. It is a question about who made the output, who benefits from it, who gave permission? Hip-hop makes a powerful case study for thinking about AI. </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a:t>
            </a:fld>
            <a:endParaRPr lang="en-US"/>
          </a:p>
        </p:txBody>
      </p:sp>
    </p:spTree>
    <p:extLst>
      <p:ext uri="{BB962C8B-B14F-4D97-AF65-F5344CB8AC3E}">
        <p14:creationId xmlns:p14="http://schemas.microsoft.com/office/powerpoint/2010/main" val="634398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2. Roadmap</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following are the topics we will be covering today:</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reasons we chose hip-hop as a case study</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current capabilities of AI in music today</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Ethics of AI in music creation</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precedents and technology</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specific case of Voice Cloning</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And the Data Science implications of it all</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One important note: this isn’t a future-looking issue only. The tools exist right now. The ethical questions are contemporary.</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2</a:t>
            </a:fld>
            <a:endParaRPr lang="en-US"/>
          </a:p>
        </p:txBody>
      </p:sp>
    </p:spTree>
    <p:extLst>
      <p:ext uri="{BB962C8B-B14F-4D97-AF65-F5344CB8AC3E}">
        <p14:creationId xmlns:p14="http://schemas.microsoft.com/office/powerpoint/2010/main" val="1821447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3. Why Use Hip-Hop as a Case Study</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So why hip-hop?</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First of all, it is very personal.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Even though I grew up in Africa, Hip-hop was very central to my formative years. And I completely adhered to its ethos. I found it all very alluring/fascinating. Not so coincidentally Jay-Z is my favorite artist. I’ll spare you the details.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Hip-hop is especially useful because it’s always held two commitments at the same time.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On one hand, it has a history of experimentation. It has embraced turntables, drum machines, samplers, digital production tools, Auto-Tune, and platform culture.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On the other, hip-hop has always placed a strong value on originality, authenticity, and earning credibility. In this culture, authorship is about much more than legal ownership. It is about identity and meaning. People care about who is speaking, what experiences they bring, how they sound, and whether that voice feels genuine and earned.</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This duality makes it a useful ethical test case for AI.</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3</a:t>
            </a:fld>
            <a:endParaRPr lang="en-US"/>
          </a:p>
        </p:txBody>
      </p:sp>
    </p:spTree>
    <p:extLst>
      <p:ext uri="{BB962C8B-B14F-4D97-AF65-F5344CB8AC3E}">
        <p14:creationId xmlns:p14="http://schemas.microsoft.com/office/powerpoint/2010/main" val="3701286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4. Hip-Hop's Authenticity Standard</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Hip-hop has never existed in isolation. Influence has always been part of the culture. Artists study earlier records, borrow flows, sample classics, and remix newer sounds. That’s normal. But there’s a difference between influence and imitation or “biting,” as hip-hop heads call it.</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Influence means taking inspiration and transforming it through your own perspective and experience. Imitation feels more like wearing someone else’s identity. It might sound impressive, but it can also feel hollow. Hip-hop places a premium on originality. Freestyling is celebrated, battle rap legends are built on quick wit, and there are countless stories of emcees creating incredible verses in minutes. The pen is sacred.</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Now AI can produce songs that seem original on the surface, even though they’re built from patterns learned from earlier works. The concern isn’t simply that AI helps people create. It’s that polished outputs could gradually flatten the cultural uniqueness that gives hip-hop its meaning.</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That’s the real tension: AI may open up new creative possibilities, but it could also weaken the standards of originality and authenticity that have always been central to hip-hop.</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4</a:t>
            </a:fld>
            <a:endParaRPr lang="en-US"/>
          </a:p>
        </p:txBody>
      </p:sp>
    </p:spTree>
    <p:extLst>
      <p:ext uri="{BB962C8B-B14F-4D97-AF65-F5344CB8AC3E}">
        <p14:creationId xmlns:p14="http://schemas.microsoft.com/office/powerpoint/2010/main" val="150247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5. A Personal Entry Point</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What makes this topic personal for me is that I’ve always valued the human element in hip-hop. I used to find the idea of AI-generated rap almost unthinkable, especially in a culture that places so much importance on writing and creating your own work.</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Then I came across a version of 50 Cent’s “Many Men” reimagined over a 1950s Motown soul sound. The contrast between the hard lyrics and the church-like instrumentation was striking. And boy did I loved it. That reaction made me uncomfortable because it challenged my instinctive resistance to AI in hip-hop.</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But enjoying the result doesn’t resolve the ethical questions. Something can sound great and still raise concerns about consent, authorship, identity, and appropriation. Sometimes ethical reflection begins with that very discomfort.</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5</a:t>
            </a:fld>
            <a:endParaRPr lang="en-US"/>
          </a:p>
        </p:txBody>
      </p:sp>
    </p:spTree>
    <p:extLst>
      <p:ext uri="{BB962C8B-B14F-4D97-AF65-F5344CB8AC3E}">
        <p14:creationId xmlns:p14="http://schemas.microsoft.com/office/powerpoint/2010/main" val="9330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6. Technology Debates Are Not New</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You might be thinking, “Hasn’t hip-hop always debated authenticity and technology?” Absolutely. Every major innovation has changed ideas about talent, artistry, and originality, forcing artists and audiences to rethink what they value.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So the real question isn’t the tool itself, but how it changes authorship, labor, and value. Who gets credit? Which skills become invisible? What kinds of creativity are amplified, and which are pushed aside?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Looking at AI through this historical lens helps us avoid moral panic. But it also reminds us that AI is different in one important way: it expands what’s possible. And it does so at a scale and speed we haven’t seen before.</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6</a:t>
            </a:fld>
            <a:endParaRPr lang="en-US"/>
          </a:p>
        </p:txBody>
      </p:sp>
    </p:spTree>
    <p:extLst>
      <p:ext uri="{BB962C8B-B14F-4D97-AF65-F5344CB8AC3E}">
        <p14:creationId xmlns:p14="http://schemas.microsoft.com/office/powerpoint/2010/main" val="1267998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7. Auto-Tune as a Precedent</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Originally a narrow pitch-correction tool, Auto-Tune became a distinct artistic style popularized by artists like T-Pain. Its rise sparked a familiar debate: critics called it cheating, while supporters saw innovation. Eventually, the technology became normalized, shifting the ethical debate rather than ending it.</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AI follows a similar trajectory but goes much further. Instead of modifying a single element like Auto-Tune, AI can generate beats, lyrics, vocals, and performance cues simultaneously. This total automation is why the stakes now feel entirely different</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7</a:t>
            </a:fld>
            <a:endParaRPr lang="en-US"/>
          </a:p>
        </p:txBody>
      </p:sp>
    </p:spTree>
    <p:extLst>
      <p:ext uri="{BB962C8B-B14F-4D97-AF65-F5344CB8AC3E}">
        <p14:creationId xmlns:p14="http://schemas.microsoft.com/office/powerpoint/2010/main" val="2590111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8. Sampling and the Morals of Appropriation</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Sampling has always been a cornerstone of hip-hop. Producers create something new by selecting, layering, and transforming existing sounds, and while sampling has long raised questions about ownership and compensation, it remains a deeply creative practice rooted in musical knowledge and cultural awareness.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AI also builds on what came before, but it does so on a vastly larger scale and with much less transparency. The challenge is not that borrowing occurs. Borrowing has always been part of art. But whether we can still identify who contributed, who deserves credit, and whether works were used without consent.</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Traditional sampling demanded cultural labor. Producers spent years learning musical history, digging through records, and developing the craft of discovering and reinterpreting sounds. AI shifts much of that knowledge from the artist to the model, allowing users to generate polished music from a simple prompt. While this accessibility expands creative possibilities, it also risks disconnecting the output from the traditions and histories that shaped it. When lineage, effort, and source knowledge fade from view, cultural memory itself becomes harder to preserve.</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8</a:t>
            </a:fld>
            <a:endParaRPr lang="en-US"/>
          </a:p>
        </p:txBody>
      </p:sp>
    </p:spTree>
    <p:extLst>
      <p:ext uri="{BB962C8B-B14F-4D97-AF65-F5344CB8AC3E}">
        <p14:creationId xmlns:p14="http://schemas.microsoft.com/office/powerpoint/2010/main" val="932094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9. AI In Music Today</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Lets talk about what current AI music systems can actually do.</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Today’s AI music systems can generate beats, melodies, lyrics, vocals, and even release-ready tracks. Tools like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Suno</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and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Udio</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have made music creation far more accessible, allowing people with little production experience to create and share songs quickly.</a:t>
            </a:r>
            <a:endParaRPr lang="en-US" sz="1800" dirty="0">
              <a:effectLst/>
              <a:latin typeface="Times New Roman" panose="02020603050405020304" pitchFamily="18" charset="0"/>
              <a:ea typeface="Times New Roman" panose="02020603050405020304" pitchFamily="18" charset="0"/>
            </a:endParaRPr>
          </a:p>
          <a:p>
            <a:pPr marL="0" marR="0">
              <a:spcBef>
                <a:spcPts val="600"/>
              </a:spcBef>
              <a:spcAft>
                <a:spcPts val="600"/>
              </a:spcAft>
            </a:pPr>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9</a:t>
            </a:fld>
            <a:endParaRPr lang="en-US"/>
          </a:p>
        </p:txBody>
      </p:sp>
    </p:spTree>
    <p:extLst>
      <p:ext uri="{BB962C8B-B14F-4D97-AF65-F5344CB8AC3E}">
        <p14:creationId xmlns:p14="http://schemas.microsoft.com/office/powerpoint/2010/main" val="3489865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10. What AI Music Systems Are Now Capable Of</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adoption is growing fast. I have some numbers lad out on the screen.</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53% of hip-hop producers use AI. </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More than 60 million people have used AI music tools. </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By 2030, as much as 25% of recorded music could be AI-generated. </a:t>
            </a:r>
            <a:endParaRPr lang="en-US" sz="1800" dirty="0">
              <a:effectLst/>
              <a:latin typeface="Times New Roman" panose="02020603050405020304" pitchFamily="18" charset="0"/>
              <a:ea typeface="Times New Roman" panose="02020603050405020304" pitchFamily="18" charset="0"/>
            </a:endParaRPr>
          </a:p>
          <a:p>
            <a:pPr marL="45720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That growth is what makes the ethical questions so urgent. These tools are already shaping careers, changing expectations, and challenging existing norms before institutions have fully caught up.</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10</a:t>
            </a:fld>
            <a:endParaRPr lang="en-US"/>
          </a:p>
        </p:txBody>
      </p:sp>
    </p:spTree>
    <p:extLst>
      <p:ext uri="{BB962C8B-B14F-4D97-AF65-F5344CB8AC3E}">
        <p14:creationId xmlns:p14="http://schemas.microsoft.com/office/powerpoint/2010/main" val="931007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11. AI in Hip-Hop Production Practice</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 also want to avoid treating AI in hip-hop as a simple yes-or-no issue.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It is more useful to think about it is as a spectrum. On one end, artists and producers might use AI to help with brainstorming, coming up with beat ideas, rough drafts, alternate lyrics, or just speeding up parts of the creative process. In those cases, AI works more like an assistant or a creative partner.</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On the other end, there are concerns that AI can lead to more generic music, diminish the importance of individual craft, and make creative work feel less personal and less distinctive.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So, the real question isn’t simply, “Are you for AI or against AI?” A better question is: When does assistance turn into replacement? At what point does making things more efficient start to weaken authorship and creative identity? Different people will probably draw that line in different places. But figuring out where that line should be is exactly the conversation we need to be having</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Here we are looking at another set of statistics: Hip-hop ranks second and barely behind Electronic music in the adoption of AI usage. We are also looking at the ways tools enter the practice:</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Beat Generation: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Suno</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Udio</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Boomy</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Sample Intelligence: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LoopMagic</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Lyric and Flow AI: Large Language Models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11</a:t>
            </a:fld>
            <a:endParaRPr lang="en-US"/>
          </a:p>
        </p:txBody>
      </p:sp>
    </p:spTree>
    <p:extLst>
      <p:ext uri="{BB962C8B-B14F-4D97-AF65-F5344CB8AC3E}">
        <p14:creationId xmlns:p14="http://schemas.microsoft.com/office/powerpoint/2010/main" val="3182692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12. Voice Cloning Changes the Stakes</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Voice cloning is uniquely unsettling because a voice isn't just a production tool; it is deeply tied to identity, reputation, and personal meaning.</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Unlike borrowing a musical style, cloning a voice simulates the actual person. This shifts the issue from cultural discomfort to a serious ethical and legal challenge: a voice being public does not mean it is free to use. Visibility is not consent, and imitating voice risks appropriating identity itself.</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12</a:t>
            </a:fld>
            <a:endParaRPr lang="en-US"/>
          </a:p>
        </p:txBody>
      </p:sp>
    </p:spTree>
    <p:extLst>
      <p:ext uri="{BB962C8B-B14F-4D97-AF65-F5344CB8AC3E}">
        <p14:creationId xmlns:p14="http://schemas.microsoft.com/office/powerpoint/2010/main" val="2090198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13. Case Study: </a:t>
            </a:r>
            <a:r>
              <a:rPr lang="en-US" sz="1800" b="1" i="1" dirty="0">
                <a:solidFill>
                  <a:srgbClr val="375375"/>
                </a:solidFill>
                <a:effectLst/>
                <a:latin typeface="Calibri" panose="020F0502020204030204" pitchFamily="34" charset="0"/>
                <a:cs typeface="Times New Roman" panose="02020603050405020304" pitchFamily="18" charset="0"/>
              </a:rPr>
              <a:t>Heart on My Sleeve</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One of the most notable real-world examples is the viral track </a:t>
            </a:r>
            <a:r>
              <a:rPr lang="en-US" sz="1800" i="1" dirty="0">
                <a:effectLst/>
                <a:latin typeface="Calibri" panose="020F0502020204030204" pitchFamily="34" charset="0"/>
                <a:ea typeface="Times New Roman" panose="02020603050405020304" pitchFamily="18" charset="0"/>
                <a:cs typeface="Times New Roman" panose="02020603050405020304" pitchFamily="18" charset="0"/>
              </a:rPr>
              <a:t>Heart on My Sleeve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often called the “fake Drake” case.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song drew massive attention because it closely mimicked Drake and the </a:t>
            </a:r>
            <a:r>
              <a:rPr lang="en-US" sz="1800" dirty="0" err="1">
                <a:effectLst/>
                <a:latin typeface="Calibri" panose="020F0502020204030204" pitchFamily="34" charset="0"/>
                <a:ea typeface="Times New Roman" panose="02020603050405020304" pitchFamily="18" charset="0"/>
                <a:cs typeface="Times New Roman" panose="02020603050405020304" pitchFamily="18" charset="0"/>
              </a:rPr>
              <a:t>Weeknd</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despite not being an authorized collaboration. It spread quickly across social media and streaming platforms before being removed.</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What made the case important was not just how realistic it sounded, but the issues it exposed: voice use without consent, questions of authorship, and the speed of the industry's response.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It also showed that AI music governance is shaped not only by courts and legislation, but by streaming platforms, distributors, and industry stakeholders through policies, takedowns, and public pressure. The </a:t>
            </a:r>
            <a:r>
              <a:rPr lang="en-US" sz="1800" i="1" dirty="0">
                <a:effectLst/>
                <a:latin typeface="Calibri" panose="020F0502020204030204" pitchFamily="34" charset="0"/>
                <a:ea typeface="Times New Roman" panose="02020603050405020304" pitchFamily="18" charset="0"/>
                <a:cs typeface="Times New Roman" panose="02020603050405020304" pitchFamily="18" charset="0"/>
              </a:rPr>
              <a:t>Heart on My Sleeve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episode illustrates how technology, law, and ethics are evolving in real time.</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13</a:t>
            </a:fld>
            <a:endParaRPr lang="en-US"/>
          </a:p>
        </p:txBody>
      </p:sp>
    </p:spTree>
    <p:extLst>
      <p:ext uri="{BB962C8B-B14F-4D97-AF65-F5344CB8AC3E}">
        <p14:creationId xmlns:p14="http://schemas.microsoft.com/office/powerpoint/2010/main" val="3948294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14. Law Is Moving, but Unevenly</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Legally, we're in a period of change, but also a period of fragmentation.</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Lawmakers are starting to pay close attention. Measures like the ELVIS Act, along with newer federal proposals, show that concerns about voice, likeness, and AI-generated imitation are being taken seriously. And that's an important step.</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At the same time, the legal landscape is still uneven and incomplete. Different states and jurisdictions handle these issues in different ways, and existing copyright law doesn't provide clear answers to every question. Publicity rights, contract law, platform policies, and emerging regulations all intersect, but they don't always work together in a consistent way.</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As a result, there's still a great deal of uncertainty. And that uncertainty matters because people often look to the law for moral guidance. But what's legally permissible isn't always ethically acceptable. Something can fall into a legal gray area and still raise serious ethical concerns.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That's why we shouldn't treat the law as a complete moral standard. Legal compliance is important, but it doesn't automatically answer the deeper questions about what is fair, respectful, or responsible.</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14</a:t>
            </a:fld>
            <a:endParaRPr lang="en-US"/>
          </a:p>
        </p:txBody>
      </p:sp>
    </p:spTree>
    <p:extLst>
      <p:ext uri="{BB962C8B-B14F-4D97-AF65-F5344CB8AC3E}">
        <p14:creationId xmlns:p14="http://schemas.microsoft.com/office/powerpoint/2010/main" val="916038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15. Four Ethical Fault Lines</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At this point, it helps to frame the conversation around four big ethical pressure points: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consent</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authorship</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cultural exploitation</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and </a:t>
            </a: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labor</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These are the things that matter once we stop asking only whether an AI‑generated song or artwork sounds good. Quality alone doesn’t settle the ethical questions. A flawless track can still be built on shaky ground.</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15</a:t>
            </a:fld>
            <a:endParaRPr lang="en-US"/>
          </a:p>
        </p:txBody>
      </p:sp>
    </p:spTree>
    <p:extLst>
      <p:ext uri="{BB962C8B-B14F-4D97-AF65-F5344CB8AC3E}">
        <p14:creationId xmlns:p14="http://schemas.microsoft.com/office/powerpoint/2010/main" val="1879738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16. Consent and Voice Rights</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Consent</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is about whether the people whose voices, styles, or creative work shaped the system ever agreed to be part of it. Voice isn’t just another data point or features to analyze, it often carries identity in a very intimate way.</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Authorship</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is about who deserves credit and whether AI blurs that recognition. In hip-hop, authenticity comes from lived experience, integrity, and the bond between artist and audience. AI can imitate credibility without earning it. A convincing performance is not the same as an authentic one. And in rap, that distinction is essential.</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Cultural exploitation</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asks whether communities are being used without consent, credit, or compensation. If AI is trained on Black cultural expression without context or recognition, it risks repeating patterns of extraction. Training data choices are ultimately questions of fairness, representation, and power.</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Labor</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raises the question of who loses income, visibility, and opportunity as AI automates creativity. Efficiency often shifts value rather than creating it, making some forms of human labor less visible and more vulnerable.</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16</a:t>
            </a:fld>
            <a:endParaRPr lang="en-US"/>
          </a:p>
        </p:txBody>
      </p:sp>
    </p:spTree>
    <p:extLst>
      <p:ext uri="{BB962C8B-B14F-4D97-AF65-F5344CB8AC3E}">
        <p14:creationId xmlns:p14="http://schemas.microsoft.com/office/powerpoint/2010/main" val="3028034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17. Labor, Creativity, and Economic Pressure</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So what does all of this mean for data scientists?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Many of us will go on to build generative AI tools, media platforms, policy-facing applications, or decision-support systems. And even if we never work directly in music, the same ethical issues are going to show up in other domains.</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17</a:t>
            </a:fld>
            <a:endParaRPr lang="en-US"/>
          </a:p>
        </p:txBody>
      </p:sp>
    </p:spTree>
    <p:extLst>
      <p:ext uri="{BB962C8B-B14F-4D97-AF65-F5344CB8AC3E}">
        <p14:creationId xmlns:p14="http://schemas.microsoft.com/office/powerpoint/2010/main" val="356216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18. What Does This Mean for Data Scientists?</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That means our responsibility goes beyond simply making models perform well. We also need to think about where the data comes from, whether people have consented to its use, how generated content is disclosed, how creators are credited, and whether there are fair ways to compensate people when systems derive value from human work.</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In other words, building ethical AI for music—or for any culturally sensitive area—is not just a technical problem. It is a socio-technical problem. The challenge is not only about building better models, but also about thinking carefully about the people and communities those models affect.</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Ultimately, the most important question is not simply whether a system works. It is whether it works in a way that respects people, culture, creative labor, and consent.</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18</a:t>
            </a:fld>
            <a:endParaRPr lang="en-US"/>
          </a:p>
        </p:txBody>
      </p:sp>
    </p:spTree>
    <p:extLst>
      <p:ext uri="{BB962C8B-B14F-4D97-AF65-F5344CB8AC3E}">
        <p14:creationId xmlns:p14="http://schemas.microsoft.com/office/powerpoint/2010/main" val="1744677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600"/>
              </a:spcBef>
              <a:spcAft>
                <a:spcPts val="600"/>
              </a:spcAft>
            </a:pPr>
            <a:r>
              <a:rPr lang="en-US" sz="1800" b="1" dirty="0">
                <a:solidFill>
                  <a:srgbClr val="375375"/>
                </a:solidFill>
                <a:effectLst/>
                <a:latin typeface="Calibri" panose="020F0502020204030204" pitchFamily="34" charset="0"/>
                <a:cs typeface="Times New Roman" panose="02020603050405020304" pitchFamily="18" charset="0"/>
              </a:rPr>
              <a:t>Slide 19. Closing Question</a:t>
            </a:r>
            <a:endParaRPr lang="en-US" sz="1800" b="1" dirty="0">
              <a:solidFill>
                <a:srgbClr val="2E74B5"/>
              </a:solidFill>
              <a:effectLst/>
              <a:latin typeface="Times New Roman" panose="02020603050405020304" pitchFamily="18" charset="0"/>
            </a:endParaRPr>
          </a:p>
          <a:p>
            <a:pPr marL="0" marR="0">
              <a:spcBef>
                <a:spcPts val="0"/>
              </a:spcBef>
              <a:spcAft>
                <a:spcPts val="600"/>
              </a:spcAft>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Suggested duration:</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1 minute</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Let me close by returning to the question I opened with.</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If an AI system can convincingly emulate a person, then who is the artist?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 don’t think this presentation leads to a neat yes/no answer. And I don’t think that it should. The point is not to force certainty where the issue is very complex.</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What clear for me is that the answer will depend on design choices, legal structures, and cultural values. Those things do not emerge on their own. People build them. People enforce them. People normalize them.</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So as future technologists, our role is not neutral. We will be helping decide whether these systems support creativity, distort it, exploit it, or transform it in more ethical directions.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a:effectLst/>
                <a:latin typeface="Calibri" panose="020F0502020204030204" pitchFamily="34" charset="0"/>
                <a:ea typeface="Times New Roman" panose="02020603050405020304" pitchFamily="18" charset="0"/>
                <a:cs typeface="Times New Roman" panose="02020603050405020304" pitchFamily="18" charset="0"/>
              </a:rPr>
              <a:t>Folks, to quote the leader of the free world: “Thank you for your attention to this matter”.</a:t>
            </a:r>
            <a:endParaRPr lang="en-US" sz="180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B5908E-10AC-40D9-BE88-B23ABF7F0709}" type="slidenum">
              <a:rPr lang="en-US" smtClean="0"/>
              <a:t>19</a:t>
            </a:fld>
            <a:endParaRPr lang="en-US"/>
          </a:p>
        </p:txBody>
      </p:sp>
    </p:spTree>
    <p:extLst>
      <p:ext uri="{BB962C8B-B14F-4D97-AF65-F5344CB8AC3E}">
        <p14:creationId xmlns:p14="http://schemas.microsoft.com/office/powerpoint/2010/main" val="3716137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4538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808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918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0929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566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656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81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09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882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200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274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066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6"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609600" y="750697"/>
            <a:ext cx="7924800" cy="307975"/>
          </a:xfrm>
          <a:prstGeom prst="roundRect">
            <a:avLst>
              <a:gd name="adj" fmla="val 49958"/>
            </a:avLst>
          </a:prstGeom>
          <a:solidFill>
            <a:srgbClr val="EEE6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Rectangle">
            <a:extLst>
              <a:ext uri="{FF2B5EF4-FFF2-40B4-BE49-F238E27FC236}">
                <a16:creationId xmlns:a16="http://schemas.microsoft.com/office/drawing/2014/main" id="{A0C957D4-E4F1-4D51-EC0C-C161461E948E}"/>
              </a:ext>
            </a:extLst>
          </p:cNvPr>
          <p:cNvSpPr/>
          <p:nvPr/>
        </p:nvSpPr>
        <p:spPr>
          <a:xfrm>
            <a:off x="614362" y="755459"/>
            <a:ext cx="7915275" cy="298450"/>
          </a:xfrm>
          <a:prstGeom prst="roundRect">
            <a:avLst>
              <a:gd name="adj" fmla="val 49957"/>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a:extLst>
              <a:ext uri="{FF2B5EF4-FFF2-40B4-BE49-F238E27FC236}">
                <a16:creationId xmlns:a16="http://schemas.microsoft.com/office/drawing/2014/main" id="{A0C957D4-E4F1-4D51-EC0C-C161461E948E}"/>
              </a:ext>
            </a:extLst>
          </p:cNvPr>
          <p:cNvSpPr/>
          <p:nvPr/>
        </p:nvSpPr>
        <p:spPr>
          <a:xfrm>
            <a:off x="733425" y="823595"/>
            <a:ext cx="688301" cy="1619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080"/>
              </a:lnSpc>
            </a:pPr>
            <a:r>
              <a:rPr lang="en-US" sz="900" b="1" i="0" spc="72" dirty="0">
                <a:solidFill>
                  <a:srgbClr val="6B2D5C"/>
                </a:solidFill>
                <a:latin typeface="Open Sans"/>
              </a:rPr>
              <a:t>MSDS 690</a:t>
            </a:r>
            <a:endParaRPr lang="en-US"/>
          </a:p>
        </p:txBody>
      </p:sp>
      <p:sp>
        <p:nvSpPr>
          <p:cNvPr id="6" name="RoundedRectangle">
            <a:extLst>
              <a:ext uri="{FF2B5EF4-FFF2-40B4-BE49-F238E27FC236}">
                <a16:creationId xmlns:a16="http://schemas.microsoft.com/office/drawing/2014/main" id="{A0C957D4-E4F1-4D51-EC0C-C161461E948E}"/>
              </a:ext>
            </a:extLst>
          </p:cNvPr>
          <p:cNvSpPr/>
          <p:nvPr/>
        </p:nvSpPr>
        <p:spPr>
          <a:xfrm>
            <a:off x="609600" y="1236218"/>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609600" y="1515491"/>
            <a:ext cx="7962900" cy="509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5908" rIns="0" bIns="0" rtlCol="0" anchor="t"/>
          <a:lstStyle/>
          <a:p>
            <a:pPr algn="l">
              <a:lnSpc>
                <a:spcPts val="3808"/>
              </a:lnSpc>
            </a:pPr>
            <a:r>
              <a:rPr lang="en-US" sz="3400" b="1" i="0" spc="-68" dirty="0">
                <a:solidFill>
                  <a:srgbClr val="1F1F1F"/>
                </a:solidFill>
                <a:latin typeface="Montserrat"/>
              </a:rPr>
              <a:t>AI &amp; Hip-Hop</a:t>
            </a:r>
            <a:endParaRPr lang="en-US"/>
          </a:p>
        </p:txBody>
      </p:sp>
      <p:sp>
        <p:nvSpPr>
          <p:cNvPr id="8" name="Rectangle">
            <a:extLst>
              <a:ext uri="{FF2B5EF4-FFF2-40B4-BE49-F238E27FC236}">
                <a16:creationId xmlns:a16="http://schemas.microsoft.com/office/drawing/2014/main" id="{A0C957D4-E4F1-4D51-EC0C-C161461E948E}"/>
              </a:ext>
            </a:extLst>
          </p:cNvPr>
          <p:cNvSpPr/>
          <p:nvPr/>
        </p:nvSpPr>
        <p:spPr>
          <a:xfrm>
            <a:off x="609600" y="2151507"/>
            <a:ext cx="7823060" cy="2227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755"/>
              </a:lnSpc>
            </a:pPr>
            <a:r>
              <a:rPr lang="en-US" sz="1300" b="0" i="0" dirty="0">
                <a:solidFill>
                  <a:srgbClr val="5B5B5B"/>
                </a:solidFill>
                <a:latin typeface="Open Sans"/>
              </a:rPr>
              <a:t>Authorship, authenticity, and ethics in the age of AI-generated music</a:t>
            </a:r>
            <a:endParaRPr lang="en-US"/>
          </a:p>
        </p:txBody>
      </p:sp>
      <p:sp>
        <p:nvSpPr>
          <p:cNvPr id="9" name="RoundedRectangle">
            <a:extLst>
              <a:ext uri="{FF2B5EF4-FFF2-40B4-BE49-F238E27FC236}">
                <a16:creationId xmlns:a16="http://schemas.microsoft.com/office/drawing/2014/main" id="{A0C957D4-E4F1-4D51-EC0C-C161461E948E}"/>
              </a:ext>
            </a:extLst>
          </p:cNvPr>
          <p:cNvSpPr/>
          <p:nvPr/>
        </p:nvSpPr>
        <p:spPr>
          <a:xfrm>
            <a:off x="609600" y="2653665"/>
            <a:ext cx="7925003" cy="902790"/>
          </a:xfrm>
          <a:prstGeom prst="roundRect">
            <a:avLst>
              <a:gd name="adj" fmla="val 16880"/>
            </a:avLst>
          </a:prstGeom>
          <a:solidFill>
            <a:srgbClr val="1F1F1F"/>
          </a:solidFill>
          <a:ln>
            <a:noFill/>
          </a:ln>
          <a:effectLst>
            <a:outerShdw blurRad="101600" dist="25400" dir="5400000" algn="ctr" rotWithShape="0">
              <a:srgbClr val="000000">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863473" y="2852928"/>
            <a:ext cx="7121525"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4"/>
              </a:lnSpc>
            </a:pPr>
            <a:r>
              <a:rPr lang="en-US" sz="1300" b="0" i="0" dirty="0">
                <a:solidFill>
                  <a:srgbClr val="F6F2EA"/>
                </a:solidFill>
                <a:latin typeface="Open Sans"/>
              </a:rPr>
              <a:t>If an AI can create a Jay-Z-like song that millions cannot distinguish from the real thing, who is the</a:t>
            </a: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863473" y="3075686"/>
            <a:ext cx="454025"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4"/>
              </a:lnSpc>
            </a:pPr>
            <a:r>
              <a:rPr lang="en-US" sz="1300" b="0" i="0" dirty="0">
                <a:solidFill>
                  <a:srgbClr val="F6F2EA"/>
                </a:solidFill>
                <a:latin typeface="Open Sans"/>
              </a:rPr>
              <a:t>artist?</a:t>
            </a:r>
            <a:endParaRPr lang="en-US"/>
          </a:p>
        </p:txBody>
      </p:sp>
      <p:sp>
        <p:nvSpPr>
          <p:cNvPr id="12" name="RoundedRectangle">
            <a:extLst>
              <a:ext uri="{FF2B5EF4-FFF2-40B4-BE49-F238E27FC236}">
                <a16:creationId xmlns:a16="http://schemas.microsoft.com/office/drawing/2014/main" id="{A0C957D4-E4F1-4D51-EC0C-C161461E948E}"/>
              </a:ext>
            </a:extLst>
          </p:cNvPr>
          <p:cNvSpPr/>
          <p:nvPr/>
        </p:nvSpPr>
        <p:spPr>
          <a:xfrm>
            <a:off x="609600" y="3911981"/>
            <a:ext cx="2556871" cy="658763"/>
          </a:xfrm>
          <a:prstGeom prst="roundRect">
            <a:avLst>
              <a:gd name="adj" fmla="val 15422"/>
            </a:avLst>
          </a:prstGeom>
          <a:solidFill>
            <a:srgbClr val="EEE6D6"/>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Rectangle">
            <a:extLst>
              <a:ext uri="{FF2B5EF4-FFF2-40B4-BE49-F238E27FC236}">
                <a16:creationId xmlns:a16="http://schemas.microsoft.com/office/drawing/2014/main" id="{A0C957D4-E4F1-4D51-EC0C-C161461E948E}"/>
              </a:ext>
            </a:extLst>
          </p:cNvPr>
          <p:cNvSpPr/>
          <p:nvPr/>
        </p:nvSpPr>
        <p:spPr>
          <a:xfrm>
            <a:off x="614362" y="3916743"/>
            <a:ext cx="2547346" cy="649238"/>
          </a:xfrm>
          <a:prstGeom prst="roundRect">
            <a:avLst>
              <a:gd name="adj" fmla="val 14915"/>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771525" y="4061079"/>
            <a:ext cx="2456345" cy="142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080"/>
              </a:lnSpc>
            </a:pPr>
            <a:r>
              <a:rPr lang="en-US" sz="900" b="1" i="0" spc="72" dirty="0">
                <a:solidFill>
                  <a:srgbClr val="6B2D5C"/>
                </a:solidFill>
                <a:latin typeface="Montserrat"/>
              </a:rPr>
              <a:t>PRESENTER</a:t>
            </a:r>
            <a:endParaRPr lang="en-US"/>
          </a:p>
        </p:txBody>
      </p:sp>
      <p:sp>
        <p:nvSpPr>
          <p:cNvPr id="15" name="Rectangle">
            <a:extLst>
              <a:ext uri="{FF2B5EF4-FFF2-40B4-BE49-F238E27FC236}">
                <a16:creationId xmlns:a16="http://schemas.microsoft.com/office/drawing/2014/main" id="{A0C957D4-E4F1-4D51-EC0C-C161461E948E}"/>
              </a:ext>
            </a:extLst>
          </p:cNvPr>
          <p:cNvSpPr/>
          <p:nvPr/>
        </p:nvSpPr>
        <p:spPr>
          <a:xfrm>
            <a:off x="771525" y="4254754"/>
            <a:ext cx="2456345" cy="1666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12"/>
              </a:lnSpc>
            </a:pPr>
            <a:r>
              <a:rPr lang="en-US" sz="1050" b="0" i="0" dirty="0">
                <a:solidFill>
                  <a:srgbClr val="1F1F1F"/>
                </a:solidFill>
                <a:latin typeface="Open Sans SemiBold"/>
              </a:rPr>
              <a:t>Komla Dravie</a:t>
            </a:r>
            <a:endParaRPr lang="en-US"/>
          </a:p>
        </p:txBody>
      </p:sp>
      <p:sp>
        <p:nvSpPr>
          <p:cNvPr id="16" name="RoundedRectangle">
            <a:extLst>
              <a:ext uri="{FF2B5EF4-FFF2-40B4-BE49-F238E27FC236}">
                <a16:creationId xmlns:a16="http://schemas.microsoft.com/office/drawing/2014/main" id="{A0C957D4-E4F1-4D51-EC0C-C161461E948E}"/>
              </a:ext>
            </a:extLst>
          </p:cNvPr>
          <p:cNvSpPr/>
          <p:nvPr/>
        </p:nvSpPr>
        <p:spPr>
          <a:xfrm>
            <a:off x="3293364" y="3911981"/>
            <a:ext cx="2557014" cy="658763"/>
          </a:xfrm>
          <a:prstGeom prst="roundRect">
            <a:avLst>
              <a:gd name="adj" fmla="val 15422"/>
            </a:avLst>
          </a:prstGeom>
          <a:solidFill>
            <a:srgbClr val="EEE6D6"/>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Rectangle">
            <a:extLst>
              <a:ext uri="{FF2B5EF4-FFF2-40B4-BE49-F238E27FC236}">
                <a16:creationId xmlns:a16="http://schemas.microsoft.com/office/drawing/2014/main" id="{A0C957D4-E4F1-4D51-EC0C-C161461E948E}"/>
              </a:ext>
            </a:extLst>
          </p:cNvPr>
          <p:cNvSpPr/>
          <p:nvPr/>
        </p:nvSpPr>
        <p:spPr>
          <a:xfrm>
            <a:off x="3298126" y="3916743"/>
            <a:ext cx="2547489" cy="649238"/>
          </a:xfrm>
          <a:prstGeom prst="roundRect">
            <a:avLst>
              <a:gd name="adj" fmla="val 14915"/>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3455289" y="4061079"/>
            <a:ext cx="2456484" cy="142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080"/>
              </a:lnSpc>
            </a:pPr>
            <a:r>
              <a:rPr lang="en-US" sz="900" b="1" i="0" spc="72" dirty="0">
                <a:solidFill>
                  <a:srgbClr val="6B2D5C"/>
                </a:solidFill>
                <a:latin typeface="Montserrat"/>
              </a:rPr>
              <a:t>AUDIENCE</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3455289" y="4254754"/>
            <a:ext cx="2456484" cy="1666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12"/>
              </a:lnSpc>
            </a:pPr>
            <a:r>
              <a:rPr lang="en-US" sz="1050" b="0" i="0" dirty="0">
                <a:solidFill>
                  <a:srgbClr val="1F1F1F"/>
                </a:solidFill>
                <a:latin typeface="Open Sans SemiBold"/>
              </a:rPr>
              <a:t>MSDS Students</a:t>
            </a:r>
            <a:endParaRPr lang="en-US"/>
          </a:p>
        </p:txBody>
      </p:sp>
      <p:sp>
        <p:nvSpPr>
          <p:cNvPr id="20" name="RoundedRectangle">
            <a:extLst>
              <a:ext uri="{FF2B5EF4-FFF2-40B4-BE49-F238E27FC236}">
                <a16:creationId xmlns:a16="http://schemas.microsoft.com/office/drawing/2014/main" id="{A0C957D4-E4F1-4D51-EC0C-C161461E948E}"/>
              </a:ext>
            </a:extLst>
          </p:cNvPr>
          <p:cNvSpPr/>
          <p:nvPr/>
        </p:nvSpPr>
        <p:spPr>
          <a:xfrm>
            <a:off x="5977382" y="3911981"/>
            <a:ext cx="2556871" cy="658763"/>
          </a:xfrm>
          <a:prstGeom prst="roundRect">
            <a:avLst>
              <a:gd name="adj" fmla="val 15422"/>
            </a:avLst>
          </a:prstGeom>
          <a:solidFill>
            <a:srgbClr val="EEE6D6"/>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Rectangle">
            <a:extLst>
              <a:ext uri="{FF2B5EF4-FFF2-40B4-BE49-F238E27FC236}">
                <a16:creationId xmlns:a16="http://schemas.microsoft.com/office/drawing/2014/main" id="{A0C957D4-E4F1-4D51-EC0C-C161461E948E}"/>
              </a:ext>
            </a:extLst>
          </p:cNvPr>
          <p:cNvSpPr/>
          <p:nvPr/>
        </p:nvSpPr>
        <p:spPr>
          <a:xfrm>
            <a:off x="5982144" y="3916743"/>
            <a:ext cx="2547346" cy="649238"/>
          </a:xfrm>
          <a:prstGeom prst="roundRect">
            <a:avLst>
              <a:gd name="adj" fmla="val 14915"/>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a:extLst>
              <a:ext uri="{FF2B5EF4-FFF2-40B4-BE49-F238E27FC236}">
                <a16:creationId xmlns:a16="http://schemas.microsoft.com/office/drawing/2014/main" id="{A0C957D4-E4F1-4D51-EC0C-C161461E948E}"/>
              </a:ext>
            </a:extLst>
          </p:cNvPr>
          <p:cNvSpPr/>
          <p:nvPr/>
        </p:nvSpPr>
        <p:spPr>
          <a:xfrm>
            <a:off x="6139307" y="4061079"/>
            <a:ext cx="2456345" cy="142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080"/>
              </a:lnSpc>
            </a:pPr>
            <a:r>
              <a:rPr lang="en-US" sz="900" b="1" i="0" spc="72" dirty="0">
                <a:solidFill>
                  <a:srgbClr val="6B2D5C"/>
                </a:solidFill>
                <a:latin typeface="Montserrat"/>
              </a:rPr>
              <a:t>COURSE</a:t>
            </a:r>
            <a:endParaRPr lang="en-US"/>
          </a:p>
        </p:txBody>
      </p:sp>
      <p:sp>
        <p:nvSpPr>
          <p:cNvPr id="23" name="Rectangle">
            <a:extLst>
              <a:ext uri="{FF2B5EF4-FFF2-40B4-BE49-F238E27FC236}">
                <a16:creationId xmlns:a16="http://schemas.microsoft.com/office/drawing/2014/main" id="{A0C957D4-E4F1-4D51-EC0C-C161461E948E}"/>
              </a:ext>
            </a:extLst>
          </p:cNvPr>
          <p:cNvSpPr/>
          <p:nvPr/>
        </p:nvSpPr>
        <p:spPr>
          <a:xfrm>
            <a:off x="6139307" y="4254754"/>
            <a:ext cx="2456345" cy="1666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12"/>
              </a:lnSpc>
            </a:pPr>
            <a:r>
              <a:rPr lang="en-US" sz="1050" b="0" i="0" dirty="0">
                <a:solidFill>
                  <a:srgbClr val="1F1F1F"/>
                </a:solidFill>
                <a:latin typeface="Open Sans SemiBold"/>
              </a:rPr>
              <a:t>690 - Ethical Philosophical Issues</a:t>
            </a:r>
            <a:endParaRPr lang="en-US"/>
          </a:p>
        </p:txBody>
      </p:sp>
      <p:pic>
        <p:nvPicPr>
          <p:cNvPr id="24" name="Picture 24"/>
          <p:cNvPicPr/>
          <p:nvPr/>
        </p:nvPicPr>
        <p:blipFill>
          <a:blip r:embed="rId3">
            <a:alphaModFix amt="80000"/>
          </a:blip>
          <a:stretch/>
        </p:blipFill>
        <p:spPr>
          <a:xfrm>
            <a:off x="6413500" y="2667000"/>
            <a:ext cx="2730500" cy="2476500"/>
          </a:xfrm>
          <a:prstGeom prst="roundRect">
            <a:avLst>
              <a:gd name="adj" fmla="val 50000"/>
            </a:avLst>
          </a:prstGeom>
        </p:spPr>
      </p:pic>
      <p:pic>
        <p:nvPicPr>
          <p:cNvPr id="25" name="Picture 25"/>
          <p:cNvPicPr/>
          <p:nvPr/>
        </p:nvPicPr>
        <p:blipFill>
          <a:blip r:embed="rId4">
            <a:alphaModFix amt="80000"/>
          </a:blip>
          <a:stretch/>
        </p:blipFill>
        <p:spPr>
          <a:xfrm>
            <a:off x="6413500" y="2667000"/>
            <a:ext cx="2730500" cy="2476500"/>
          </a:xfrm>
          <a:prstGeom prst="roundRect">
            <a:avLst>
              <a:gd name="adj" fmla="val 50000"/>
            </a:avLst>
          </a:prstGeom>
        </p:spPr>
      </p:pic>
    </p:spTree>
    <p:extLst>
      <p:ext uri="{BB962C8B-B14F-4D97-AF65-F5344CB8AC3E}">
        <p14:creationId xmlns:p14="http://schemas.microsoft.com/office/powerpoint/2010/main" val="945381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50" name="Rectangle">
            <a:extLst>
              <a:ext uri="{FF2B5EF4-FFF2-40B4-BE49-F238E27FC236}">
                <a16:creationId xmlns:a16="http://schemas.microsoft.com/office/drawing/2014/main" id="{A0C957D4-E4F1-4D51-EC0C-C161461E948E}"/>
              </a:ext>
            </a:extLst>
          </p:cNvPr>
          <p:cNvSpPr/>
          <p:nvPr/>
        </p:nvSpPr>
        <p:spPr>
          <a:xfrm>
            <a:off x="0" y="0"/>
            <a:ext cx="10477500" cy="6730873"/>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533400" y="5080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533400" y="736346"/>
            <a:ext cx="8884920"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dirty="0">
                <a:solidFill>
                  <a:srgbClr val="1F1F1F"/>
                </a:solidFill>
                <a:latin typeface="Montserrat"/>
              </a:rPr>
              <a:t>Today's Journey</a:t>
            </a:r>
            <a:endParaRPr lang="en-US"/>
          </a:p>
        </p:txBody>
      </p:sp>
      <p:sp>
        <p:nvSpPr>
          <p:cNvPr id="5" name="Rectangle">
            <a:extLst>
              <a:ext uri="{FF2B5EF4-FFF2-40B4-BE49-F238E27FC236}">
                <a16:creationId xmlns:a16="http://schemas.microsoft.com/office/drawing/2014/main" id="{A0C957D4-E4F1-4D51-EC0C-C161461E948E}"/>
              </a:ext>
            </a:extLst>
          </p:cNvPr>
          <p:cNvSpPr/>
          <p:nvPr/>
        </p:nvSpPr>
        <p:spPr>
          <a:xfrm>
            <a:off x="533400" y="1166495"/>
            <a:ext cx="8884920"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80"/>
              </a:lnSpc>
            </a:pPr>
            <a:r>
              <a:rPr lang="en-US" sz="1150" b="0" i="0" dirty="0">
                <a:solidFill>
                  <a:srgbClr val="5B5B5B"/>
                </a:solidFill>
                <a:latin typeface="Open Sans"/>
              </a:rPr>
              <a:t>From culture and craft to law, ethics, and professional responsibility.</a:t>
            </a:r>
            <a:endParaRPr lang="en-US"/>
          </a:p>
        </p:txBody>
      </p:sp>
      <p:pic>
        <p:nvPicPr>
          <p:cNvPr id="6" name="Picture 6"/>
          <p:cNvPicPr/>
          <p:nvPr/>
        </p:nvPicPr>
        <p:blipFill>
          <a:blip r:embed="rId3">
            <a:alphaModFix amt="75000"/>
          </a:blip>
          <a:stretch/>
        </p:blipFill>
        <p:spPr>
          <a:xfrm>
            <a:off x="6667500" y="2920873"/>
            <a:ext cx="2476500" cy="2222627"/>
          </a:xfrm>
          <a:prstGeom prst="roundRect">
            <a:avLst>
              <a:gd name="adj" fmla="val 50000"/>
            </a:avLst>
          </a:prstGeom>
        </p:spPr>
      </p:pic>
      <p:pic>
        <p:nvPicPr>
          <p:cNvPr id="7" name="Picture 7"/>
          <p:cNvPicPr/>
          <p:nvPr/>
        </p:nvPicPr>
        <p:blipFill>
          <a:blip r:embed="rId4">
            <a:alphaModFix amt="75000"/>
          </a:blip>
          <a:stretch/>
        </p:blipFill>
        <p:spPr>
          <a:xfrm>
            <a:off x="6667500" y="2920873"/>
            <a:ext cx="2476500" cy="2222627"/>
          </a:xfrm>
          <a:prstGeom prst="roundRect">
            <a:avLst>
              <a:gd name="adj" fmla="val 50000"/>
            </a:avLst>
          </a:prstGeom>
        </p:spPr>
      </p:pic>
      <p:sp>
        <p:nvSpPr>
          <p:cNvPr id="8" name="RoundedRectangle">
            <a:extLst>
              <a:ext uri="{FF2B5EF4-FFF2-40B4-BE49-F238E27FC236}">
                <a16:creationId xmlns:a16="http://schemas.microsoft.com/office/drawing/2014/main" id="{A0C957D4-E4F1-4D51-EC0C-C161461E948E}"/>
              </a:ext>
            </a:extLst>
          </p:cNvPr>
          <p:cNvSpPr/>
          <p:nvPr/>
        </p:nvSpPr>
        <p:spPr>
          <a:xfrm>
            <a:off x="533400" y="1636395"/>
            <a:ext cx="3962603" cy="958849"/>
          </a:xfrm>
          <a:prstGeom prst="roundRect">
            <a:avLst>
              <a:gd name="adj" fmla="val 10596"/>
            </a:avLst>
          </a:prstGeom>
          <a:solidFill>
            <a:srgbClr val="FFFFFF">
              <a:alpha val="4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Rectangle">
            <a:extLst>
              <a:ext uri="{FF2B5EF4-FFF2-40B4-BE49-F238E27FC236}">
                <a16:creationId xmlns:a16="http://schemas.microsoft.com/office/drawing/2014/main" id="{A0C957D4-E4F1-4D51-EC0C-C161461E948E}"/>
              </a:ext>
            </a:extLst>
          </p:cNvPr>
          <p:cNvSpPr/>
          <p:nvPr/>
        </p:nvSpPr>
        <p:spPr>
          <a:xfrm>
            <a:off x="538162" y="1641157"/>
            <a:ext cx="3953078" cy="949324"/>
          </a:xfrm>
          <a:prstGeom prst="roundRect">
            <a:avLst>
              <a:gd name="adj" fmla="val 102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Rectangle">
            <a:extLst>
              <a:ext uri="{FF2B5EF4-FFF2-40B4-BE49-F238E27FC236}">
                <a16:creationId xmlns:a16="http://schemas.microsoft.com/office/drawing/2014/main" id="{A0C957D4-E4F1-4D51-EC0C-C161461E948E}"/>
              </a:ext>
            </a:extLst>
          </p:cNvPr>
          <p:cNvSpPr/>
          <p:nvPr/>
        </p:nvSpPr>
        <p:spPr>
          <a:xfrm>
            <a:off x="720598" y="1810893"/>
            <a:ext cx="355550" cy="35555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826897" y="1903603"/>
            <a:ext cx="157162" cy="169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39"/>
              </a:lnSpc>
            </a:pPr>
            <a:r>
              <a:rPr lang="en-US" sz="1030" b="1" i="0" dirty="0">
                <a:solidFill>
                  <a:srgbClr val="5B5B5B"/>
                </a:solidFill>
                <a:latin typeface="Montserrat"/>
              </a:rPr>
              <a:t>01</a:t>
            </a:r>
            <a:endParaRPr lang="en-US"/>
          </a:p>
        </p:txBody>
      </p:sp>
      <p:sp>
        <p:nvSpPr>
          <p:cNvPr id="12" name="Rectangle">
            <a:extLst>
              <a:ext uri="{FF2B5EF4-FFF2-40B4-BE49-F238E27FC236}">
                <a16:creationId xmlns:a16="http://schemas.microsoft.com/office/drawing/2014/main" id="{A0C957D4-E4F1-4D51-EC0C-C161461E948E}"/>
              </a:ext>
            </a:extLst>
          </p:cNvPr>
          <p:cNvSpPr/>
          <p:nvPr/>
        </p:nvSpPr>
        <p:spPr>
          <a:xfrm>
            <a:off x="1228598" y="1810893"/>
            <a:ext cx="338800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Why Hip-Hop?</a:t>
            </a: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1228598" y="2037461"/>
            <a:ext cx="27114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The stakes of authenticity, voice, and lived</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1228598" y="2207387"/>
            <a:ext cx="7493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experience.</a:t>
            </a:r>
            <a:endParaRPr lang="en-US"/>
          </a:p>
        </p:txBody>
      </p:sp>
      <p:sp>
        <p:nvSpPr>
          <p:cNvPr id="15" name="RoundedRectangle">
            <a:extLst>
              <a:ext uri="{FF2B5EF4-FFF2-40B4-BE49-F238E27FC236}">
                <a16:creationId xmlns:a16="http://schemas.microsoft.com/office/drawing/2014/main" id="{A0C957D4-E4F1-4D51-EC0C-C161461E948E}"/>
              </a:ext>
            </a:extLst>
          </p:cNvPr>
          <p:cNvSpPr/>
          <p:nvPr/>
        </p:nvSpPr>
        <p:spPr>
          <a:xfrm>
            <a:off x="4648200" y="1636395"/>
            <a:ext cx="3962603" cy="958849"/>
          </a:xfrm>
          <a:prstGeom prst="roundRect">
            <a:avLst>
              <a:gd name="adj" fmla="val 10596"/>
            </a:avLst>
          </a:prstGeom>
          <a:solidFill>
            <a:srgbClr val="FFFFFF">
              <a:alpha val="4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Rectangle">
            <a:extLst>
              <a:ext uri="{FF2B5EF4-FFF2-40B4-BE49-F238E27FC236}">
                <a16:creationId xmlns:a16="http://schemas.microsoft.com/office/drawing/2014/main" id="{A0C957D4-E4F1-4D51-EC0C-C161461E948E}"/>
              </a:ext>
            </a:extLst>
          </p:cNvPr>
          <p:cNvSpPr/>
          <p:nvPr/>
        </p:nvSpPr>
        <p:spPr>
          <a:xfrm>
            <a:off x="4652962" y="1641157"/>
            <a:ext cx="3953078" cy="949324"/>
          </a:xfrm>
          <a:prstGeom prst="roundRect">
            <a:avLst>
              <a:gd name="adj" fmla="val 102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Rectangle">
            <a:extLst>
              <a:ext uri="{FF2B5EF4-FFF2-40B4-BE49-F238E27FC236}">
                <a16:creationId xmlns:a16="http://schemas.microsoft.com/office/drawing/2014/main" id="{A0C957D4-E4F1-4D51-EC0C-C161461E948E}"/>
              </a:ext>
            </a:extLst>
          </p:cNvPr>
          <p:cNvSpPr/>
          <p:nvPr/>
        </p:nvSpPr>
        <p:spPr>
          <a:xfrm>
            <a:off x="4835398" y="1810893"/>
            <a:ext cx="355550" cy="35555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4927346" y="1903603"/>
            <a:ext cx="188595" cy="169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39"/>
              </a:lnSpc>
            </a:pPr>
            <a:r>
              <a:rPr lang="en-US" sz="1030" b="1" i="0" dirty="0">
                <a:solidFill>
                  <a:srgbClr val="5B5B5B"/>
                </a:solidFill>
                <a:latin typeface="Montserrat"/>
              </a:rPr>
              <a:t>02</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5343398" y="1810893"/>
            <a:ext cx="338800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Technology Precedents</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5343398" y="2037461"/>
            <a:ext cx="28448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Auto-Tune, sampling, and the boundaries of</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5343398" y="2207387"/>
            <a:ext cx="6826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originality.</a:t>
            </a:r>
            <a:endParaRPr lang="en-US"/>
          </a:p>
        </p:txBody>
      </p:sp>
      <p:sp>
        <p:nvSpPr>
          <p:cNvPr id="22" name="RoundedRectangle">
            <a:extLst>
              <a:ext uri="{FF2B5EF4-FFF2-40B4-BE49-F238E27FC236}">
                <a16:creationId xmlns:a16="http://schemas.microsoft.com/office/drawing/2014/main" id="{A0C957D4-E4F1-4D51-EC0C-C161461E948E}"/>
              </a:ext>
            </a:extLst>
          </p:cNvPr>
          <p:cNvSpPr/>
          <p:nvPr/>
        </p:nvSpPr>
        <p:spPr>
          <a:xfrm>
            <a:off x="533400" y="2747518"/>
            <a:ext cx="3962603" cy="958849"/>
          </a:xfrm>
          <a:prstGeom prst="roundRect">
            <a:avLst>
              <a:gd name="adj" fmla="val 10596"/>
            </a:avLst>
          </a:prstGeom>
          <a:solidFill>
            <a:srgbClr val="FFFFFF">
              <a:alpha val="4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Rectangle">
            <a:extLst>
              <a:ext uri="{FF2B5EF4-FFF2-40B4-BE49-F238E27FC236}">
                <a16:creationId xmlns:a16="http://schemas.microsoft.com/office/drawing/2014/main" id="{A0C957D4-E4F1-4D51-EC0C-C161461E948E}"/>
              </a:ext>
            </a:extLst>
          </p:cNvPr>
          <p:cNvSpPr/>
          <p:nvPr/>
        </p:nvSpPr>
        <p:spPr>
          <a:xfrm>
            <a:off x="538162" y="2752280"/>
            <a:ext cx="3953078" cy="949324"/>
          </a:xfrm>
          <a:prstGeom prst="roundRect">
            <a:avLst>
              <a:gd name="adj" fmla="val 102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Rectangle">
            <a:extLst>
              <a:ext uri="{FF2B5EF4-FFF2-40B4-BE49-F238E27FC236}">
                <a16:creationId xmlns:a16="http://schemas.microsoft.com/office/drawing/2014/main" id="{A0C957D4-E4F1-4D51-EC0C-C161461E948E}"/>
              </a:ext>
            </a:extLst>
          </p:cNvPr>
          <p:cNvSpPr/>
          <p:nvPr/>
        </p:nvSpPr>
        <p:spPr>
          <a:xfrm>
            <a:off x="720598" y="2922143"/>
            <a:ext cx="355550" cy="35555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812546" y="3014853"/>
            <a:ext cx="188595" cy="169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39"/>
              </a:lnSpc>
            </a:pPr>
            <a:r>
              <a:rPr lang="en-US" sz="1030" b="1" i="0" dirty="0">
                <a:solidFill>
                  <a:srgbClr val="5B5B5B"/>
                </a:solidFill>
                <a:latin typeface="Montserrat"/>
              </a:rPr>
              <a:t>03</a:t>
            </a:r>
            <a:endParaRPr lang="en-US"/>
          </a:p>
        </p:txBody>
      </p:sp>
      <p:sp>
        <p:nvSpPr>
          <p:cNvPr id="26" name="Rectangle">
            <a:extLst>
              <a:ext uri="{FF2B5EF4-FFF2-40B4-BE49-F238E27FC236}">
                <a16:creationId xmlns:a16="http://schemas.microsoft.com/office/drawing/2014/main" id="{A0C957D4-E4F1-4D51-EC0C-C161461E948E}"/>
              </a:ext>
            </a:extLst>
          </p:cNvPr>
          <p:cNvSpPr/>
          <p:nvPr/>
        </p:nvSpPr>
        <p:spPr>
          <a:xfrm>
            <a:off x="1228598" y="2922143"/>
            <a:ext cx="338800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AI in Music Today</a:t>
            </a:r>
            <a:endParaRPr lang="en-US"/>
          </a:p>
        </p:txBody>
      </p:sp>
      <p:sp>
        <p:nvSpPr>
          <p:cNvPr id="27" name="Rectangle">
            <a:extLst>
              <a:ext uri="{FF2B5EF4-FFF2-40B4-BE49-F238E27FC236}">
                <a16:creationId xmlns:a16="http://schemas.microsoft.com/office/drawing/2014/main" id="{A0C957D4-E4F1-4D51-EC0C-C161461E948E}"/>
              </a:ext>
            </a:extLst>
          </p:cNvPr>
          <p:cNvSpPr/>
          <p:nvPr/>
        </p:nvSpPr>
        <p:spPr>
          <a:xfrm>
            <a:off x="1228598" y="3148584"/>
            <a:ext cx="27305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Current capabilities, adoption signals, and</a:t>
            </a:r>
            <a:endParaRPr lang="en-US"/>
          </a:p>
        </p:txBody>
      </p:sp>
      <p:sp>
        <p:nvSpPr>
          <p:cNvPr id="28" name="Rectangle">
            <a:extLst>
              <a:ext uri="{FF2B5EF4-FFF2-40B4-BE49-F238E27FC236}">
                <a16:creationId xmlns:a16="http://schemas.microsoft.com/office/drawing/2014/main" id="{A0C957D4-E4F1-4D51-EC0C-C161461E948E}"/>
              </a:ext>
            </a:extLst>
          </p:cNvPr>
          <p:cNvSpPr/>
          <p:nvPr/>
        </p:nvSpPr>
        <p:spPr>
          <a:xfrm>
            <a:off x="1228598" y="3318510"/>
            <a:ext cx="13017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production practice.</a:t>
            </a:r>
            <a:endParaRPr lang="en-US"/>
          </a:p>
        </p:txBody>
      </p:sp>
      <p:sp>
        <p:nvSpPr>
          <p:cNvPr id="29" name="RoundedRectangle">
            <a:extLst>
              <a:ext uri="{FF2B5EF4-FFF2-40B4-BE49-F238E27FC236}">
                <a16:creationId xmlns:a16="http://schemas.microsoft.com/office/drawing/2014/main" id="{A0C957D4-E4F1-4D51-EC0C-C161461E948E}"/>
              </a:ext>
            </a:extLst>
          </p:cNvPr>
          <p:cNvSpPr/>
          <p:nvPr/>
        </p:nvSpPr>
        <p:spPr>
          <a:xfrm>
            <a:off x="4648200" y="2747518"/>
            <a:ext cx="3962603" cy="958849"/>
          </a:xfrm>
          <a:prstGeom prst="roundRect">
            <a:avLst>
              <a:gd name="adj" fmla="val 10596"/>
            </a:avLst>
          </a:prstGeom>
          <a:solidFill>
            <a:srgbClr val="FFFFFF">
              <a:alpha val="4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Rectangle">
            <a:extLst>
              <a:ext uri="{FF2B5EF4-FFF2-40B4-BE49-F238E27FC236}">
                <a16:creationId xmlns:a16="http://schemas.microsoft.com/office/drawing/2014/main" id="{A0C957D4-E4F1-4D51-EC0C-C161461E948E}"/>
              </a:ext>
            </a:extLst>
          </p:cNvPr>
          <p:cNvSpPr/>
          <p:nvPr/>
        </p:nvSpPr>
        <p:spPr>
          <a:xfrm>
            <a:off x="4652962" y="2752280"/>
            <a:ext cx="3953078" cy="949324"/>
          </a:xfrm>
          <a:prstGeom prst="roundRect">
            <a:avLst>
              <a:gd name="adj" fmla="val 102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Rectangle">
            <a:extLst>
              <a:ext uri="{FF2B5EF4-FFF2-40B4-BE49-F238E27FC236}">
                <a16:creationId xmlns:a16="http://schemas.microsoft.com/office/drawing/2014/main" id="{A0C957D4-E4F1-4D51-EC0C-C161461E948E}"/>
              </a:ext>
            </a:extLst>
          </p:cNvPr>
          <p:cNvSpPr/>
          <p:nvPr/>
        </p:nvSpPr>
        <p:spPr>
          <a:xfrm>
            <a:off x="4835398" y="2922143"/>
            <a:ext cx="355550" cy="35555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a:extLst>
              <a:ext uri="{FF2B5EF4-FFF2-40B4-BE49-F238E27FC236}">
                <a16:creationId xmlns:a16="http://schemas.microsoft.com/office/drawing/2014/main" id="{A0C957D4-E4F1-4D51-EC0C-C161461E948E}"/>
              </a:ext>
            </a:extLst>
          </p:cNvPr>
          <p:cNvSpPr/>
          <p:nvPr/>
        </p:nvSpPr>
        <p:spPr>
          <a:xfrm>
            <a:off x="4917821" y="3014853"/>
            <a:ext cx="209550" cy="169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39"/>
              </a:lnSpc>
            </a:pPr>
            <a:r>
              <a:rPr lang="en-US" sz="1030" b="1" i="0" dirty="0">
                <a:solidFill>
                  <a:srgbClr val="5B5B5B"/>
                </a:solidFill>
                <a:latin typeface="Montserrat"/>
              </a:rPr>
              <a:t>04</a:t>
            </a:r>
            <a:endParaRPr lang="en-US"/>
          </a:p>
        </p:txBody>
      </p:sp>
      <p:sp>
        <p:nvSpPr>
          <p:cNvPr id="33" name="Rectangle">
            <a:extLst>
              <a:ext uri="{FF2B5EF4-FFF2-40B4-BE49-F238E27FC236}">
                <a16:creationId xmlns:a16="http://schemas.microsoft.com/office/drawing/2014/main" id="{A0C957D4-E4F1-4D51-EC0C-C161461E948E}"/>
              </a:ext>
            </a:extLst>
          </p:cNvPr>
          <p:cNvSpPr/>
          <p:nvPr/>
        </p:nvSpPr>
        <p:spPr>
          <a:xfrm>
            <a:off x="5343398" y="2922143"/>
            <a:ext cx="338800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Voice Cloning &amp; Copyright</a:t>
            </a:r>
            <a:endParaRPr lang="en-US"/>
          </a:p>
        </p:txBody>
      </p:sp>
      <p:sp>
        <p:nvSpPr>
          <p:cNvPr id="34" name="Rectangle">
            <a:extLst>
              <a:ext uri="{FF2B5EF4-FFF2-40B4-BE49-F238E27FC236}">
                <a16:creationId xmlns:a16="http://schemas.microsoft.com/office/drawing/2014/main" id="{A0C957D4-E4F1-4D51-EC0C-C161461E948E}"/>
              </a:ext>
            </a:extLst>
          </p:cNvPr>
          <p:cNvSpPr/>
          <p:nvPr/>
        </p:nvSpPr>
        <p:spPr>
          <a:xfrm>
            <a:off x="5343398" y="3148584"/>
            <a:ext cx="28162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The “Fake Drake” case and fast-moving legal</a:t>
            </a:r>
            <a:endParaRPr lang="en-US"/>
          </a:p>
        </p:txBody>
      </p:sp>
      <p:sp>
        <p:nvSpPr>
          <p:cNvPr id="35" name="Rectangle">
            <a:extLst>
              <a:ext uri="{FF2B5EF4-FFF2-40B4-BE49-F238E27FC236}">
                <a16:creationId xmlns:a16="http://schemas.microsoft.com/office/drawing/2014/main" id="{A0C957D4-E4F1-4D51-EC0C-C161461E948E}"/>
              </a:ext>
            </a:extLst>
          </p:cNvPr>
          <p:cNvSpPr/>
          <p:nvPr/>
        </p:nvSpPr>
        <p:spPr>
          <a:xfrm>
            <a:off x="5343398" y="3318510"/>
            <a:ext cx="7016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8"/>
              </a:lnSpc>
            </a:pPr>
            <a:r>
              <a:rPr lang="en-US" sz="1030" b="0" i="0" dirty="0">
                <a:solidFill>
                  <a:srgbClr val="5B5B5B"/>
                </a:solidFill>
                <a:latin typeface="Open Sans"/>
              </a:rPr>
              <a:t>responses.</a:t>
            </a:r>
            <a:endParaRPr lang="en-US"/>
          </a:p>
        </p:txBody>
      </p:sp>
      <p:sp>
        <p:nvSpPr>
          <p:cNvPr id="36" name="RoundedRectangle">
            <a:extLst>
              <a:ext uri="{FF2B5EF4-FFF2-40B4-BE49-F238E27FC236}">
                <a16:creationId xmlns:a16="http://schemas.microsoft.com/office/drawing/2014/main" id="{A0C957D4-E4F1-4D51-EC0C-C161461E948E}"/>
              </a:ext>
            </a:extLst>
          </p:cNvPr>
          <p:cNvSpPr/>
          <p:nvPr/>
        </p:nvSpPr>
        <p:spPr>
          <a:xfrm>
            <a:off x="533400" y="3858641"/>
            <a:ext cx="3962603" cy="958849"/>
          </a:xfrm>
          <a:prstGeom prst="roundRect">
            <a:avLst>
              <a:gd name="adj" fmla="val 10596"/>
            </a:avLst>
          </a:prstGeom>
          <a:solidFill>
            <a:srgbClr val="FFFFFF">
              <a:alpha val="4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Rectangle">
            <a:extLst>
              <a:ext uri="{FF2B5EF4-FFF2-40B4-BE49-F238E27FC236}">
                <a16:creationId xmlns:a16="http://schemas.microsoft.com/office/drawing/2014/main" id="{A0C957D4-E4F1-4D51-EC0C-C161461E948E}"/>
              </a:ext>
            </a:extLst>
          </p:cNvPr>
          <p:cNvSpPr/>
          <p:nvPr/>
        </p:nvSpPr>
        <p:spPr>
          <a:xfrm>
            <a:off x="538162" y="3863403"/>
            <a:ext cx="3953078" cy="949324"/>
          </a:xfrm>
          <a:prstGeom prst="roundRect">
            <a:avLst>
              <a:gd name="adj" fmla="val 102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Rectangle">
            <a:extLst>
              <a:ext uri="{FF2B5EF4-FFF2-40B4-BE49-F238E27FC236}">
                <a16:creationId xmlns:a16="http://schemas.microsoft.com/office/drawing/2014/main" id="{A0C957D4-E4F1-4D51-EC0C-C161461E948E}"/>
              </a:ext>
            </a:extLst>
          </p:cNvPr>
          <p:cNvSpPr/>
          <p:nvPr/>
        </p:nvSpPr>
        <p:spPr>
          <a:xfrm>
            <a:off x="720598" y="4033266"/>
            <a:ext cx="355550" cy="35555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a:extLst>
              <a:ext uri="{FF2B5EF4-FFF2-40B4-BE49-F238E27FC236}">
                <a16:creationId xmlns:a16="http://schemas.microsoft.com/office/drawing/2014/main" id="{A0C957D4-E4F1-4D51-EC0C-C161461E948E}"/>
              </a:ext>
            </a:extLst>
          </p:cNvPr>
          <p:cNvSpPr/>
          <p:nvPr/>
        </p:nvSpPr>
        <p:spPr>
          <a:xfrm>
            <a:off x="812546" y="4125976"/>
            <a:ext cx="188595" cy="169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39"/>
              </a:lnSpc>
            </a:pPr>
            <a:r>
              <a:rPr lang="en-US" sz="1030" b="1" i="0" dirty="0">
                <a:solidFill>
                  <a:srgbClr val="5B5B5B"/>
                </a:solidFill>
                <a:latin typeface="Montserrat"/>
              </a:rPr>
              <a:t>05</a:t>
            </a:r>
            <a:endParaRPr lang="en-US"/>
          </a:p>
        </p:txBody>
      </p:sp>
      <p:sp>
        <p:nvSpPr>
          <p:cNvPr id="40" name="Rectangle">
            <a:extLst>
              <a:ext uri="{FF2B5EF4-FFF2-40B4-BE49-F238E27FC236}">
                <a16:creationId xmlns:a16="http://schemas.microsoft.com/office/drawing/2014/main" id="{A0C957D4-E4F1-4D51-EC0C-C161461E948E}"/>
              </a:ext>
            </a:extLst>
          </p:cNvPr>
          <p:cNvSpPr/>
          <p:nvPr/>
        </p:nvSpPr>
        <p:spPr>
          <a:xfrm>
            <a:off x="1228598" y="4033266"/>
            <a:ext cx="338800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Ethics of AI Music Creation</a:t>
            </a:r>
            <a:endParaRPr lang="en-US"/>
          </a:p>
        </p:txBody>
      </p:sp>
      <p:sp>
        <p:nvSpPr>
          <p:cNvPr id="41" name="Rectangle">
            <a:extLst>
              <a:ext uri="{FF2B5EF4-FFF2-40B4-BE49-F238E27FC236}">
                <a16:creationId xmlns:a16="http://schemas.microsoft.com/office/drawing/2014/main" id="{A0C957D4-E4F1-4D51-EC0C-C161461E948E}"/>
              </a:ext>
            </a:extLst>
          </p:cNvPr>
          <p:cNvSpPr/>
          <p:nvPr/>
        </p:nvSpPr>
        <p:spPr>
          <a:xfrm>
            <a:off x="1228598" y="4259707"/>
            <a:ext cx="28829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9"/>
              </a:lnSpc>
            </a:pPr>
            <a:r>
              <a:rPr lang="en-US" sz="1030" b="0" i="0" dirty="0">
                <a:solidFill>
                  <a:srgbClr val="5B5B5B"/>
                </a:solidFill>
                <a:latin typeface="Open Sans"/>
              </a:rPr>
              <a:t>Consent, authorship, cultural extraction, and</a:t>
            </a:r>
            <a:endParaRPr lang="en-US"/>
          </a:p>
        </p:txBody>
      </p:sp>
      <p:sp>
        <p:nvSpPr>
          <p:cNvPr id="42" name="Rectangle">
            <a:extLst>
              <a:ext uri="{FF2B5EF4-FFF2-40B4-BE49-F238E27FC236}">
                <a16:creationId xmlns:a16="http://schemas.microsoft.com/office/drawing/2014/main" id="{A0C957D4-E4F1-4D51-EC0C-C161461E948E}"/>
              </a:ext>
            </a:extLst>
          </p:cNvPr>
          <p:cNvSpPr/>
          <p:nvPr/>
        </p:nvSpPr>
        <p:spPr>
          <a:xfrm>
            <a:off x="1228598" y="4429760"/>
            <a:ext cx="3778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9"/>
              </a:lnSpc>
            </a:pPr>
            <a:r>
              <a:rPr lang="en-US" sz="1030" b="0" i="0" dirty="0">
                <a:solidFill>
                  <a:srgbClr val="5B5B5B"/>
                </a:solidFill>
                <a:latin typeface="Open Sans"/>
              </a:rPr>
              <a:t>labor.</a:t>
            </a:r>
            <a:endParaRPr lang="en-US"/>
          </a:p>
        </p:txBody>
      </p:sp>
      <p:sp>
        <p:nvSpPr>
          <p:cNvPr id="43" name="RoundedRectangle">
            <a:extLst>
              <a:ext uri="{FF2B5EF4-FFF2-40B4-BE49-F238E27FC236}">
                <a16:creationId xmlns:a16="http://schemas.microsoft.com/office/drawing/2014/main" id="{A0C957D4-E4F1-4D51-EC0C-C161461E948E}"/>
              </a:ext>
            </a:extLst>
          </p:cNvPr>
          <p:cNvSpPr/>
          <p:nvPr/>
        </p:nvSpPr>
        <p:spPr>
          <a:xfrm>
            <a:off x="4648200" y="3858641"/>
            <a:ext cx="3962603" cy="958849"/>
          </a:xfrm>
          <a:prstGeom prst="roundRect">
            <a:avLst>
              <a:gd name="adj" fmla="val 10596"/>
            </a:avLst>
          </a:prstGeom>
          <a:solidFill>
            <a:srgbClr val="FFFFFF">
              <a:alpha val="4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Rectangle">
            <a:extLst>
              <a:ext uri="{FF2B5EF4-FFF2-40B4-BE49-F238E27FC236}">
                <a16:creationId xmlns:a16="http://schemas.microsoft.com/office/drawing/2014/main" id="{A0C957D4-E4F1-4D51-EC0C-C161461E948E}"/>
              </a:ext>
            </a:extLst>
          </p:cNvPr>
          <p:cNvSpPr/>
          <p:nvPr/>
        </p:nvSpPr>
        <p:spPr>
          <a:xfrm>
            <a:off x="4652962" y="3863403"/>
            <a:ext cx="3953078" cy="949324"/>
          </a:xfrm>
          <a:prstGeom prst="roundRect">
            <a:avLst>
              <a:gd name="adj" fmla="val 102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Rectangle">
            <a:extLst>
              <a:ext uri="{FF2B5EF4-FFF2-40B4-BE49-F238E27FC236}">
                <a16:creationId xmlns:a16="http://schemas.microsoft.com/office/drawing/2014/main" id="{A0C957D4-E4F1-4D51-EC0C-C161461E948E}"/>
              </a:ext>
            </a:extLst>
          </p:cNvPr>
          <p:cNvSpPr/>
          <p:nvPr/>
        </p:nvSpPr>
        <p:spPr>
          <a:xfrm>
            <a:off x="4835398" y="4033266"/>
            <a:ext cx="355550" cy="35555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a:extLst>
              <a:ext uri="{FF2B5EF4-FFF2-40B4-BE49-F238E27FC236}">
                <a16:creationId xmlns:a16="http://schemas.microsoft.com/office/drawing/2014/main" id="{A0C957D4-E4F1-4D51-EC0C-C161461E948E}"/>
              </a:ext>
            </a:extLst>
          </p:cNvPr>
          <p:cNvSpPr/>
          <p:nvPr/>
        </p:nvSpPr>
        <p:spPr>
          <a:xfrm>
            <a:off x="4922647" y="4125976"/>
            <a:ext cx="199072" cy="169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39"/>
              </a:lnSpc>
            </a:pPr>
            <a:r>
              <a:rPr lang="en-US" sz="1030" b="1" i="0" dirty="0">
                <a:solidFill>
                  <a:srgbClr val="5B5B5B"/>
                </a:solidFill>
                <a:latin typeface="Montserrat"/>
              </a:rPr>
              <a:t>06</a:t>
            </a:r>
            <a:endParaRPr lang="en-US"/>
          </a:p>
        </p:txBody>
      </p:sp>
      <p:sp>
        <p:nvSpPr>
          <p:cNvPr id="47" name="Rectangle">
            <a:extLst>
              <a:ext uri="{FF2B5EF4-FFF2-40B4-BE49-F238E27FC236}">
                <a16:creationId xmlns:a16="http://schemas.microsoft.com/office/drawing/2014/main" id="{A0C957D4-E4F1-4D51-EC0C-C161461E948E}"/>
              </a:ext>
            </a:extLst>
          </p:cNvPr>
          <p:cNvSpPr/>
          <p:nvPr/>
        </p:nvSpPr>
        <p:spPr>
          <a:xfrm>
            <a:off x="5343398" y="4033266"/>
            <a:ext cx="338800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Data Science Implications</a:t>
            </a:r>
            <a:endParaRPr lang="en-US"/>
          </a:p>
        </p:txBody>
      </p:sp>
      <p:sp>
        <p:nvSpPr>
          <p:cNvPr id="48" name="Rectangle">
            <a:extLst>
              <a:ext uri="{FF2B5EF4-FFF2-40B4-BE49-F238E27FC236}">
                <a16:creationId xmlns:a16="http://schemas.microsoft.com/office/drawing/2014/main" id="{A0C957D4-E4F1-4D51-EC0C-C161461E948E}"/>
              </a:ext>
            </a:extLst>
          </p:cNvPr>
          <p:cNvSpPr/>
          <p:nvPr/>
        </p:nvSpPr>
        <p:spPr>
          <a:xfrm>
            <a:off x="5343398" y="4259707"/>
            <a:ext cx="29876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9"/>
              </a:lnSpc>
            </a:pPr>
            <a:r>
              <a:rPr lang="en-US" sz="1030" b="0" i="0" dirty="0">
                <a:solidFill>
                  <a:srgbClr val="5B5B5B"/>
                </a:solidFill>
                <a:latin typeface="Open Sans"/>
              </a:rPr>
              <a:t>Design choices for provenance, compensation,</a:t>
            </a:r>
            <a:endParaRPr lang="en-US"/>
          </a:p>
        </p:txBody>
      </p:sp>
      <p:sp>
        <p:nvSpPr>
          <p:cNvPr id="49" name="Rectangle">
            <a:extLst>
              <a:ext uri="{FF2B5EF4-FFF2-40B4-BE49-F238E27FC236}">
                <a16:creationId xmlns:a16="http://schemas.microsoft.com/office/drawing/2014/main" id="{A0C957D4-E4F1-4D51-EC0C-C161461E948E}"/>
              </a:ext>
            </a:extLst>
          </p:cNvPr>
          <p:cNvSpPr/>
          <p:nvPr/>
        </p:nvSpPr>
        <p:spPr>
          <a:xfrm>
            <a:off x="5343398" y="4429760"/>
            <a:ext cx="7302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39"/>
              </a:lnSpc>
            </a:pPr>
            <a:r>
              <a:rPr lang="en-US" sz="1030" b="0" i="0" dirty="0">
                <a:solidFill>
                  <a:srgbClr val="5B5B5B"/>
                </a:solidFill>
                <a:latin typeface="Open Sans"/>
              </a:rPr>
              <a:t>and equity.</a:t>
            </a:r>
            <a:endParaRPr lang="en-US"/>
          </a:p>
        </p:txBody>
      </p:sp>
    </p:spTree>
    <p:extLst>
      <p:ext uri="{BB962C8B-B14F-4D97-AF65-F5344CB8AC3E}">
        <p14:creationId xmlns:p14="http://schemas.microsoft.com/office/powerpoint/2010/main" val="94538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0C957D4-E4F1-4D51-EC0C-C161461E948E}"/>
              </a:ext>
            </a:extLst>
          </p:cNvPr>
          <p:cNvSpPr/>
          <p:nvPr/>
        </p:nvSpPr>
        <p:spPr>
          <a:xfrm>
            <a:off x="0" y="0"/>
            <a:ext cx="10414000" cy="6667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660400" y="1703324"/>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660400" y="1982724"/>
            <a:ext cx="8605659"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40"/>
              </a:lnSpc>
            </a:pPr>
            <a:r>
              <a:rPr lang="en-US" sz="1200" b="1" i="0" spc="144" dirty="0">
                <a:solidFill>
                  <a:srgbClr val="6B2D5C"/>
                </a:solidFill>
                <a:latin typeface="Montserrat"/>
              </a:rPr>
              <a:t>01 · CULTURAL LENS</a:t>
            </a:r>
            <a:endParaRPr lang="en-US"/>
          </a:p>
        </p:txBody>
      </p:sp>
      <p:sp>
        <p:nvSpPr>
          <p:cNvPr id="5" name="Rectangle">
            <a:extLst>
              <a:ext uri="{FF2B5EF4-FFF2-40B4-BE49-F238E27FC236}">
                <a16:creationId xmlns:a16="http://schemas.microsoft.com/office/drawing/2014/main" id="{A0C957D4-E4F1-4D51-EC0C-C161461E948E}"/>
              </a:ext>
            </a:extLst>
          </p:cNvPr>
          <p:cNvSpPr/>
          <p:nvPr/>
        </p:nvSpPr>
        <p:spPr>
          <a:xfrm>
            <a:off x="660400" y="2290572"/>
            <a:ext cx="6984860" cy="4921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5908" rIns="0" bIns="0" rtlCol="0" anchor="t"/>
          <a:lstStyle/>
          <a:p>
            <a:pPr algn="l">
              <a:lnSpc>
                <a:spcPts val="3672"/>
              </a:lnSpc>
            </a:pPr>
            <a:r>
              <a:rPr lang="en-US" sz="3400" b="1" i="0" dirty="0">
                <a:solidFill>
                  <a:srgbClr val="1F1F1F"/>
                </a:solidFill>
                <a:latin typeface="Montserrat"/>
              </a:rPr>
              <a:t>Why Hip-Hop?</a:t>
            </a: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660400" y="2938653"/>
            <a:ext cx="5702300" cy="2594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891"/>
              </a:lnSpc>
            </a:pPr>
            <a:r>
              <a:rPr lang="en-US" sz="1400" b="0" i="0" dirty="0">
                <a:solidFill>
                  <a:srgbClr val="5B5B5B"/>
                </a:solidFill>
                <a:latin typeface="Open Sans"/>
              </a:rPr>
              <a:t>Hip-hop makes AI ethics visible because originality, voice, and lived</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660400" y="3178810"/>
            <a:ext cx="5778500" cy="2594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891"/>
              </a:lnSpc>
            </a:pPr>
            <a:r>
              <a:rPr lang="en-US" sz="1400" b="0" i="0" dirty="0">
                <a:solidFill>
                  <a:srgbClr val="5B5B5B"/>
                </a:solidFill>
                <a:latin typeface="Open Sans"/>
              </a:rPr>
              <a:t>experience are not side issues — they are the genre’s moral center.</a:t>
            </a:r>
            <a:endParaRPr lang="en-US"/>
          </a:p>
        </p:txBody>
      </p:sp>
      <p:pic>
        <p:nvPicPr>
          <p:cNvPr id="8" name="Picture 8"/>
          <p:cNvPicPr/>
          <p:nvPr/>
        </p:nvPicPr>
        <p:blipFill>
          <a:blip r:embed="rId3">
            <a:alphaModFix amt="75000"/>
          </a:blip>
          <a:stretch/>
        </p:blipFill>
        <p:spPr>
          <a:xfrm>
            <a:off x="6477000" y="2730500"/>
            <a:ext cx="2667000" cy="2413000"/>
          </a:xfrm>
          <a:prstGeom prst="roundRect">
            <a:avLst>
              <a:gd name="adj" fmla="val 50000"/>
            </a:avLst>
          </a:prstGeom>
        </p:spPr>
      </p:pic>
      <p:pic>
        <p:nvPicPr>
          <p:cNvPr id="9" name="Picture 9"/>
          <p:cNvPicPr/>
          <p:nvPr/>
        </p:nvPicPr>
        <p:blipFill>
          <a:blip r:embed="rId4">
            <a:alphaModFix amt="75000"/>
          </a:blip>
          <a:stretch/>
        </p:blipFill>
        <p:spPr>
          <a:xfrm>
            <a:off x="6477000" y="2730500"/>
            <a:ext cx="2667000" cy="2413000"/>
          </a:xfrm>
          <a:prstGeom prst="roundRect">
            <a:avLst>
              <a:gd name="adj" fmla="val 50000"/>
            </a:avLst>
          </a:prstGeom>
        </p:spPr>
      </p:pic>
    </p:spTree>
    <p:extLst>
      <p:ext uri="{BB962C8B-B14F-4D97-AF65-F5344CB8AC3E}">
        <p14:creationId xmlns:p14="http://schemas.microsoft.com/office/powerpoint/2010/main" val="94538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3" name="Rectangle">
            <a:extLst>
              <a:ext uri="{FF2B5EF4-FFF2-40B4-BE49-F238E27FC236}">
                <a16:creationId xmlns:a16="http://schemas.microsoft.com/office/drawing/2014/main" id="{A0C957D4-E4F1-4D51-EC0C-C161461E948E}"/>
              </a:ext>
            </a:extLst>
          </p:cNvPr>
          <p:cNvSpPr/>
          <p:nvPr/>
        </p:nvSpPr>
        <p:spPr>
          <a:xfrm>
            <a:off x="0" y="0"/>
            <a:ext cx="10477500" cy="6730873"/>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533400" y="482473"/>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533400" y="710946"/>
            <a:ext cx="8884920"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dirty="0">
                <a:solidFill>
                  <a:srgbClr val="1F1F1F"/>
                </a:solidFill>
                <a:latin typeface="Montserrat"/>
              </a:rPr>
              <a:t>Hip-Hop's Authenticity Imperative</a:t>
            </a:r>
            <a:endParaRPr lang="en-US"/>
          </a:p>
        </p:txBody>
      </p:sp>
      <p:pic>
        <p:nvPicPr>
          <p:cNvPr id="5" name="Picture 5"/>
          <p:cNvPicPr/>
          <p:nvPr/>
        </p:nvPicPr>
        <p:blipFill>
          <a:blip r:embed="rId3">
            <a:alphaModFix amt="75000"/>
          </a:blip>
          <a:stretch/>
        </p:blipFill>
        <p:spPr>
          <a:xfrm>
            <a:off x="6667500" y="2920873"/>
            <a:ext cx="2476500" cy="2222627"/>
          </a:xfrm>
          <a:prstGeom prst="roundRect">
            <a:avLst>
              <a:gd name="adj" fmla="val 50000"/>
            </a:avLst>
          </a:prstGeom>
        </p:spPr>
      </p:pic>
      <p:pic>
        <p:nvPicPr>
          <p:cNvPr id="6" name="Picture 6"/>
          <p:cNvPicPr/>
          <p:nvPr/>
        </p:nvPicPr>
        <p:blipFill>
          <a:blip r:embed="rId4">
            <a:alphaModFix amt="75000"/>
          </a:blip>
          <a:stretch/>
        </p:blipFill>
        <p:spPr>
          <a:xfrm>
            <a:off x="6667500" y="2920873"/>
            <a:ext cx="2476500" cy="2222627"/>
          </a:xfrm>
          <a:prstGeom prst="roundRect">
            <a:avLst>
              <a:gd name="adj" fmla="val 50000"/>
            </a:avLst>
          </a:prstGeom>
        </p:spPr>
      </p:pic>
      <p:sp>
        <p:nvSpPr>
          <p:cNvPr id="7" name="RoundedRectangle">
            <a:extLst>
              <a:ext uri="{FF2B5EF4-FFF2-40B4-BE49-F238E27FC236}">
                <a16:creationId xmlns:a16="http://schemas.microsoft.com/office/drawing/2014/main" id="{A0C957D4-E4F1-4D51-EC0C-C161461E948E}"/>
              </a:ext>
            </a:extLst>
          </p:cNvPr>
          <p:cNvSpPr/>
          <p:nvPr/>
        </p:nvSpPr>
        <p:spPr>
          <a:xfrm>
            <a:off x="533400" y="1331595"/>
            <a:ext cx="3389210" cy="2384922"/>
          </a:xfrm>
          <a:prstGeom prst="roundRect">
            <a:avLst>
              <a:gd name="adj" fmla="val 6390"/>
            </a:avLst>
          </a:prstGeom>
          <a:solidFill>
            <a:srgbClr val="6B2D5C"/>
          </a:solidFill>
          <a:ln>
            <a:noFill/>
          </a:ln>
          <a:effectLst>
            <a:outerShdw blurRad="101600" dist="25400" dir="5400000" algn="ctr" rotWithShape="0">
              <a:srgbClr val="000000">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a:extLst>
              <a:ext uri="{FF2B5EF4-FFF2-40B4-BE49-F238E27FC236}">
                <a16:creationId xmlns:a16="http://schemas.microsoft.com/office/drawing/2014/main" id="{A0C957D4-E4F1-4D51-EC0C-C161461E948E}"/>
              </a:ext>
            </a:extLst>
          </p:cNvPr>
          <p:cNvSpPr/>
          <p:nvPr/>
        </p:nvSpPr>
        <p:spPr>
          <a:xfrm>
            <a:off x="812800" y="1586865"/>
            <a:ext cx="1806575" cy="324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14478" rIns="0" bIns="0" rtlCol="0" anchor="t"/>
          <a:lstStyle/>
          <a:p>
            <a:pPr algn="l">
              <a:lnSpc>
                <a:spcPts val="2185"/>
              </a:lnSpc>
            </a:pPr>
            <a:r>
              <a:rPr lang="en-US" sz="1900" b="1" i="0" dirty="0">
                <a:solidFill>
                  <a:srgbClr val="F6F2EA"/>
                </a:solidFill>
                <a:latin typeface="Montserrat"/>
              </a:rPr>
              <a:t>Originality is a</a:t>
            </a: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812800" y="1864360"/>
            <a:ext cx="2625725" cy="324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14478" rIns="0" bIns="0" rtlCol="0" anchor="t"/>
          <a:lstStyle/>
          <a:p>
            <a:pPr algn="l">
              <a:lnSpc>
                <a:spcPts val="2185"/>
              </a:lnSpc>
            </a:pPr>
            <a:r>
              <a:rPr lang="en-US" sz="1900" b="1" i="0" dirty="0">
                <a:solidFill>
                  <a:srgbClr val="F6F2EA"/>
                </a:solidFill>
                <a:latin typeface="Montserrat"/>
              </a:rPr>
              <a:t>founding ethic, not a</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812800" y="2141728"/>
            <a:ext cx="2482850" cy="324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14478" rIns="0" bIns="0" rtlCol="0" anchor="t"/>
          <a:lstStyle/>
          <a:p>
            <a:pPr algn="l">
              <a:lnSpc>
                <a:spcPts val="2185"/>
              </a:lnSpc>
            </a:pPr>
            <a:r>
              <a:rPr lang="en-US" sz="1900" b="1" i="0" dirty="0">
                <a:solidFill>
                  <a:srgbClr val="F6F2EA"/>
                </a:solidFill>
                <a:latin typeface="Montserrat"/>
              </a:rPr>
              <a:t>stylistic preference.</a:t>
            </a: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812800" y="2595626"/>
            <a:ext cx="2663825"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586"/>
              </a:lnSpc>
            </a:pPr>
            <a:r>
              <a:rPr lang="en-US" sz="1150" b="0" i="0" dirty="0">
                <a:solidFill>
                  <a:srgbClr val="F6F2EA"/>
                </a:solidFill>
                <a:latin typeface="Open Sans"/>
              </a:rPr>
              <a:t>In hip-hop, “biting” another artist’s voice,</a:t>
            </a:r>
            <a:endParaRPr lang="en-US"/>
          </a:p>
        </p:txBody>
      </p:sp>
      <p:sp>
        <p:nvSpPr>
          <p:cNvPr id="12" name="Rectangle">
            <a:extLst>
              <a:ext uri="{FF2B5EF4-FFF2-40B4-BE49-F238E27FC236}">
                <a16:creationId xmlns:a16="http://schemas.microsoft.com/office/drawing/2014/main" id="{A0C957D4-E4F1-4D51-EC0C-C161461E948E}"/>
              </a:ext>
            </a:extLst>
          </p:cNvPr>
          <p:cNvSpPr/>
          <p:nvPr/>
        </p:nvSpPr>
        <p:spPr>
          <a:xfrm>
            <a:off x="812800" y="2796921"/>
            <a:ext cx="2520950"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586"/>
              </a:lnSpc>
            </a:pPr>
            <a:r>
              <a:rPr lang="en-US" sz="1150" b="0" i="0" dirty="0">
                <a:solidFill>
                  <a:srgbClr val="F6F2EA"/>
                </a:solidFill>
                <a:latin typeface="Open Sans"/>
              </a:rPr>
              <a:t>flow, or words functions like a cultural</a:t>
            </a: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812800" y="2998343"/>
            <a:ext cx="1416050"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586"/>
              </a:lnSpc>
            </a:pPr>
            <a:r>
              <a:rPr lang="en-US" sz="1150" b="0" i="0" dirty="0">
                <a:solidFill>
                  <a:srgbClr val="F6F2EA"/>
                </a:solidFill>
                <a:latin typeface="Open Sans"/>
              </a:rPr>
              <a:t>breach of authorship.</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4198747" y="1331595"/>
            <a:ext cx="82550" cy="2057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619"/>
              </a:lnSpc>
            </a:pPr>
            <a:r>
              <a:rPr lang="en-US" sz="1200" b="0" i="0" dirty="0">
                <a:solidFill>
                  <a:srgbClr val="1F1F1F"/>
                </a:solidFill>
                <a:latin typeface="Arial"/>
              </a:rPr>
              <a:t>• </a:t>
            </a:r>
            <a:endParaRPr lang="en-US"/>
          </a:p>
        </p:txBody>
      </p:sp>
      <p:sp>
        <p:nvSpPr>
          <p:cNvPr id="15" name="Rectangle">
            <a:extLst>
              <a:ext uri="{FF2B5EF4-FFF2-40B4-BE49-F238E27FC236}">
                <a16:creationId xmlns:a16="http://schemas.microsoft.com/office/drawing/2014/main" id="{A0C957D4-E4F1-4D51-EC0C-C161461E948E}"/>
              </a:ext>
            </a:extLst>
          </p:cNvPr>
          <p:cNvSpPr/>
          <p:nvPr/>
        </p:nvSpPr>
        <p:spPr>
          <a:xfrm>
            <a:off x="4379722" y="1331595"/>
            <a:ext cx="4237101" cy="4113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619"/>
              </a:lnSpc>
            </a:pPr>
            <a:r>
              <a:rPr lang="en-US" sz="1200" b="1" i="0" dirty="0">
                <a:solidFill>
                  <a:srgbClr val="6B2D5C"/>
                </a:solidFill>
                <a:latin typeface="Open Sans"/>
              </a:rPr>
              <a:t>The MC is expected to own the pen:</a:t>
            </a:r>
            <a:r>
              <a:rPr lang="en-US" sz="1200" b="0" i="0" dirty="0">
                <a:solidFill>
                  <a:srgbClr val="1F1F1F"/>
                </a:solidFill>
                <a:latin typeface="Open Sans"/>
              </a:rPr>
              <a:t> lyrics should carry personal voice and lived experience.</a:t>
            </a:r>
            <a:endParaRPr lang="en-US"/>
          </a:p>
        </p:txBody>
      </p:sp>
      <p:sp>
        <p:nvSpPr>
          <p:cNvPr id="16" name="Rectangle">
            <a:extLst>
              <a:ext uri="{FF2B5EF4-FFF2-40B4-BE49-F238E27FC236}">
                <a16:creationId xmlns:a16="http://schemas.microsoft.com/office/drawing/2014/main" id="{A0C957D4-E4F1-4D51-EC0C-C161461E948E}"/>
              </a:ext>
            </a:extLst>
          </p:cNvPr>
          <p:cNvSpPr/>
          <p:nvPr/>
        </p:nvSpPr>
        <p:spPr>
          <a:xfrm>
            <a:off x="4198747" y="1882521"/>
            <a:ext cx="82550" cy="2057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620"/>
              </a:lnSpc>
            </a:pPr>
            <a:r>
              <a:rPr lang="en-US" sz="1200" b="0" i="0" dirty="0">
                <a:solidFill>
                  <a:srgbClr val="1F1F1F"/>
                </a:solidFill>
                <a:latin typeface="Arial"/>
              </a:rPr>
              <a:t>• </a:t>
            </a:r>
            <a:endParaRPr lang="en-US"/>
          </a:p>
        </p:txBody>
      </p:sp>
      <p:sp>
        <p:nvSpPr>
          <p:cNvPr id="17" name="Rectangle">
            <a:extLst>
              <a:ext uri="{FF2B5EF4-FFF2-40B4-BE49-F238E27FC236}">
                <a16:creationId xmlns:a16="http://schemas.microsoft.com/office/drawing/2014/main" id="{A0C957D4-E4F1-4D51-EC0C-C161461E948E}"/>
              </a:ext>
            </a:extLst>
          </p:cNvPr>
          <p:cNvSpPr/>
          <p:nvPr/>
        </p:nvSpPr>
        <p:spPr>
          <a:xfrm>
            <a:off x="4379722" y="1882521"/>
            <a:ext cx="4237101" cy="4113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620"/>
              </a:lnSpc>
            </a:pPr>
            <a:r>
              <a:rPr lang="en-US" sz="1200" b="1" i="0" dirty="0">
                <a:solidFill>
                  <a:srgbClr val="6B2D5C"/>
                </a:solidFill>
                <a:latin typeface="Open Sans"/>
              </a:rPr>
              <a:t>Borrowing can be ethical:</a:t>
            </a:r>
            <a:r>
              <a:rPr lang="en-US" sz="1200" b="0" i="0" dirty="0">
                <a:solidFill>
                  <a:srgbClr val="1F1F1F"/>
                </a:solidFill>
                <a:latin typeface="Open Sans"/>
              </a:rPr>
              <a:t> samples gain legitimacy through transformation, selection, and skill.</a:t>
            </a: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4198747" y="2433447"/>
            <a:ext cx="82550" cy="2057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620"/>
              </a:lnSpc>
            </a:pPr>
            <a:r>
              <a:rPr lang="en-US" sz="1200" b="0" i="0" dirty="0">
                <a:solidFill>
                  <a:srgbClr val="1F1F1F"/>
                </a:solidFill>
                <a:latin typeface="Arial"/>
              </a:rPr>
              <a:t>• </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4379722" y="2433447"/>
            <a:ext cx="4237101" cy="4113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620"/>
              </a:lnSpc>
            </a:pPr>
            <a:r>
              <a:rPr lang="en-US" sz="1200" b="1" i="0" dirty="0">
                <a:solidFill>
                  <a:srgbClr val="6B2D5C"/>
                </a:solidFill>
                <a:latin typeface="Open Sans"/>
              </a:rPr>
              <a:t>AI complicates originality:</a:t>
            </a:r>
            <a:r>
              <a:rPr lang="en-US" sz="1200" b="0" i="0" dirty="0">
                <a:solidFill>
                  <a:srgbClr val="1F1F1F"/>
                </a:solidFill>
                <a:latin typeface="Open Sans"/>
              </a:rPr>
              <a:t> models compress many prior styles into outputs that can feel new.</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4198747" y="2984500"/>
            <a:ext cx="82550" cy="2057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619"/>
              </a:lnSpc>
            </a:pPr>
            <a:r>
              <a:rPr lang="en-US" sz="1200" b="0" i="0" dirty="0">
                <a:solidFill>
                  <a:srgbClr val="1F1F1F"/>
                </a:solidFill>
                <a:latin typeface="Arial"/>
              </a:rPr>
              <a:t>• </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4379722" y="2984500"/>
            <a:ext cx="4237101" cy="4113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619"/>
              </a:lnSpc>
            </a:pPr>
            <a:r>
              <a:rPr lang="en-US" sz="1200" b="1" i="0" dirty="0">
                <a:solidFill>
                  <a:srgbClr val="6B2D5C"/>
                </a:solidFill>
                <a:latin typeface="Open Sans"/>
              </a:rPr>
              <a:t>The paradox:</a:t>
            </a:r>
            <a:r>
              <a:rPr lang="en-US" sz="1200" b="0" i="0" dirty="0">
                <a:solidFill>
                  <a:srgbClr val="1F1F1F"/>
                </a:solidFill>
                <a:latin typeface="Open Sans"/>
              </a:rPr>
              <a:t> AI may support creativity while flattening cultural distinctiveness.</a:t>
            </a:r>
            <a:endParaRPr lang="en-US"/>
          </a:p>
        </p:txBody>
      </p:sp>
      <p:sp>
        <p:nvSpPr>
          <p:cNvPr id="22" name="Rectangle">
            <a:extLst>
              <a:ext uri="{FF2B5EF4-FFF2-40B4-BE49-F238E27FC236}">
                <a16:creationId xmlns:a16="http://schemas.microsoft.com/office/drawing/2014/main" id="{A0C957D4-E4F1-4D51-EC0C-C161461E948E}"/>
              </a:ext>
            </a:extLst>
          </p:cNvPr>
          <p:cNvSpPr/>
          <p:nvPr/>
        </p:nvSpPr>
        <p:spPr>
          <a:xfrm>
            <a:off x="4151122" y="3573526"/>
            <a:ext cx="4905286" cy="142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020"/>
              </a:lnSpc>
            </a:pPr>
            <a:r>
              <a:rPr lang="en-US" sz="850" b="0" i="0" dirty="0">
                <a:solidFill>
                  <a:srgbClr val="5B5B5B"/>
                </a:solidFill>
                <a:latin typeface="Open Sans"/>
              </a:rPr>
              <a:t>Sources: Evans (2010); Olabode (2023); UW-Madison College of Letters &amp; Science.</a:t>
            </a:r>
            <a:endParaRPr lang="en-US"/>
          </a:p>
        </p:txBody>
      </p:sp>
    </p:spTree>
    <p:extLst>
      <p:ext uri="{BB962C8B-B14F-4D97-AF65-F5344CB8AC3E}">
        <p14:creationId xmlns:p14="http://schemas.microsoft.com/office/powerpoint/2010/main" val="945381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A0C957D4-E4F1-4D51-EC0C-C161461E948E}"/>
              </a:ext>
            </a:extLst>
          </p:cNvPr>
          <p:cNvSpPr/>
          <p:nvPr/>
        </p:nvSpPr>
        <p:spPr>
          <a:xfrm>
            <a:off x="0" y="0"/>
            <a:ext cx="10477500" cy="6730873"/>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736600" y="1271016"/>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736600" y="1550289"/>
            <a:ext cx="345757" cy="6446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96012" rIns="0" bIns="0" rtlCol="0" anchor="t"/>
          <a:lstStyle/>
          <a:p>
            <a:pPr algn="l">
              <a:lnSpc>
                <a:spcPts val="4320"/>
              </a:lnSpc>
            </a:pPr>
            <a:r>
              <a:rPr lang="en-US" sz="5400" b="0" i="0" dirty="0">
                <a:solidFill>
                  <a:srgbClr val="C9A227"/>
                </a:solidFill>
                <a:latin typeface="Montserrat SemiBold"/>
              </a:rPr>
              <a:t>“</a:t>
            </a:r>
            <a:endParaRPr lang="en-US"/>
          </a:p>
        </p:txBody>
      </p:sp>
      <p:sp>
        <p:nvSpPr>
          <p:cNvPr id="5" name="Rectangle">
            <a:extLst>
              <a:ext uri="{FF2B5EF4-FFF2-40B4-BE49-F238E27FC236}">
                <a16:creationId xmlns:a16="http://schemas.microsoft.com/office/drawing/2014/main" id="{A0C957D4-E4F1-4D51-EC0C-C161461E948E}"/>
              </a:ext>
            </a:extLst>
          </p:cNvPr>
          <p:cNvSpPr/>
          <p:nvPr/>
        </p:nvSpPr>
        <p:spPr>
          <a:xfrm>
            <a:off x="736600" y="2080641"/>
            <a:ext cx="5778500" cy="3897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2976"/>
              </a:lnSpc>
            </a:pPr>
            <a:r>
              <a:rPr lang="en-US" sz="2400" b="1" i="0" dirty="0">
                <a:solidFill>
                  <a:srgbClr val="1F1F1F"/>
                </a:solidFill>
                <a:latin typeface="Montserrat"/>
              </a:rPr>
              <a:t>I began as a skeptic. Then I heard AI</a:t>
            </a: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736600" y="2458466"/>
            <a:ext cx="6635750" cy="3897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2976"/>
              </a:lnSpc>
            </a:pPr>
            <a:r>
              <a:rPr lang="en-US" sz="2400" b="1" i="0" dirty="0">
                <a:solidFill>
                  <a:srgbClr val="1F1F1F"/>
                </a:solidFill>
                <a:latin typeface="Montserrat"/>
              </a:rPr>
              <a:t>reinterpret music in a way that genuinely</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736600" y="2836418"/>
            <a:ext cx="1787525" cy="3897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2976"/>
              </a:lnSpc>
            </a:pPr>
            <a:r>
              <a:rPr lang="en-US" sz="2400" b="1" i="0" dirty="0">
                <a:solidFill>
                  <a:srgbClr val="1F1F1F"/>
                </a:solidFill>
                <a:latin typeface="Montserrat"/>
              </a:rPr>
              <a:t>moved me.</a:t>
            </a:r>
            <a:endParaRPr lang="en-US"/>
          </a:p>
        </p:txBody>
      </p:sp>
      <p:sp>
        <p:nvSpPr>
          <p:cNvPr id="8" name="Rectangle">
            <a:extLst>
              <a:ext uri="{FF2B5EF4-FFF2-40B4-BE49-F238E27FC236}">
                <a16:creationId xmlns:a16="http://schemas.microsoft.com/office/drawing/2014/main" id="{A0C957D4-E4F1-4D51-EC0C-C161461E948E}"/>
              </a:ext>
            </a:extLst>
          </p:cNvPr>
          <p:cNvSpPr/>
          <p:nvPr/>
        </p:nvSpPr>
        <p:spPr>
          <a:xfrm>
            <a:off x="736600" y="3451606"/>
            <a:ext cx="7007225"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620"/>
              </a:lnSpc>
            </a:pPr>
            <a:r>
              <a:rPr lang="en-US" sz="1200" b="0" i="0" dirty="0">
                <a:solidFill>
                  <a:srgbClr val="5B5B5B"/>
                </a:solidFill>
                <a:latin typeface="Open Sans"/>
              </a:rPr>
              <a:t>Personal enjoyment does not settle consent, authorship, or attribution — it shows why the ethics</a:t>
            </a: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736600" y="3657346"/>
            <a:ext cx="863600" cy="2095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620"/>
              </a:lnSpc>
            </a:pPr>
            <a:r>
              <a:rPr lang="en-US" sz="1200" b="0" i="0" dirty="0">
                <a:solidFill>
                  <a:srgbClr val="5B5B5B"/>
                </a:solidFill>
                <a:latin typeface="Open Sans"/>
              </a:rPr>
              <a:t>are difficult.</a:t>
            </a:r>
            <a:endParaRPr lang="en-US"/>
          </a:p>
        </p:txBody>
      </p:sp>
      <p:pic>
        <p:nvPicPr>
          <p:cNvPr id="10" name="Picture 10"/>
          <p:cNvPicPr/>
          <p:nvPr/>
        </p:nvPicPr>
        <p:blipFill>
          <a:blip r:embed="rId3">
            <a:alphaModFix amt="75000"/>
          </a:blip>
          <a:stretch/>
        </p:blipFill>
        <p:spPr>
          <a:xfrm>
            <a:off x="6667500" y="2920873"/>
            <a:ext cx="2476500" cy="2222627"/>
          </a:xfrm>
          <a:prstGeom prst="roundRect">
            <a:avLst>
              <a:gd name="adj" fmla="val 50000"/>
            </a:avLst>
          </a:prstGeom>
        </p:spPr>
      </p:pic>
      <p:pic>
        <p:nvPicPr>
          <p:cNvPr id="11" name="Picture 11"/>
          <p:cNvPicPr/>
          <p:nvPr/>
        </p:nvPicPr>
        <p:blipFill>
          <a:blip r:embed="rId4">
            <a:alphaModFix amt="75000"/>
          </a:blip>
          <a:stretch/>
        </p:blipFill>
        <p:spPr>
          <a:xfrm>
            <a:off x="6667500" y="2920873"/>
            <a:ext cx="2476500" cy="2222627"/>
          </a:xfrm>
          <a:prstGeom prst="roundRect">
            <a:avLst>
              <a:gd name="adj" fmla="val 50000"/>
            </a:avLst>
          </a:prstGeom>
        </p:spPr>
      </p:pic>
    </p:spTree>
    <p:extLst>
      <p:ext uri="{BB962C8B-B14F-4D97-AF65-F5344CB8AC3E}">
        <p14:creationId xmlns:p14="http://schemas.microsoft.com/office/powerpoint/2010/main" val="945381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A0C957D4-E4F1-4D51-EC0C-C161461E948E}"/>
              </a:ext>
            </a:extLst>
          </p:cNvPr>
          <p:cNvSpPr/>
          <p:nvPr/>
        </p:nvSpPr>
        <p:spPr>
          <a:xfrm>
            <a:off x="0" y="0"/>
            <a:ext cx="10414000" cy="6667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660400" y="1823339"/>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660400" y="2102612"/>
            <a:ext cx="8605659"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40"/>
              </a:lnSpc>
            </a:pPr>
            <a:r>
              <a:rPr lang="en-US" sz="1200" b="1" i="0" spc="144" dirty="0">
                <a:solidFill>
                  <a:srgbClr val="6B2D5C"/>
                </a:solidFill>
                <a:latin typeface="Montserrat"/>
              </a:rPr>
              <a:t>02 · HISTORICAL PRECEDENTS</a:t>
            </a:r>
            <a:endParaRPr lang="en-US"/>
          </a:p>
        </p:txBody>
      </p:sp>
      <p:sp>
        <p:nvSpPr>
          <p:cNvPr id="5" name="Rectangle">
            <a:extLst>
              <a:ext uri="{FF2B5EF4-FFF2-40B4-BE49-F238E27FC236}">
                <a16:creationId xmlns:a16="http://schemas.microsoft.com/office/drawing/2014/main" id="{A0C957D4-E4F1-4D51-EC0C-C161461E948E}"/>
              </a:ext>
            </a:extLst>
          </p:cNvPr>
          <p:cNvSpPr/>
          <p:nvPr/>
        </p:nvSpPr>
        <p:spPr>
          <a:xfrm>
            <a:off x="660400" y="2410587"/>
            <a:ext cx="7823060" cy="4921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5908" rIns="0" bIns="0" rtlCol="0" anchor="t"/>
          <a:lstStyle/>
          <a:p>
            <a:pPr algn="l">
              <a:lnSpc>
                <a:spcPts val="3672"/>
              </a:lnSpc>
            </a:pPr>
            <a:r>
              <a:rPr lang="en-US" sz="3400" b="1" i="0" dirty="0">
                <a:solidFill>
                  <a:srgbClr val="1F1F1F"/>
                </a:solidFill>
                <a:latin typeface="Montserrat"/>
              </a:rPr>
              <a:t>Technology Precedents</a:t>
            </a: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660400" y="3080004"/>
            <a:ext cx="7543800" cy="2400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890"/>
              </a:lnSpc>
            </a:pPr>
            <a:r>
              <a:rPr lang="en-US" sz="1400" b="0" i="0" dirty="0">
                <a:solidFill>
                  <a:srgbClr val="5B5B5B"/>
                </a:solidFill>
                <a:latin typeface="Open Sans"/>
              </a:rPr>
              <a:t>AI is not the first tool to force hip-hop to renegotiate originality, labor, and value.</a:t>
            </a:r>
            <a:endParaRPr lang="en-US"/>
          </a:p>
        </p:txBody>
      </p:sp>
      <p:pic>
        <p:nvPicPr>
          <p:cNvPr id="7" name="Picture 7"/>
          <p:cNvPicPr/>
          <p:nvPr/>
        </p:nvPicPr>
        <p:blipFill>
          <a:blip r:embed="rId3">
            <a:alphaModFix amt="75000"/>
          </a:blip>
          <a:stretch/>
        </p:blipFill>
        <p:spPr>
          <a:xfrm>
            <a:off x="6477000" y="2730500"/>
            <a:ext cx="2667000" cy="2413000"/>
          </a:xfrm>
          <a:prstGeom prst="roundRect">
            <a:avLst>
              <a:gd name="adj" fmla="val 50000"/>
            </a:avLst>
          </a:prstGeom>
        </p:spPr>
      </p:pic>
      <p:pic>
        <p:nvPicPr>
          <p:cNvPr id="8" name="Picture 8"/>
          <p:cNvPicPr/>
          <p:nvPr/>
        </p:nvPicPr>
        <p:blipFill>
          <a:blip r:embed="rId4">
            <a:alphaModFix amt="75000"/>
          </a:blip>
          <a:stretch/>
        </p:blipFill>
        <p:spPr>
          <a:xfrm>
            <a:off x="6477000" y="2730500"/>
            <a:ext cx="2667000" cy="2413000"/>
          </a:xfrm>
          <a:prstGeom prst="roundRect">
            <a:avLst>
              <a:gd name="adj" fmla="val 50000"/>
            </a:avLst>
          </a:prstGeom>
        </p:spPr>
      </p:pic>
    </p:spTree>
    <p:extLst>
      <p:ext uri="{BB962C8B-B14F-4D97-AF65-F5344CB8AC3E}">
        <p14:creationId xmlns:p14="http://schemas.microsoft.com/office/powerpoint/2010/main" val="945381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6" name="Rectangle">
            <a:extLst>
              <a:ext uri="{FF2B5EF4-FFF2-40B4-BE49-F238E27FC236}">
                <a16:creationId xmlns:a16="http://schemas.microsoft.com/office/drawing/2014/main" id="{A0C957D4-E4F1-4D51-EC0C-C161461E948E}"/>
              </a:ext>
            </a:extLst>
          </p:cNvPr>
          <p:cNvSpPr/>
          <p:nvPr/>
        </p:nvSpPr>
        <p:spPr>
          <a:xfrm>
            <a:off x="0" y="0"/>
            <a:ext cx="10477500" cy="6730873"/>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533400" y="482473"/>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533400" y="710946"/>
            <a:ext cx="8884920" cy="3446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7526" rIns="0" bIns="0" rtlCol="0" anchor="t"/>
          <a:lstStyle/>
          <a:p>
            <a:pPr algn="l">
              <a:lnSpc>
                <a:spcPts val="2576"/>
              </a:lnSpc>
            </a:pPr>
            <a:r>
              <a:rPr lang="en-US" sz="2300" b="1" i="0" dirty="0">
                <a:solidFill>
                  <a:srgbClr val="1F1F1F"/>
                </a:solidFill>
                <a:latin typeface="Montserrat"/>
              </a:rPr>
              <a:t>T-Pain, Auto-Tune, and Authenticity</a:t>
            </a:r>
            <a:endParaRPr lang="en-US"/>
          </a:p>
        </p:txBody>
      </p:sp>
      <p:pic>
        <p:nvPicPr>
          <p:cNvPr id="5" name="Picture 5"/>
          <p:cNvPicPr/>
          <p:nvPr/>
        </p:nvPicPr>
        <p:blipFill>
          <a:blip r:embed="rId3">
            <a:alphaModFix amt="75000"/>
          </a:blip>
          <a:stretch/>
        </p:blipFill>
        <p:spPr>
          <a:xfrm>
            <a:off x="6667500" y="2920873"/>
            <a:ext cx="2476500" cy="2222627"/>
          </a:xfrm>
          <a:prstGeom prst="roundRect">
            <a:avLst>
              <a:gd name="adj" fmla="val 50000"/>
            </a:avLst>
          </a:prstGeom>
        </p:spPr>
      </p:pic>
      <p:pic>
        <p:nvPicPr>
          <p:cNvPr id="6" name="Picture 6"/>
          <p:cNvPicPr/>
          <p:nvPr/>
        </p:nvPicPr>
        <p:blipFill>
          <a:blip r:embed="rId4">
            <a:alphaModFix amt="75000"/>
          </a:blip>
          <a:stretch/>
        </p:blipFill>
        <p:spPr>
          <a:xfrm>
            <a:off x="6667500" y="2920873"/>
            <a:ext cx="2476500" cy="2222627"/>
          </a:xfrm>
          <a:prstGeom prst="roundRect">
            <a:avLst>
              <a:gd name="adj" fmla="val 50000"/>
            </a:avLst>
          </a:prstGeom>
        </p:spPr>
      </p:pic>
      <p:sp>
        <p:nvSpPr>
          <p:cNvPr id="7" name="RoundedRectangle">
            <a:extLst>
              <a:ext uri="{FF2B5EF4-FFF2-40B4-BE49-F238E27FC236}">
                <a16:creationId xmlns:a16="http://schemas.microsoft.com/office/drawing/2014/main" id="{A0C957D4-E4F1-4D51-EC0C-C161461E948E}"/>
              </a:ext>
            </a:extLst>
          </p:cNvPr>
          <p:cNvSpPr/>
          <p:nvPr/>
        </p:nvSpPr>
        <p:spPr>
          <a:xfrm>
            <a:off x="533400" y="1317371"/>
            <a:ext cx="3924300" cy="2387254"/>
          </a:xfrm>
          <a:prstGeom prst="roundRect">
            <a:avLst>
              <a:gd name="adj" fmla="val 4255"/>
            </a:avLst>
          </a:prstGeom>
          <a:solidFill>
            <a:srgbClr val="6B2D5C"/>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538162" y="1322133"/>
            <a:ext cx="3914775" cy="2377729"/>
          </a:xfrm>
          <a:prstGeom prst="roundRect">
            <a:avLst>
              <a:gd name="adj" fmla="val 4072"/>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771525" y="1542796"/>
            <a:ext cx="3792855" cy="228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800"/>
              </a:lnSpc>
            </a:pPr>
            <a:r>
              <a:rPr lang="en-US" sz="1500" b="1" i="0" dirty="0">
                <a:solidFill>
                  <a:srgbClr val="F6F2EA"/>
                </a:solidFill>
                <a:latin typeface="Montserrat"/>
              </a:rPr>
              <a:t>T-Pain’s innovation</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771525" y="1898269"/>
            <a:ext cx="3448050" cy="1489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marL="215773" indent="-171450" algn="l">
              <a:lnSpc>
                <a:spcPts val="1433"/>
              </a:lnSpc>
              <a:spcAft>
                <a:spcPts val="800"/>
              </a:spcAft>
              <a:buSzPct val="100000"/>
              <a:buFont typeface="Arial"/>
              <a:buChar char="•"/>
              <a:defRPr sz="1070" b="0" i="0">
                <a:solidFill>
                  <a:srgbClr val="F6F2EA"/>
                </a:solidFill>
                <a:latin typeface="Arial"/>
              </a:defRPr>
            </a:pPr>
            <a:r>
              <a:rPr lang="en-US" sz="1070" b="0" i="0" dirty="0">
                <a:solidFill>
                  <a:srgbClr val="F6F2EA"/>
                </a:solidFill>
                <a:latin typeface="Open Sans"/>
              </a:rPr>
              <a:t>Turned Auto-Tune from correction into a</a:t>
            </a:r>
            <a:br/>
            <a:r>
              <a:rPr lang="en-US" sz="1070" b="0" i="0" dirty="0">
                <a:solidFill>
                  <a:srgbClr val="F6F2EA"/>
                </a:solidFill>
                <a:latin typeface="Open Sans"/>
              </a:rPr>
              <a:t>recognizable expressive instrument.</a:t>
            </a:r>
            <a:endParaRPr lang="en-US"/>
          </a:p>
          <a:p>
            <a:pPr marL="215773" indent="-171450" algn="l">
              <a:lnSpc>
                <a:spcPts val="1433"/>
              </a:lnSpc>
              <a:spcAft>
                <a:spcPts val="800"/>
              </a:spcAft>
              <a:buSzPct val="100000"/>
              <a:buFont typeface="Arial"/>
              <a:buChar char="•"/>
              <a:defRPr sz="1070" b="0" i="0">
                <a:solidFill>
                  <a:srgbClr val="F6F2EA"/>
                </a:solidFill>
                <a:latin typeface="Arial"/>
              </a:defRPr>
            </a:pPr>
            <a:r>
              <a:rPr lang="en-US" sz="1070" b="0" i="0" dirty="0">
                <a:solidFill>
                  <a:srgbClr val="F6F2EA"/>
                </a:solidFill>
                <a:latin typeface="Open Sans"/>
              </a:rPr>
              <a:t>Helped define a 2005–2010 hip-hop and R&amp;B</a:t>
            </a:r>
            <a:br/>
            <a:r>
              <a:rPr lang="en-US" sz="1070" b="0" i="0" dirty="0">
                <a:solidFill>
                  <a:srgbClr val="F6F2EA"/>
                </a:solidFill>
                <a:latin typeface="Open Sans"/>
              </a:rPr>
              <a:t>sound.</a:t>
            </a:r>
            <a:endParaRPr lang="en-US"/>
          </a:p>
          <a:p>
            <a:pPr marL="215773" indent="-171450" algn="l">
              <a:lnSpc>
                <a:spcPts val="1433"/>
              </a:lnSpc>
              <a:buSzPct val="100000"/>
              <a:buFont typeface="Arial"/>
              <a:buChar char="•"/>
              <a:defRPr sz="1070" b="0" i="0">
                <a:solidFill>
                  <a:srgbClr val="F6F2EA"/>
                </a:solidFill>
                <a:latin typeface="Arial"/>
              </a:defRPr>
            </a:pPr>
            <a:r>
              <a:rPr lang="en-US" sz="1070" b="0" i="0" dirty="0">
                <a:solidFill>
                  <a:srgbClr val="F6F2EA"/>
                </a:solidFill>
                <a:latin typeface="Open Sans"/>
              </a:rPr>
              <a:t>Faced backlash even while the style reshaped</a:t>
            </a:r>
            <a:br/>
            <a:r>
              <a:rPr lang="en-US" sz="1070" b="0" i="0" dirty="0">
                <a:solidFill>
                  <a:srgbClr val="F6F2EA"/>
                </a:solidFill>
                <a:latin typeface="Open Sans"/>
              </a:rPr>
              <a:t>mainstream production.</a:t>
            </a:r>
            <a:endParaRPr lang="en-US"/>
          </a:p>
        </p:txBody>
      </p:sp>
      <p:sp>
        <p:nvSpPr>
          <p:cNvPr id="11" name="RoundedRectangle">
            <a:extLst>
              <a:ext uri="{FF2B5EF4-FFF2-40B4-BE49-F238E27FC236}">
                <a16:creationId xmlns:a16="http://schemas.microsoft.com/office/drawing/2014/main" id="{A0C957D4-E4F1-4D51-EC0C-C161461E948E}"/>
              </a:ext>
            </a:extLst>
          </p:cNvPr>
          <p:cNvSpPr/>
          <p:nvPr/>
        </p:nvSpPr>
        <p:spPr>
          <a:xfrm>
            <a:off x="4686300" y="1317371"/>
            <a:ext cx="3924300" cy="2387254"/>
          </a:xfrm>
          <a:prstGeom prst="roundRect">
            <a:avLst>
              <a:gd name="adj" fmla="val 4255"/>
            </a:avLst>
          </a:prstGeom>
          <a:solidFill>
            <a:srgbClr val="FFFFFF">
              <a:alpha val="4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Rectangle">
            <a:extLst>
              <a:ext uri="{FF2B5EF4-FFF2-40B4-BE49-F238E27FC236}">
                <a16:creationId xmlns:a16="http://schemas.microsoft.com/office/drawing/2014/main" id="{A0C957D4-E4F1-4D51-EC0C-C161461E948E}"/>
              </a:ext>
            </a:extLst>
          </p:cNvPr>
          <p:cNvSpPr/>
          <p:nvPr/>
        </p:nvSpPr>
        <p:spPr>
          <a:xfrm>
            <a:off x="4691062" y="1322133"/>
            <a:ext cx="3914775" cy="2377729"/>
          </a:xfrm>
          <a:prstGeom prst="roundRect">
            <a:avLst>
              <a:gd name="adj" fmla="val 4072"/>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4924425" y="1542796"/>
            <a:ext cx="3792855" cy="228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800"/>
              </a:lnSpc>
            </a:pPr>
            <a:r>
              <a:rPr lang="en-US" sz="1500" b="1" i="0" dirty="0">
                <a:solidFill>
                  <a:srgbClr val="1F1F1F"/>
                </a:solidFill>
                <a:latin typeface="Montserrat"/>
              </a:rPr>
              <a:t>Jay-Z’s response</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4924425" y="1898269"/>
            <a:ext cx="3448050" cy="1489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marL="215773" indent="-171450" algn="l">
              <a:lnSpc>
                <a:spcPts val="1433"/>
              </a:lnSpc>
              <a:spcAft>
                <a:spcPts val="800"/>
              </a:spcAft>
              <a:buSzPct val="100000"/>
              <a:buFont typeface="Arial"/>
              <a:buChar char="•"/>
              <a:defRPr sz="1070" b="0" i="0">
                <a:solidFill>
                  <a:srgbClr val="1F1F1F"/>
                </a:solidFill>
                <a:latin typeface="Arial"/>
              </a:defRPr>
            </a:pPr>
            <a:r>
              <a:rPr lang="en-US" sz="1070" b="0" i="0" dirty="0">
                <a:solidFill>
                  <a:srgbClr val="1F1F1F"/>
                </a:solidFill>
                <a:latin typeface="Open Sans"/>
              </a:rPr>
              <a:t>“D.O.A. (Death of Auto-Tune)” criticized overuse</a:t>
            </a:r>
            <a:br/>
            <a:r>
              <a:rPr lang="en-US" sz="1070" b="0" i="0" dirty="0">
                <a:solidFill>
                  <a:srgbClr val="1F1F1F"/>
                </a:solidFill>
                <a:latin typeface="Open Sans"/>
              </a:rPr>
              <a:t>and artistic dilution.</a:t>
            </a:r>
            <a:endParaRPr lang="en-US"/>
          </a:p>
          <a:p>
            <a:pPr marL="215773" indent="-171450" algn="l">
              <a:lnSpc>
                <a:spcPts val="1433"/>
              </a:lnSpc>
              <a:spcAft>
                <a:spcPts val="800"/>
              </a:spcAft>
              <a:buSzPct val="100000"/>
              <a:buFont typeface="Arial"/>
              <a:buChar char="•"/>
              <a:defRPr sz="1070" b="0" i="0">
                <a:solidFill>
                  <a:srgbClr val="1F1F1F"/>
                </a:solidFill>
                <a:latin typeface="Arial"/>
              </a:defRPr>
            </a:pPr>
            <a:r>
              <a:rPr lang="en-US" sz="1070" b="0" i="0" dirty="0">
                <a:solidFill>
                  <a:srgbClr val="1F1F1F"/>
                </a:solidFill>
                <a:latin typeface="Open Sans"/>
              </a:rPr>
              <a:t>The debate was not tool versus no tool; it was</a:t>
            </a:r>
            <a:br/>
            <a:r>
              <a:rPr lang="en-US" sz="1070" b="0" i="0" dirty="0">
                <a:solidFill>
                  <a:srgbClr val="1F1F1F"/>
                </a:solidFill>
                <a:latin typeface="Open Sans"/>
              </a:rPr>
              <a:t>authenticity versus excess.</a:t>
            </a:r>
            <a:endParaRPr lang="en-US"/>
          </a:p>
          <a:p>
            <a:pPr marL="215773" indent="-171450" algn="l">
              <a:lnSpc>
                <a:spcPts val="1433"/>
              </a:lnSpc>
              <a:buSzPct val="100000"/>
              <a:buFont typeface="Arial"/>
              <a:buChar char="•"/>
              <a:defRPr sz="1070" b="0" i="0">
                <a:solidFill>
                  <a:srgbClr val="1F1F1F"/>
                </a:solidFill>
                <a:latin typeface="Arial"/>
              </a:defRPr>
            </a:pPr>
            <a:r>
              <a:rPr lang="en-US" sz="1070" b="0" i="0" dirty="0">
                <a:solidFill>
                  <a:srgbClr val="1F1F1F"/>
                </a:solidFill>
                <a:latin typeface="Open Sans"/>
              </a:rPr>
              <a:t>Auto-Tune normalized, but norms around its use</a:t>
            </a:r>
            <a:br/>
            <a:r>
              <a:rPr lang="en-US" sz="1070" b="0" i="0" dirty="0">
                <a:solidFill>
                  <a:srgbClr val="1F1F1F"/>
                </a:solidFill>
                <a:latin typeface="Open Sans"/>
              </a:rPr>
              <a:t>changed.</a:t>
            </a:r>
            <a:endParaRPr lang="en-US"/>
          </a:p>
        </p:txBody>
      </p:sp>
      <p:sp>
        <p:nvSpPr>
          <p:cNvPr id="15" name="Rectangle">
            <a:extLst>
              <a:ext uri="{FF2B5EF4-FFF2-40B4-BE49-F238E27FC236}">
                <a16:creationId xmlns:a16="http://schemas.microsoft.com/office/drawing/2014/main" id="{A0C957D4-E4F1-4D51-EC0C-C161461E948E}"/>
              </a:ext>
            </a:extLst>
          </p:cNvPr>
          <p:cNvSpPr/>
          <p:nvPr/>
        </p:nvSpPr>
        <p:spPr>
          <a:xfrm>
            <a:off x="4924425" y="3345815"/>
            <a:ext cx="3792855" cy="133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960"/>
              </a:lnSpc>
            </a:pPr>
            <a:r>
              <a:rPr lang="en-US" sz="800" b="0" i="0" dirty="0">
                <a:solidFill>
                  <a:srgbClr val="5B5B5B"/>
                </a:solidFill>
                <a:latin typeface="Open Sans"/>
              </a:rPr>
              <a:t>Sources: Andscape (2021); Complex (2014); Hypebeast (2021).</a:t>
            </a:r>
            <a:endParaRPr lang="en-US"/>
          </a:p>
        </p:txBody>
      </p:sp>
    </p:spTree>
    <p:extLst>
      <p:ext uri="{BB962C8B-B14F-4D97-AF65-F5344CB8AC3E}">
        <p14:creationId xmlns:p14="http://schemas.microsoft.com/office/powerpoint/2010/main" val="945381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47" name="Rectangle">
            <a:extLst>
              <a:ext uri="{FF2B5EF4-FFF2-40B4-BE49-F238E27FC236}">
                <a16:creationId xmlns:a16="http://schemas.microsoft.com/office/drawing/2014/main" id="{A0C957D4-E4F1-4D51-EC0C-C161461E948E}"/>
              </a:ext>
            </a:extLst>
          </p:cNvPr>
          <p:cNvSpPr/>
          <p:nvPr/>
        </p:nvSpPr>
        <p:spPr>
          <a:xfrm>
            <a:off x="0" y="0"/>
            <a:ext cx="10477500" cy="6730873"/>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508000" y="4572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508000" y="660400"/>
            <a:ext cx="8940939" cy="3446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7526" rIns="0" bIns="0" rtlCol="0" anchor="t"/>
          <a:lstStyle/>
          <a:p>
            <a:pPr algn="l">
              <a:lnSpc>
                <a:spcPts val="2576"/>
              </a:lnSpc>
            </a:pPr>
            <a:r>
              <a:rPr lang="en-US" sz="2300" b="1" i="0" dirty="0">
                <a:solidFill>
                  <a:srgbClr val="1F1F1F"/>
                </a:solidFill>
                <a:latin typeface="Montserrat"/>
              </a:rPr>
              <a:t>Sampling and the Ethics of Borrowing</a:t>
            </a:r>
            <a:endParaRPr lang="en-US"/>
          </a:p>
        </p:txBody>
      </p:sp>
      <p:pic>
        <p:nvPicPr>
          <p:cNvPr id="5" name="Picture 5"/>
          <p:cNvPicPr/>
          <p:nvPr/>
        </p:nvPicPr>
        <p:blipFill>
          <a:blip r:embed="rId3">
            <a:alphaModFix amt="75000"/>
          </a:blip>
          <a:stretch/>
        </p:blipFill>
        <p:spPr>
          <a:xfrm>
            <a:off x="6667500" y="2920873"/>
            <a:ext cx="2476500" cy="2222627"/>
          </a:xfrm>
          <a:prstGeom prst="roundRect">
            <a:avLst>
              <a:gd name="adj" fmla="val 50000"/>
            </a:avLst>
          </a:prstGeom>
        </p:spPr>
      </p:pic>
      <p:pic>
        <p:nvPicPr>
          <p:cNvPr id="6" name="Picture 6"/>
          <p:cNvPicPr/>
          <p:nvPr/>
        </p:nvPicPr>
        <p:blipFill>
          <a:blip r:embed="rId4">
            <a:alphaModFix amt="75000"/>
          </a:blip>
          <a:stretch/>
        </p:blipFill>
        <p:spPr>
          <a:xfrm>
            <a:off x="6667500" y="2920873"/>
            <a:ext cx="2476500" cy="2222627"/>
          </a:xfrm>
          <a:prstGeom prst="roundRect">
            <a:avLst>
              <a:gd name="adj" fmla="val 50000"/>
            </a:avLst>
          </a:prstGeom>
        </p:spPr>
      </p:pic>
      <p:sp>
        <p:nvSpPr>
          <p:cNvPr id="7" name="RoundedRectangle">
            <a:extLst>
              <a:ext uri="{FF2B5EF4-FFF2-40B4-BE49-F238E27FC236}">
                <a16:creationId xmlns:a16="http://schemas.microsoft.com/office/drawing/2014/main" id="{A0C957D4-E4F1-4D51-EC0C-C161461E948E}"/>
              </a:ext>
            </a:extLst>
          </p:cNvPr>
          <p:cNvSpPr/>
          <p:nvPr/>
        </p:nvSpPr>
        <p:spPr>
          <a:xfrm>
            <a:off x="508000" y="1292225"/>
            <a:ext cx="1524100" cy="1695450"/>
          </a:xfrm>
          <a:prstGeom prst="roundRect">
            <a:avLst>
              <a:gd name="adj" fmla="val 6666"/>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512762" y="1296987"/>
            <a:ext cx="1514575" cy="1685925"/>
          </a:xfrm>
          <a:prstGeom prst="roundRect">
            <a:avLst>
              <a:gd name="adj" fmla="val 639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644398" y="1454150"/>
            <a:ext cx="1376184"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60"/>
              </a:lnSpc>
            </a:pPr>
            <a:r>
              <a:rPr lang="en-US" sz="1050" b="1" i="0" dirty="0">
                <a:solidFill>
                  <a:srgbClr val="6B2D5C"/>
                </a:solidFill>
                <a:latin typeface="Montserrat"/>
              </a:rPr>
              <a:t>1973–1987</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644398" y="1717675"/>
            <a:ext cx="12350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Breakbeat DJing turns</a:t>
            </a: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644398" y="1873631"/>
            <a:ext cx="124460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vinyl archives into live</a:t>
            </a:r>
            <a:endParaRPr lang="en-US"/>
          </a:p>
        </p:txBody>
      </p:sp>
      <p:sp>
        <p:nvSpPr>
          <p:cNvPr id="12" name="Rectangle">
            <a:extLst>
              <a:ext uri="{FF2B5EF4-FFF2-40B4-BE49-F238E27FC236}">
                <a16:creationId xmlns:a16="http://schemas.microsoft.com/office/drawing/2014/main" id="{A0C957D4-E4F1-4D51-EC0C-C161461E948E}"/>
              </a:ext>
            </a:extLst>
          </p:cNvPr>
          <p:cNvSpPr/>
          <p:nvPr/>
        </p:nvSpPr>
        <p:spPr>
          <a:xfrm>
            <a:off x="644398" y="2029587"/>
            <a:ext cx="6635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community</a:t>
            </a: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644398" y="2185543"/>
            <a:ext cx="65405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knowledge.</a:t>
            </a:r>
            <a:endParaRPr lang="en-US"/>
          </a:p>
        </p:txBody>
      </p:sp>
      <p:sp>
        <p:nvSpPr>
          <p:cNvPr id="14" name="RoundedRectangle">
            <a:extLst>
              <a:ext uri="{FF2B5EF4-FFF2-40B4-BE49-F238E27FC236}">
                <a16:creationId xmlns:a16="http://schemas.microsoft.com/office/drawing/2014/main" id="{A0C957D4-E4F1-4D51-EC0C-C161461E948E}"/>
              </a:ext>
            </a:extLst>
          </p:cNvPr>
          <p:cNvSpPr/>
          <p:nvPr/>
        </p:nvSpPr>
        <p:spPr>
          <a:xfrm>
            <a:off x="2158873" y="1292225"/>
            <a:ext cx="1524243" cy="1695450"/>
          </a:xfrm>
          <a:prstGeom prst="roundRect">
            <a:avLst>
              <a:gd name="adj" fmla="val 6665"/>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Rectangle">
            <a:extLst>
              <a:ext uri="{FF2B5EF4-FFF2-40B4-BE49-F238E27FC236}">
                <a16:creationId xmlns:a16="http://schemas.microsoft.com/office/drawing/2014/main" id="{A0C957D4-E4F1-4D51-EC0C-C161461E948E}"/>
              </a:ext>
            </a:extLst>
          </p:cNvPr>
          <p:cNvSpPr/>
          <p:nvPr/>
        </p:nvSpPr>
        <p:spPr>
          <a:xfrm>
            <a:off x="2163635" y="1296987"/>
            <a:ext cx="1514718" cy="1685925"/>
          </a:xfrm>
          <a:prstGeom prst="roundRect">
            <a:avLst>
              <a:gd name="adj" fmla="val 639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a:extLst>
              <a:ext uri="{FF2B5EF4-FFF2-40B4-BE49-F238E27FC236}">
                <a16:creationId xmlns:a16="http://schemas.microsoft.com/office/drawing/2014/main" id="{A0C957D4-E4F1-4D51-EC0C-C161461E948E}"/>
              </a:ext>
            </a:extLst>
          </p:cNvPr>
          <p:cNvSpPr/>
          <p:nvPr/>
        </p:nvSpPr>
        <p:spPr>
          <a:xfrm>
            <a:off x="2295398" y="1454150"/>
            <a:ext cx="1376324"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60"/>
              </a:lnSpc>
            </a:pPr>
            <a:r>
              <a:rPr lang="en-US" sz="1050" b="1" i="0" dirty="0">
                <a:solidFill>
                  <a:srgbClr val="6B2D5C"/>
                </a:solidFill>
                <a:latin typeface="Montserrat"/>
              </a:rPr>
              <a:t>1988–1995</a:t>
            </a:r>
            <a:endParaRPr lang="en-US"/>
          </a:p>
        </p:txBody>
      </p:sp>
      <p:sp>
        <p:nvSpPr>
          <p:cNvPr id="17" name="Rectangle">
            <a:extLst>
              <a:ext uri="{FF2B5EF4-FFF2-40B4-BE49-F238E27FC236}">
                <a16:creationId xmlns:a16="http://schemas.microsoft.com/office/drawing/2014/main" id="{A0C957D4-E4F1-4D51-EC0C-C161461E948E}"/>
              </a:ext>
            </a:extLst>
          </p:cNvPr>
          <p:cNvSpPr/>
          <p:nvPr/>
        </p:nvSpPr>
        <p:spPr>
          <a:xfrm>
            <a:off x="2295398" y="1717675"/>
            <a:ext cx="11969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Golden Age sampling</a:t>
            </a: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2295398" y="1873631"/>
            <a:ext cx="76835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builds collage</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2295398" y="2029587"/>
            <a:ext cx="117792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aesthetics and raises</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2295398" y="2185543"/>
            <a:ext cx="110172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copyright pressure.</a:t>
            </a:r>
            <a:endParaRPr lang="en-US"/>
          </a:p>
        </p:txBody>
      </p:sp>
      <p:sp>
        <p:nvSpPr>
          <p:cNvPr id="21" name="RoundedRectangle">
            <a:extLst>
              <a:ext uri="{FF2B5EF4-FFF2-40B4-BE49-F238E27FC236}">
                <a16:creationId xmlns:a16="http://schemas.microsoft.com/office/drawing/2014/main" id="{A0C957D4-E4F1-4D51-EC0C-C161461E948E}"/>
              </a:ext>
            </a:extLst>
          </p:cNvPr>
          <p:cNvSpPr/>
          <p:nvPr/>
        </p:nvSpPr>
        <p:spPr>
          <a:xfrm>
            <a:off x="3810000" y="1292225"/>
            <a:ext cx="1524100" cy="1695450"/>
          </a:xfrm>
          <a:prstGeom prst="roundRect">
            <a:avLst>
              <a:gd name="adj" fmla="val 6666"/>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Rectangle">
            <a:extLst>
              <a:ext uri="{FF2B5EF4-FFF2-40B4-BE49-F238E27FC236}">
                <a16:creationId xmlns:a16="http://schemas.microsoft.com/office/drawing/2014/main" id="{A0C957D4-E4F1-4D51-EC0C-C161461E948E}"/>
              </a:ext>
            </a:extLst>
          </p:cNvPr>
          <p:cNvSpPr/>
          <p:nvPr/>
        </p:nvSpPr>
        <p:spPr>
          <a:xfrm>
            <a:off x="3814762" y="1296987"/>
            <a:ext cx="1514575" cy="1685925"/>
          </a:xfrm>
          <a:prstGeom prst="roundRect">
            <a:avLst>
              <a:gd name="adj" fmla="val 639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a:extLst>
              <a:ext uri="{FF2B5EF4-FFF2-40B4-BE49-F238E27FC236}">
                <a16:creationId xmlns:a16="http://schemas.microsoft.com/office/drawing/2014/main" id="{A0C957D4-E4F1-4D51-EC0C-C161461E948E}"/>
              </a:ext>
            </a:extLst>
          </p:cNvPr>
          <p:cNvSpPr/>
          <p:nvPr/>
        </p:nvSpPr>
        <p:spPr>
          <a:xfrm>
            <a:off x="3946525" y="1454150"/>
            <a:ext cx="1376184"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60"/>
              </a:lnSpc>
            </a:pPr>
            <a:r>
              <a:rPr lang="en-US" sz="1050" b="1" i="0" dirty="0">
                <a:solidFill>
                  <a:srgbClr val="6B2D5C"/>
                </a:solidFill>
                <a:latin typeface="Montserrat"/>
              </a:rPr>
              <a:t>1996–2010</a:t>
            </a:r>
            <a:endParaRPr lang="en-US"/>
          </a:p>
        </p:txBody>
      </p:sp>
      <p:sp>
        <p:nvSpPr>
          <p:cNvPr id="24" name="Rectangle">
            <a:extLst>
              <a:ext uri="{FF2B5EF4-FFF2-40B4-BE49-F238E27FC236}">
                <a16:creationId xmlns:a16="http://schemas.microsoft.com/office/drawing/2014/main" id="{A0C957D4-E4F1-4D51-EC0C-C161461E948E}"/>
              </a:ext>
            </a:extLst>
          </p:cNvPr>
          <p:cNvSpPr/>
          <p:nvPr/>
        </p:nvSpPr>
        <p:spPr>
          <a:xfrm>
            <a:off x="3946525" y="1717675"/>
            <a:ext cx="88265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Clearance costs</a:t>
            </a: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3946525" y="1873631"/>
            <a:ext cx="9683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reshape who can</a:t>
            </a:r>
            <a:endParaRPr lang="en-US"/>
          </a:p>
        </p:txBody>
      </p:sp>
      <p:sp>
        <p:nvSpPr>
          <p:cNvPr id="26" name="Rectangle">
            <a:extLst>
              <a:ext uri="{FF2B5EF4-FFF2-40B4-BE49-F238E27FC236}">
                <a16:creationId xmlns:a16="http://schemas.microsoft.com/office/drawing/2014/main" id="{A0C957D4-E4F1-4D51-EC0C-C161461E948E}"/>
              </a:ext>
            </a:extLst>
          </p:cNvPr>
          <p:cNvSpPr/>
          <p:nvPr/>
        </p:nvSpPr>
        <p:spPr>
          <a:xfrm>
            <a:off x="3946525" y="2029587"/>
            <a:ext cx="93980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sample and how</a:t>
            </a:r>
            <a:endParaRPr lang="en-US"/>
          </a:p>
        </p:txBody>
      </p:sp>
      <p:sp>
        <p:nvSpPr>
          <p:cNvPr id="27" name="Rectangle">
            <a:extLst>
              <a:ext uri="{FF2B5EF4-FFF2-40B4-BE49-F238E27FC236}">
                <a16:creationId xmlns:a16="http://schemas.microsoft.com/office/drawing/2014/main" id="{A0C957D4-E4F1-4D51-EC0C-C161461E948E}"/>
              </a:ext>
            </a:extLst>
          </p:cNvPr>
          <p:cNvSpPr/>
          <p:nvPr/>
        </p:nvSpPr>
        <p:spPr>
          <a:xfrm>
            <a:off x="3946525" y="2185543"/>
            <a:ext cx="9302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producers work.</a:t>
            </a:r>
            <a:endParaRPr lang="en-US"/>
          </a:p>
        </p:txBody>
      </p:sp>
      <p:sp>
        <p:nvSpPr>
          <p:cNvPr id="28" name="RoundedRectangle">
            <a:extLst>
              <a:ext uri="{FF2B5EF4-FFF2-40B4-BE49-F238E27FC236}">
                <a16:creationId xmlns:a16="http://schemas.microsoft.com/office/drawing/2014/main" id="{A0C957D4-E4F1-4D51-EC0C-C161461E948E}"/>
              </a:ext>
            </a:extLst>
          </p:cNvPr>
          <p:cNvSpPr/>
          <p:nvPr/>
        </p:nvSpPr>
        <p:spPr>
          <a:xfrm>
            <a:off x="5461000" y="1292225"/>
            <a:ext cx="1524243" cy="1695450"/>
          </a:xfrm>
          <a:prstGeom prst="roundRect">
            <a:avLst>
              <a:gd name="adj" fmla="val 6665"/>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Rectangle">
            <a:extLst>
              <a:ext uri="{FF2B5EF4-FFF2-40B4-BE49-F238E27FC236}">
                <a16:creationId xmlns:a16="http://schemas.microsoft.com/office/drawing/2014/main" id="{A0C957D4-E4F1-4D51-EC0C-C161461E948E}"/>
              </a:ext>
            </a:extLst>
          </p:cNvPr>
          <p:cNvSpPr/>
          <p:nvPr/>
        </p:nvSpPr>
        <p:spPr>
          <a:xfrm>
            <a:off x="5465762" y="1296987"/>
            <a:ext cx="1514718" cy="1685925"/>
          </a:xfrm>
          <a:prstGeom prst="roundRect">
            <a:avLst>
              <a:gd name="adj" fmla="val 639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a:extLst>
              <a:ext uri="{FF2B5EF4-FFF2-40B4-BE49-F238E27FC236}">
                <a16:creationId xmlns:a16="http://schemas.microsoft.com/office/drawing/2014/main" id="{A0C957D4-E4F1-4D51-EC0C-C161461E948E}"/>
              </a:ext>
            </a:extLst>
          </p:cNvPr>
          <p:cNvSpPr/>
          <p:nvPr/>
        </p:nvSpPr>
        <p:spPr>
          <a:xfrm>
            <a:off x="5597398" y="1454150"/>
            <a:ext cx="1376324"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60"/>
              </a:lnSpc>
            </a:pPr>
            <a:r>
              <a:rPr lang="en-US" sz="1050" b="1" i="0" dirty="0">
                <a:solidFill>
                  <a:srgbClr val="6B2D5C"/>
                </a:solidFill>
                <a:latin typeface="Montserrat"/>
              </a:rPr>
              <a:t>2011–2019</a:t>
            </a:r>
            <a:endParaRPr lang="en-US"/>
          </a:p>
        </p:txBody>
      </p:sp>
      <p:sp>
        <p:nvSpPr>
          <p:cNvPr id="31" name="Rectangle">
            <a:extLst>
              <a:ext uri="{FF2B5EF4-FFF2-40B4-BE49-F238E27FC236}">
                <a16:creationId xmlns:a16="http://schemas.microsoft.com/office/drawing/2014/main" id="{A0C957D4-E4F1-4D51-EC0C-C161461E948E}"/>
              </a:ext>
            </a:extLst>
          </p:cNvPr>
          <p:cNvSpPr/>
          <p:nvPr/>
        </p:nvSpPr>
        <p:spPr>
          <a:xfrm>
            <a:off x="5597398" y="1717675"/>
            <a:ext cx="103505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DAWs, loop packs,</a:t>
            </a:r>
            <a:endParaRPr lang="en-US"/>
          </a:p>
        </p:txBody>
      </p:sp>
      <p:sp>
        <p:nvSpPr>
          <p:cNvPr id="32" name="Rectangle">
            <a:extLst>
              <a:ext uri="{FF2B5EF4-FFF2-40B4-BE49-F238E27FC236}">
                <a16:creationId xmlns:a16="http://schemas.microsoft.com/office/drawing/2014/main" id="{A0C957D4-E4F1-4D51-EC0C-C161461E948E}"/>
              </a:ext>
            </a:extLst>
          </p:cNvPr>
          <p:cNvSpPr/>
          <p:nvPr/>
        </p:nvSpPr>
        <p:spPr>
          <a:xfrm>
            <a:off x="5597398" y="1873631"/>
            <a:ext cx="11588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and early stem tools</a:t>
            </a:r>
            <a:endParaRPr lang="en-US"/>
          </a:p>
        </p:txBody>
      </p:sp>
      <p:sp>
        <p:nvSpPr>
          <p:cNvPr id="33" name="Rectangle">
            <a:extLst>
              <a:ext uri="{FF2B5EF4-FFF2-40B4-BE49-F238E27FC236}">
                <a16:creationId xmlns:a16="http://schemas.microsoft.com/office/drawing/2014/main" id="{A0C957D4-E4F1-4D51-EC0C-C161461E948E}"/>
              </a:ext>
            </a:extLst>
          </p:cNvPr>
          <p:cNvSpPr/>
          <p:nvPr/>
        </p:nvSpPr>
        <p:spPr>
          <a:xfrm>
            <a:off x="5597398" y="2029587"/>
            <a:ext cx="101600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speed reuse while</a:t>
            </a:r>
            <a:endParaRPr lang="en-US"/>
          </a:p>
        </p:txBody>
      </p:sp>
      <p:sp>
        <p:nvSpPr>
          <p:cNvPr id="34" name="Rectangle">
            <a:extLst>
              <a:ext uri="{FF2B5EF4-FFF2-40B4-BE49-F238E27FC236}">
                <a16:creationId xmlns:a16="http://schemas.microsoft.com/office/drawing/2014/main" id="{A0C957D4-E4F1-4D51-EC0C-C161461E948E}"/>
              </a:ext>
            </a:extLst>
          </p:cNvPr>
          <p:cNvSpPr/>
          <p:nvPr/>
        </p:nvSpPr>
        <p:spPr>
          <a:xfrm>
            <a:off x="5597398" y="2185543"/>
            <a:ext cx="10445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preserving human</a:t>
            </a:r>
            <a:endParaRPr lang="en-US"/>
          </a:p>
        </p:txBody>
      </p:sp>
      <p:sp>
        <p:nvSpPr>
          <p:cNvPr id="35" name="Rectangle">
            <a:extLst>
              <a:ext uri="{FF2B5EF4-FFF2-40B4-BE49-F238E27FC236}">
                <a16:creationId xmlns:a16="http://schemas.microsoft.com/office/drawing/2014/main" id="{A0C957D4-E4F1-4D51-EC0C-C161461E948E}"/>
              </a:ext>
            </a:extLst>
          </p:cNvPr>
          <p:cNvSpPr/>
          <p:nvPr/>
        </p:nvSpPr>
        <p:spPr>
          <a:xfrm>
            <a:off x="5597398" y="2341499"/>
            <a:ext cx="511175"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curation.</a:t>
            </a:r>
            <a:endParaRPr lang="en-US"/>
          </a:p>
        </p:txBody>
      </p:sp>
      <p:sp>
        <p:nvSpPr>
          <p:cNvPr id="36" name="RoundedRectangle">
            <a:extLst>
              <a:ext uri="{FF2B5EF4-FFF2-40B4-BE49-F238E27FC236}">
                <a16:creationId xmlns:a16="http://schemas.microsoft.com/office/drawing/2014/main" id="{A0C957D4-E4F1-4D51-EC0C-C161461E948E}"/>
              </a:ext>
            </a:extLst>
          </p:cNvPr>
          <p:cNvSpPr/>
          <p:nvPr/>
        </p:nvSpPr>
        <p:spPr>
          <a:xfrm>
            <a:off x="7112000" y="1292225"/>
            <a:ext cx="1524100" cy="1695450"/>
          </a:xfrm>
          <a:prstGeom prst="roundRect">
            <a:avLst>
              <a:gd name="adj" fmla="val 6666"/>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Rectangle">
            <a:extLst>
              <a:ext uri="{FF2B5EF4-FFF2-40B4-BE49-F238E27FC236}">
                <a16:creationId xmlns:a16="http://schemas.microsoft.com/office/drawing/2014/main" id="{A0C957D4-E4F1-4D51-EC0C-C161461E948E}"/>
              </a:ext>
            </a:extLst>
          </p:cNvPr>
          <p:cNvSpPr/>
          <p:nvPr/>
        </p:nvSpPr>
        <p:spPr>
          <a:xfrm>
            <a:off x="7116762" y="1296987"/>
            <a:ext cx="1514575" cy="1685925"/>
          </a:xfrm>
          <a:prstGeom prst="roundRect">
            <a:avLst>
              <a:gd name="adj" fmla="val 639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a:extLst>
              <a:ext uri="{FF2B5EF4-FFF2-40B4-BE49-F238E27FC236}">
                <a16:creationId xmlns:a16="http://schemas.microsoft.com/office/drawing/2014/main" id="{A0C957D4-E4F1-4D51-EC0C-C161461E948E}"/>
              </a:ext>
            </a:extLst>
          </p:cNvPr>
          <p:cNvSpPr/>
          <p:nvPr/>
        </p:nvSpPr>
        <p:spPr>
          <a:xfrm>
            <a:off x="7248525" y="1454150"/>
            <a:ext cx="1376184"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60"/>
              </a:lnSpc>
            </a:pPr>
            <a:r>
              <a:rPr lang="en-US" sz="1050" b="1" i="0" dirty="0">
                <a:solidFill>
                  <a:srgbClr val="6B2D5C"/>
                </a:solidFill>
                <a:latin typeface="Montserrat"/>
              </a:rPr>
              <a:t>2020–2025</a:t>
            </a:r>
            <a:endParaRPr lang="en-US"/>
          </a:p>
        </p:txBody>
      </p:sp>
      <p:sp>
        <p:nvSpPr>
          <p:cNvPr id="39" name="Rectangle">
            <a:extLst>
              <a:ext uri="{FF2B5EF4-FFF2-40B4-BE49-F238E27FC236}">
                <a16:creationId xmlns:a16="http://schemas.microsoft.com/office/drawing/2014/main" id="{A0C957D4-E4F1-4D51-EC0C-C161461E948E}"/>
              </a:ext>
            </a:extLst>
          </p:cNvPr>
          <p:cNvSpPr/>
          <p:nvPr/>
        </p:nvSpPr>
        <p:spPr>
          <a:xfrm>
            <a:off x="7248525" y="1717675"/>
            <a:ext cx="105410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AI beat generation</a:t>
            </a:r>
            <a:endParaRPr lang="en-US"/>
          </a:p>
        </p:txBody>
      </p:sp>
      <p:sp>
        <p:nvSpPr>
          <p:cNvPr id="40" name="Rectangle">
            <a:extLst>
              <a:ext uri="{FF2B5EF4-FFF2-40B4-BE49-F238E27FC236}">
                <a16:creationId xmlns:a16="http://schemas.microsoft.com/office/drawing/2014/main" id="{A0C957D4-E4F1-4D51-EC0C-C161461E948E}"/>
              </a:ext>
            </a:extLst>
          </p:cNvPr>
          <p:cNvSpPr/>
          <p:nvPr/>
        </p:nvSpPr>
        <p:spPr>
          <a:xfrm>
            <a:off x="7248525" y="1873631"/>
            <a:ext cx="120650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scales borrowing and</a:t>
            </a:r>
            <a:endParaRPr lang="en-US"/>
          </a:p>
        </p:txBody>
      </p:sp>
      <p:sp>
        <p:nvSpPr>
          <p:cNvPr id="41" name="Rectangle">
            <a:extLst>
              <a:ext uri="{FF2B5EF4-FFF2-40B4-BE49-F238E27FC236}">
                <a16:creationId xmlns:a16="http://schemas.microsoft.com/office/drawing/2014/main" id="{A0C957D4-E4F1-4D51-EC0C-C161461E948E}"/>
              </a:ext>
            </a:extLst>
          </p:cNvPr>
          <p:cNvSpPr/>
          <p:nvPr/>
        </p:nvSpPr>
        <p:spPr>
          <a:xfrm>
            <a:off x="7248525" y="2029587"/>
            <a:ext cx="88265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weakens visible</a:t>
            </a:r>
            <a:endParaRPr lang="en-US"/>
          </a:p>
        </p:txBody>
      </p:sp>
      <p:sp>
        <p:nvSpPr>
          <p:cNvPr id="42" name="Rectangle">
            <a:extLst>
              <a:ext uri="{FF2B5EF4-FFF2-40B4-BE49-F238E27FC236}">
                <a16:creationId xmlns:a16="http://schemas.microsoft.com/office/drawing/2014/main" id="{A0C957D4-E4F1-4D51-EC0C-C161461E948E}"/>
              </a:ext>
            </a:extLst>
          </p:cNvPr>
          <p:cNvSpPr/>
          <p:nvPr/>
        </p:nvSpPr>
        <p:spPr>
          <a:xfrm>
            <a:off x="7248525" y="2185543"/>
            <a:ext cx="654050"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228"/>
              </a:lnSpc>
            </a:pPr>
            <a:r>
              <a:rPr lang="en-US" sz="960" b="0" i="0" dirty="0">
                <a:solidFill>
                  <a:srgbClr val="1F1F1F"/>
                </a:solidFill>
                <a:latin typeface="Open Sans"/>
              </a:rPr>
              <a:t>attribution.</a:t>
            </a:r>
            <a:endParaRPr lang="en-US"/>
          </a:p>
        </p:txBody>
      </p:sp>
      <p:sp>
        <p:nvSpPr>
          <p:cNvPr id="43" name="RoundedRectangle">
            <a:extLst>
              <a:ext uri="{FF2B5EF4-FFF2-40B4-BE49-F238E27FC236}">
                <a16:creationId xmlns:a16="http://schemas.microsoft.com/office/drawing/2014/main" id="{A0C957D4-E4F1-4D51-EC0C-C161461E948E}"/>
              </a:ext>
            </a:extLst>
          </p:cNvPr>
          <p:cNvSpPr/>
          <p:nvPr/>
        </p:nvSpPr>
        <p:spPr>
          <a:xfrm>
            <a:off x="508000" y="3216275"/>
            <a:ext cx="8128101" cy="732829"/>
          </a:xfrm>
          <a:prstGeom prst="roundRect">
            <a:avLst>
              <a:gd name="adj" fmla="val 13864"/>
            </a:avLst>
          </a:prstGeom>
          <a:solidFill>
            <a:srgbClr val="1F1F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a:extLst>
              <a:ext uri="{FF2B5EF4-FFF2-40B4-BE49-F238E27FC236}">
                <a16:creationId xmlns:a16="http://schemas.microsoft.com/office/drawing/2014/main" id="{A0C957D4-E4F1-4D51-EC0C-C161461E948E}"/>
              </a:ext>
            </a:extLst>
          </p:cNvPr>
          <p:cNvSpPr/>
          <p:nvPr/>
        </p:nvSpPr>
        <p:spPr>
          <a:xfrm>
            <a:off x="736600" y="3406775"/>
            <a:ext cx="1257300" cy="2000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C9A227"/>
                </a:solidFill>
                <a:latin typeface="Montserrat"/>
              </a:rPr>
              <a:t>Core shift</a:t>
            </a:r>
            <a:endParaRPr lang="en-US"/>
          </a:p>
        </p:txBody>
      </p:sp>
      <p:sp>
        <p:nvSpPr>
          <p:cNvPr id="45" name="Rectangle">
            <a:extLst>
              <a:ext uri="{FF2B5EF4-FFF2-40B4-BE49-F238E27FC236}">
                <a16:creationId xmlns:a16="http://schemas.microsoft.com/office/drawing/2014/main" id="{A0C957D4-E4F1-4D51-EC0C-C161461E948E}"/>
              </a:ext>
            </a:extLst>
          </p:cNvPr>
          <p:cNvSpPr/>
          <p:nvPr/>
        </p:nvSpPr>
        <p:spPr>
          <a:xfrm>
            <a:off x="2057273" y="3397250"/>
            <a:ext cx="61785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86"/>
              </a:lnSpc>
            </a:pPr>
            <a:r>
              <a:rPr lang="en-US" sz="1050" b="0" i="0" dirty="0">
                <a:solidFill>
                  <a:srgbClr val="F6F2EA"/>
                </a:solidFill>
                <a:latin typeface="Open Sans"/>
              </a:rPr>
              <a:t>Traditional sampling required a DJ to locate, hear, select, and transform a source. Prompt-based</a:t>
            </a:r>
            <a:endParaRPr lang="en-US"/>
          </a:p>
        </p:txBody>
      </p:sp>
      <p:sp>
        <p:nvSpPr>
          <p:cNvPr id="46" name="Rectangle">
            <a:extLst>
              <a:ext uri="{FF2B5EF4-FFF2-40B4-BE49-F238E27FC236}">
                <a16:creationId xmlns:a16="http://schemas.microsoft.com/office/drawing/2014/main" id="{A0C957D4-E4F1-4D51-EC0C-C161461E948E}"/>
              </a:ext>
            </a:extLst>
          </p:cNvPr>
          <p:cNvSpPr/>
          <p:nvPr/>
        </p:nvSpPr>
        <p:spPr>
          <a:xfrm>
            <a:off x="2057273" y="3573272"/>
            <a:ext cx="58928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86"/>
              </a:lnSpc>
            </a:pPr>
            <a:r>
              <a:rPr lang="en-US" sz="1050" b="0" i="0" dirty="0">
                <a:solidFill>
                  <a:srgbClr val="F6F2EA"/>
                </a:solidFill>
                <a:latin typeface="Open Sans"/>
              </a:rPr>
              <a:t>generation can hide that craft knowledge inside the model, creating risks of source erasure.</a:t>
            </a:r>
            <a:endParaRPr lang="en-US"/>
          </a:p>
        </p:txBody>
      </p:sp>
    </p:spTree>
    <p:extLst>
      <p:ext uri="{BB962C8B-B14F-4D97-AF65-F5344CB8AC3E}">
        <p14:creationId xmlns:p14="http://schemas.microsoft.com/office/powerpoint/2010/main" val="945381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0C957D4-E4F1-4D51-EC0C-C161461E948E}"/>
              </a:ext>
            </a:extLst>
          </p:cNvPr>
          <p:cNvSpPr/>
          <p:nvPr/>
        </p:nvSpPr>
        <p:spPr>
          <a:xfrm>
            <a:off x="0" y="0"/>
            <a:ext cx="10414000" cy="6667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660400" y="1703324"/>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660400" y="1982724"/>
            <a:ext cx="8605659"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40"/>
              </a:lnSpc>
            </a:pPr>
            <a:r>
              <a:rPr lang="en-US" sz="1200" b="1" i="0" spc="144" dirty="0">
                <a:solidFill>
                  <a:srgbClr val="6B2D5C"/>
                </a:solidFill>
                <a:latin typeface="Montserrat"/>
              </a:rPr>
              <a:t>03 · PRESENT CAPABILITIES</a:t>
            </a:r>
            <a:endParaRPr lang="en-US"/>
          </a:p>
        </p:txBody>
      </p:sp>
      <p:sp>
        <p:nvSpPr>
          <p:cNvPr id="5" name="Rectangle">
            <a:extLst>
              <a:ext uri="{FF2B5EF4-FFF2-40B4-BE49-F238E27FC236}">
                <a16:creationId xmlns:a16="http://schemas.microsoft.com/office/drawing/2014/main" id="{A0C957D4-E4F1-4D51-EC0C-C161461E948E}"/>
              </a:ext>
            </a:extLst>
          </p:cNvPr>
          <p:cNvSpPr/>
          <p:nvPr/>
        </p:nvSpPr>
        <p:spPr>
          <a:xfrm>
            <a:off x="660400" y="2290572"/>
            <a:ext cx="7823060" cy="4921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5908" rIns="0" bIns="0" rtlCol="0" anchor="t"/>
          <a:lstStyle/>
          <a:p>
            <a:pPr algn="l">
              <a:lnSpc>
                <a:spcPts val="3672"/>
              </a:lnSpc>
            </a:pPr>
            <a:r>
              <a:rPr lang="en-US" sz="3400" b="1" i="0" dirty="0">
                <a:solidFill>
                  <a:srgbClr val="1F1F1F"/>
                </a:solidFill>
                <a:latin typeface="Montserrat"/>
              </a:rPr>
              <a:t>AI in Music Today</a:t>
            </a: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660400" y="2938653"/>
            <a:ext cx="6826250" cy="2594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891"/>
              </a:lnSpc>
            </a:pPr>
            <a:r>
              <a:rPr lang="en-US" sz="1400" b="0" i="0" dirty="0">
                <a:solidFill>
                  <a:srgbClr val="5B5B5B"/>
                </a:solidFill>
                <a:latin typeface="Open Sans"/>
              </a:rPr>
              <a:t>Modern systems have moved beyond assistance into full generative production:</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660400" y="3178810"/>
            <a:ext cx="4111625" cy="2594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891"/>
              </a:lnSpc>
            </a:pPr>
            <a:r>
              <a:rPr lang="en-US" sz="1400" b="0" i="0" dirty="0">
                <a:solidFill>
                  <a:srgbClr val="5B5B5B"/>
                </a:solidFill>
                <a:latin typeface="Open Sans"/>
              </a:rPr>
              <a:t>beats, lyrics, style transfer, and synthetic vocals.</a:t>
            </a:r>
            <a:endParaRPr lang="en-US"/>
          </a:p>
        </p:txBody>
      </p:sp>
      <p:pic>
        <p:nvPicPr>
          <p:cNvPr id="8" name="Picture 8"/>
          <p:cNvPicPr/>
          <p:nvPr/>
        </p:nvPicPr>
        <p:blipFill>
          <a:blip r:embed="rId3">
            <a:alphaModFix amt="75000"/>
          </a:blip>
          <a:stretch/>
        </p:blipFill>
        <p:spPr>
          <a:xfrm>
            <a:off x="6477000" y="2730500"/>
            <a:ext cx="2667000" cy="2413000"/>
          </a:xfrm>
          <a:prstGeom prst="roundRect">
            <a:avLst>
              <a:gd name="adj" fmla="val 50000"/>
            </a:avLst>
          </a:prstGeom>
        </p:spPr>
      </p:pic>
      <p:pic>
        <p:nvPicPr>
          <p:cNvPr id="9" name="Picture 9"/>
          <p:cNvPicPr/>
          <p:nvPr/>
        </p:nvPicPr>
        <p:blipFill>
          <a:blip r:embed="rId4">
            <a:alphaModFix amt="75000"/>
          </a:blip>
          <a:stretch/>
        </p:blipFill>
        <p:spPr>
          <a:xfrm>
            <a:off x="6477000" y="2730500"/>
            <a:ext cx="2667000" cy="2413000"/>
          </a:xfrm>
          <a:prstGeom prst="roundRect">
            <a:avLst>
              <a:gd name="adj" fmla="val 50000"/>
            </a:avLst>
          </a:prstGeom>
        </p:spPr>
      </p:pic>
    </p:spTree>
    <p:extLst>
      <p:ext uri="{BB962C8B-B14F-4D97-AF65-F5344CB8AC3E}">
        <p14:creationId xmlns:p14="http://schemas.microsoft.com/office/powerpoint/2010/main" val="945381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6" name="Rectangle">
            <a:extLst>
              <a:ext uri="{FF2B5EF4-FFF2-40B4-BE49-F238E27FC236}">
                <a16:creationId xmlns:a16="http://schemas.microsoft.com/office/drawing/2014/main" id="{A0C957D4-E4F1-4D51-EC0C-C161461E948E}"/>
              </a:ext>
            </a:extLst>
          </p:cNvPr>
          <p:cNvSpPr/>
          <p:nvPr/>
        </p:nvSpPr>
        <p:spPr>
          <a:xfrm>
            <a:off x="0" y="0"/>
            <a:ext cx="10477500" cy="6730873"/>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508000" y="4572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508000" y="660400"/>
            <a:ext cx="8940939" cy="3295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6764" rIns="0" bIns="0" rtlCol="0" anchor="t"/>
          <a:lstStyle/>
          <a:p>
            <a:pPr algn="l">
              <a:lnSpc>
                <a:spcPts val="2464"/>
              </a:lnSpc>
            </a:pPr>
            <a:r>
              <a:rPr lang="en-US" sz="2200" b="1" i="0" dirty="0">
                <a:solidFill>
                  <a:srgbClr val="1F1F1F"/>
                </a:solidFill>
                <a:latin typeface="Montserrat"/>
              </a:rPr>
              <a:t>The State of AI in Music (2023–2025)</a:t>
            </a:r>
            <a:endParaRPr lang="en-US"/>
          </a:p>
        </p:txBody>
      </p:sp>
      <p:pic>
        <p:nvPicPr>
          <p:cNvPr id="5" name="Picture 5"/>
          <p:cNvPicPr/>
          <p:nvPr/>
        </p:nvPicPr>
        <p:blipFill>
          <a:blip r:embed="rId3">
            <a:alphaModFix amt="75000"/>
          </a:blip>
          <a:stretch/>
        </p:blipFill>
        <p:spPr>
          <a:xfrm>
            <a:off x="6667500" y="2920873"/>
            <a:ext cx="2476500" cy="2222627"/>
          </a:xfrm>
          <a:prstGeom prst="roundRect">
            <a:avLst>
              <a:gd name="adj" fmla="val 50000"/>
            </a:avLst>
          </a:prstGeom>
        </p:spPr>
      </p:pic>
      <p:pic>
        <p:nvPicPr>
          <p:cNvPr id="6" name="Picture 6"/>
          <p:cNvPicPr/>
          <p:nvPr/>
        </p:nvPicPr>
        <p:blipFill>
          <a:blip r:embed="rId4">
            <a:alphaModFix amt="75000"/>
          </a:blip>
          <a:stretch/>
        </p:blipFill>
        <p:spPr>
          <a:xfrm>
            <a:off x="6667500" y="2920873"/>
            <a:ext cx="2476500" cy="2222627"/>
          </a:xfrm>
          <a:prstGeom prst="roundRect">
            <a:avLst>
              <a:gd name="adj" fmla="val 50000"/>
            </a:avLst>
          </a:prstGeom>
        </p:spPr>
      </p:pic>
      <p:sp>
        <p:nvSpPr>
          <p:cNvPr id="7" name="RoundedRectangle">
            <a:extLst>
              <a:ext uri="{FF2B5EF4-FFF2-40B4-BE49-F238E27FC236}">
                <a16:creationId xmlns:a16="http://schemas.microsoft.com/office/drawing/2014/main" id="{A0C957D4-E4F1-4D51-EC0C-C161461E948E}"/>
              </a:ext>
            </a:extLst>
          </p:cNvPr>
          <p:cNvSpPr/>
          <p:nvPr/>
        </p:nvSpPr>
        <p:spPr>
          <a:xfrm>
            <a:off x="508000" y="1278001"/>
            <a:ext cx="2590800" cy="2012950"/>
          </a:xfrm>
          <a:prstGeom prst="roundRect">
            <a:avLst>
              <a:gd name="adj" fmla="val 5047"/>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512762" y="1282763"/>
            <a:ext cx="2581275" cy="2003425"/>
          </a:xfrm>
          <a:prstGeom prst="roundRect">
            <a:avLst>
              <a:gd name="adj" fmla="val 483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556577" y="1541399"/>
            <a:ext cx="2493645" cy="5501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67564" rIns="0" bIns="0" rtlCol="0" anchor="t"/>
          <a:lstStyle/>
          <a:p>
            <a:pPr algn="ctr">
              <a:lnSpc>
                <a:spcPts val="3800"/>
              </a:lnSpc>
            </a:pPr>
            <a:r>
              <a:rPr lang="en-US" sz="3800" b="1" i="0" dirty="0">
                <a:solidFill>
                  <a:srgbClr val="6B2D5C"/>
                </a:solidFill>
                <a:latin typeface="Montserrat"/>
              </a:rPr>
              <a:t>53%</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822325" y="2116074"/>
            <a:ext cx="19685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lnSpc>
                <a:spcPts val="1364"/>
              </a:lnSpc>
            </a:pPr>
            <a:r>
              <a:rPr lang="en-US" sz="1050" b="0" i="0" dirty="0">
                <a:solidFill>
                  <a:srgbClr val="1F1F1F"/>
                </a:solidFill>
                <a:latin typeface="Open Sans"/>
              </a:rPr>
              <a:t>of hip-hop producers reported</a:t>
            </a: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817499" y="2289302"/>
            <a:ext cx="19780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lnSpc>
                <a:spcPts val="1364"/>
              </a:lnSpc>
            </a:pPr>
            <a:r>
              <a:rPr lang="en-US" sz="1050" b="0" i="0" dirty="0">
                <a:solidFill>
                  <a:srgbClr val="1F1F1F"/>
                </a:solidFill>
                <a:latin typeface="Open Sans"/>
              </a:rPr>
              <a:t>using AI tools in a 2024 survey.</a:t>
            </a:r>
            <a:endParaRPr lang="en-US"/>
          </a:p>
        </p:txBody>
      </p:sp>
      <p:sp>
        <p:nvSpPr>
          <p:cNvPr id="12" name="RoundedRectangle">
            <a:extLst>
              <a:ext uri="{FF2B5EF4-FFF2-40B4-BE49-F238E27FC236}">
                <a16:creationId xmlns:a16="http://schemas.microsoft.com/office/drawing/2014/main" id="{A0C957D4-E4F1-4D51-EC0C-C161461E948E}"/>
              </a:ext>
            </a:extLst>
          </p:cNvPr>
          <p:cNvSpPr/>
          <p:nvPr/>
        </p:nvSpPr>
        <p:spPr>
          <a:xfrm>
            <a:off x="3276473" y="1278001"/>
            <a:ext cx="2590952" cy="2012950"/>
          </a:xfrm>
          <a:prstGeom prst="roundRect">
            <a:avLst>
              <a:gd name="adj" fmla="val 5047"/>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Rectangle">
            <a:extLst>
              <a:ext uri="{FF2B5EF4-FFF2-40B4-BE49-F238E27FC236}">
                <a16:creationId xmlns:a16="http://schemas.microsoft.com/office/drawing/2014/main" id="{A0C957D4-E4F1-4D51-EC0C-C161461E948E}"/>
              </a:ext>
            </a:extLst>
          </p:cNvPr>
          <p:cNvSpPr/>
          <p:nvPr/>
        </p:nvSpPr>
        <p:spPr>
          <a:xfrm>
            <a:off x="3281235" y="1282763"/>
            <a:ext cx="2581427" cy="2003425"/>
          </a:xfrm>
          <a:prstGeom prst="roundRect">
            <a:avLst>
              <a:gd name="adj" fmla="val 483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3325044" y="1541399"/>
            <a:ext cx="2493784" cy="5501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67564" rIns="0" bIns="0" rtlCol="0" anchor="t"/>
          <a:lstStyle/>
          <a:p>
            <a:pPr algn="ctr">
              <a:lnSpc>
                <a:spcPts val="3800"/>
              </a:lnSpc>
            </a:pPr>
            <a:r>
              <a:rPr lang="en-US" sz="3800" b="1" i="0" dirty="0">
                <a:solidFill>
                  <a:srgbClr val="6B2D5C"/>
                </a:solidFill>
                <a:latin typeface="Montserrat"/>
              </a:rPr>
              <a:t>60M+</a:t>
            </a:r>
            <a:endParaRPr lang="en-US"/>
          </a:p>
        </p:txBody>
      </p:sp>
      <p:sp>
        <p:nvSpPr>
          <p:cNvPr id="15" name="Rectangle">
            <a:extLst>
              <a:ext uri="{FF2B5EF4-FFF2-40B4-BE49-F238E27FC236}">
                <a16:creationId xmlns:a16="http://schemas.microsoft.com/office/drawing/2014/main" id="{A0C957D4-E4F1-4D51-EC0C-C161461E948E}"/>
              </a:ext>
            </a:extLst>
          </p:cNvPr>
          <p:cNvSpPr/>
          <p:nvPr/>
        </p:nvSpPr>
        <p:spPr>
          <a:xfrm>
            <a:off x="3443097" y="2116074"/>
            <a:ext cx="22637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lnSpc>
                <a:spcPts val="1364"/>
              </a:lnSpc>
            </a:pPr>
            <a:r>
              <a:rPr lang="en-US" sz="1050" b="0" i="0" dirty="0">
                <a:solidFill>
                  <a:srgbClr val="1F1F1F"/>
                </a:solidFill>
                <a:latin typeface="Open Sans"/>
              </a:rPr>
              <a:t>people used AI music tools in 2024,</a:t>
            </a:r>
            <a:endParaRPr lang="en-US"/>
          </a:p>
        </p:txBody>
      </p:sp>
      <p:sp>
        <p:nvSpPr>
          <p:cNvPr id="16" name="Rectangle">
            <a:extLst>
              <a:ext uri="{FF2B5EF4-FFF2-40B4-BE49-F238E27FC236}">
                <a16:creationId xmlns:a16="http://schemas.microsoft.com/office/drawing/2014/main" id="{A0C957D4-E4F1-4D51-EC0C-C161461E948E}"/>
              </a:ext>
            </a:extLst>
          </p:cNvPr>
          <p:cNvSpPr/>
          <p:nvPr/>
        </p:nvSpPr>
        <p:spPr>
          <a:xfrm>
            <a:off x="3628898" y="2289302"/>
            <a:ext cx="18923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lnSpc>
                <a:spcPts val="1364"/>
              </a:lnSpc>
            </a:pPr>
            <a:r>
              <a:rPr lang="en-US" sz="1050" b="0" i="0" dirty="0">
                <a:solidFill>
                  <a:srgbClr val="1F1F1F"/>
                </a:solidFill>
                <a:latin typeface="Open Sans"/>
              </a:rPr>
              <a:t>signaling mainstream access.</a:t>
            </a:r>
            <a:endParaRPr lang="en-US"/>
          </a:p>
        </p:txBody>
      </p:sp>
      <p:sp>
        <p:nvSpPr>
          <p:cNvPr id="17" name="RoundedRectangle">
            <a:extLst>
              <a:ext uri="{FF2B5EF4-FFF2-40B4-BE49-F238E27FC236}">
                <a16:creationId xmlns:a16="http://schemas.microsoft.com/office/drawing/2014/main" id="{A0C957D4-E4F1-4D51-EC0C-C161461E948E}"/>
              </a:ext>
            </a:extLst>
          </p:cNvPr>
          <p:cNvSpPr/>
          <p:nvPr/>
        </p:nvSpPr>
        <p:spPr>
          <a:xfrm>
            <a:off x="6045073" y="1278001"/>
            <a:ext cx="2590800" cy="2012950"/>
          </a:xfrm>
          <a:prstGeom prst="roundRect">
            <a:avLst>
              <a:gd name="adj" fmla="val 5047"/>
            </a:avLst>
          </a:prstGeom>
          <a:solidFill>
            <a:srgbClr val="FFFFFF">
              <a:alpha val="45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Rectangle">
            <a:extLst>
              <a:ext uri="{FF2B5EF4-FFF2-40B4-BE49-F238E27FC236}">
                <a16:creationId xmlns:a16="http://schemas.microsoft.com/office/drawing/2014/main" id="{A0C957D4-E4F1-4D51-EC0C-C161461E948E}"/>
              </a:ext>
            </a:extLst>
          </p:cNvPr>
          <p:cNvSpPr/>
          <p:nvPr/>
        </p:nvSpPr>
        <p:spPr>
          <a:xfrm>
            <a:off x="6049835" y="1282763"/>
            <a:ext cx="2581275" cy="2003425"/>
          </a:xfrm>
          <a:prstGeom prst="roundRect">
            <a:avLst>
              <a:gd name="adj" fmla="val 4833"/>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6093650" y="1541399"/>
            <a:ext cx="2493645" cy="5501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67564" rIns="0" bIns="0" rtlCol="0" anchor="t"/>
          <a:lstStyle/>
          <a:p>
            <a:pPr algn="ctr">
              <a:lnSpc>
                <a:spcPts val="3800"/>
              </a:lnSpc>
            </a:pPr>
            <a:r>
              <a:rPr lang="en-US" sz="3800" b="1" i="0" dirty="0">
                <a:solidFill>
                  <a:srgbClr val="6B2D5C"/>
                </a:solidFill>
                <a:latin typeface="Montserrat"/>
              </a:rPr>
              <a:t>25%</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6364224" y="2116074"/>
            <a:ext cx="19589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lnSpc>
                <a:spcPts val="1364"/>
              </a:lnSpc>
            </a:pPr>
            <a:r>
              <a:rPr lang="en-US" sz="1050" b="0" i="0" dirty="0">
                <a:solidFill>
                  <a:srgbClr val="1F1F1F"/>
                </a:solidFill>
                <a:latin typeface="Open Sans"/>
              </a:rPr>
              <a:t>of recorded songs could be AI-</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6421374" y="2289302"/>
            <a:ext cx="18446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lnSpc>
                <a:spcPts val="1364"/>
              </a:lnSpc>
            </a:pPr>
            <a:r>
              <a:rPr lang="en-US" sz="1050" b="0" i="0" dirty="0">
                <a:solidFill>
                  <a:srgbClr val="1F1F1F"/>
                </a:solidFill>
                <a:latin typeface="Open Sans"/>
              </a:rPr>
              <a:t>generated by 2030 in market</a:t>
            </a:r>
            <a:endParaRPr lang="en-US"/>
          </a:p>
        </p:txBody>
      </p:sp>
      <p:sp>
        <p:nvSpPr>
          <p:cNvPr id="22" name="Rectangle">
            <a:extLst>
              <a:ext uri="{FF2B5EF4-FFF2-40B4-BE49-F238E27FC236}">
                <a16:creationId xmlns:a16="http://schemas.microsoft.com/office/drawing/2014/main" id="{A0C957D4-E4F1-4D51-EC0C-C161461E948E}"/>
              </a:ext>
            </a:extLst>
          </p:cNvPr>
          <p:cNvSpPr/>
          <p:nvPr/>
        </p:nvSpPr>
        <p:spPr>
          <a:xfrm>
            <a:off x="7030974" y="2462530"/>
            <a:ext cx="6254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lnSpc>
                <a:spcPts val="1364"/>
              </a:lnSpc>
            </a:pPr>
            <a:r>
              <a:rPr lang="en-US" sz="1050" b="0" i="0" dirty="0">
                <a:solidFill>
                  <a:srgbClr val="1F1F1F"/>
                </a:solidFill>
                <a:latin typeface="Open Sans"/>
              </a:rPr>
              <a:t>forecasts.</a:t>
            </a:r>
            <a:endParaRPr lang="en-US"/>
          </a:p>
        </p:txBody>
      </p:sp>
      <p:sp>
        <p:nvSpPr>
          <p:cNvPr id="23" name="Rectangle">
            <a:extLst>
              <a:ext uri="{FF2B5EF4-FFF2-40B4-BE49-F238E27FC236}">
                <a16:creationId xmlns:a16="http://schemas.microsoft.com/office/drawing/2014/main" id="{A0C957D4-E4F1-4D51-EC0C-C161461E948E}"/>
              </a:ext>
            </a:extLst>
          </p:cNvPr>
          <p:cNvSpPr/>
          <p:nvPr/>
        </p:nvSpPr>
        <p:spPr>
          <a:xfrm>
            <a:off x="508000" y="3484372"/>
            <a:ext cx="7816850"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85"/>
              </a:lnSpc>
            </a:pPr>
            <a:r>
              <a:rPr lang="en-US" sz="1100" b="0" i="0" dirty="0">
                <a:solidFill>
                  <a:srgbClr val="5B5B5B"/>
                </a:solidFill>
                <a:latin typeface="Open Sans"/>
              </a:rPr>
              <a:t>Tools such as Suno, Udio, MusicGen, and MusicLM now support melody generation, beat production, lyric writing, style</a:t>
            </a:r>
            <a:endParaRPr lang="en-US"/>
          </a:p>
        </p:txBody>
      </p:sp>
      <p:sp>
        <p:nvSpPr>
          <p:cNvPr id="24" name="Rectangle">
            <a:extLst>
              <a:ext uri="{FF2B5EF4-FFF2-40B4-BE49-F238E27FC236}">
                <a16:creationId xmlns:a16="http://schemas.microsoft.com/office/drawing/2014/main" id="{A0C957D4-E4F1-4D51-EC0C-C161461E948E}"/>
              </a:ext>
            </a:extLst>
          </p:cNvPr>
          <p:cNvSpPr/>
          <p:nvPr/>
        </p:nvSpPr>
        <p:spPr>
          <a:xfrm>
            <a:off x="508000" y="3672967"/>
            <a:ext cx="1778000"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85"/>
              </a:lnSpc>
            </a:pPr>
            <a:r>
              <a:rPr lang="en-US" sz="1100" b="0" i="0" dirty="0">
                <a:solidFill>
                  <a:srgbClr val="5B5B5B"/>
                </a:solidFill>
                <a:latin typeface="Open Sans"/>
              </a:rPr>
              <a:t>transfer, and voice cloning.</a:t>
            </a: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508000" y="4010660"/>
            <a:ext cx="8940939" cy="133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960"/>
              </a:lnSpc>
            </a:pPr>
            <a:r>
              <a:rPr lang="en-US" sz="800" b="0" i="0" dirty="0">
                <a:solidFill>
                  <a:srgbClr val="5B5B5B"/>
                </a:solidFill>
                <a:latin typeface="Open Sans"/>
              </a:rPr>
              <a:t>Sources: Tracklib Survey (2024); Goldman Sachs (2024); Srivastava et al. (2026).</a:t>
            </a:r>
            <a:endParaRPr lang="en-US"/>
          </a:p>
        </p:txBody>
      </p:sp>
    </p:spTree>
    <p:extLst>
      <p:ext uri="{BB962C8B-B14F-4D97-AF65-F5344CB8AC3E}">
        <p14:creationId xmlns:p14="http://schemas.microsoft.com/office/powerpoint/2010/main" val="945381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5"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oundedRectangle">
            <a:extLst>
              <a:ext uri="{FF2B5EF4-FFF2-40B4-BE49-F238E27FC236}">
                <a16:creationId xmlns:a16="http://schemas.microsoft.com/office/drawing/2014/main" id="{A0C957D4-E4F1-4D51-EC0C-C161461E948E}"/>
              </a:ext>
            </a:extLst>
          </p:cNvPr>
          <p:cNvSpPr/>
          <p:nvPr/>
        </p:nvSpPr>
        <p:spPr>
          <a:xfrm>
            <a:off x="431800" y="4318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431800" y="660146"/>
            <a:ext cx="9108579"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spc="-48" dirty="0">
                <a:solidFill>
                  <a:srgbClr val="1F1F1F"/>
                </a:solidFill>
                <a:latin typeface="Montserrat"/>
              </a:rPr>
              <a:t>AI Production Tools in Hip-Hop Practice</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431800" y="1102995"/>
            <a:ext cx="7578725"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551"/>
              </a:lnSpc>
            </a:pPr>
            <a:r>
              <a:rPr lang="en-US" sz="1150" b="0" i="0" dirty="0">
                <a:solidFill>
                  <a:srgbClr val="5B5B5B"/>
                </a:solidFill>
                <a:latin typeface="Open Sans"/>
              </a:rPr>
              <a:t>Adoption is real, especially in tech-forward genres, but the evidence points to contested workflow integration rather</a:t>
            </a:r>
            <a:endParaRPr lang="en-US"/>
          </a:p>
        </p:txBody>
      </p:sp>
      <p:sp>
        <p:nvSpPr>
          <p:cNvPr id="8" name="Rectangle">
            <a:extLst>
              <a:ext uri="{FF2B5EF4-FFF2-40B4-BE49-F238E27FC236}">
                <a16:creationId xmlns:a16="http://schemas.microsoft.com/office/drawing/2014/main" id="{A0C957D4-E4F1-4D51-EC0C-C161461E948E}"/>
              </a:ext>
            </a:extLst>
          </p:cNvPr>
          <p:cNvSpPr/>
          <p:nvPr/>
        </p:nvSpPr>
        <p:spPr>
          <a:xfrm>
            <a:off x="431800" y="1299972"/>
            <a:ext cx="1444625"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551"/>
              </a:lnSpc>
            </a:pPr>
            <a:r>
              <a:rPr lang="en-US" sz="1150" b="0" i="0" dirty="0">
                <a:solidFill>
                  <a:srgbClr val="5B5B5B"/>
                </a:solidFill>
                <a:latin typeface="Open Sans"/>
              </a:rPr>
              <a:t>than full replacement.</a:t>
            </a:r>
            <a:endParaRPr lang="en-US"/>
          </a:p>
        </p:txBody>
      </p:sp>
      <p:sp>
        <p:nvSpPr>
          <p:cNvPr id="9" name="RoundedRectangle">
            <a:extLst>
              <a:ext uri="{FF2B5EF4-FFF2-40B4-BE49-F238E27FC236}">
                <a16:creationId xmlns:a16="http://schemas.microsoft.com/office/drawing/2014/main" id="{A0C957D4-E4F1-4D51-EC0C-C161461E948E}"/>
              </a:ext>
            </a:extLst>
          </p:cNvPr>
          <p:cNvSpPr/>
          <p:nvPr/>
        </p:nvSpPr>
        <p:spPr>
          <a:xfrm>
            <a:off x="431800" y="1725676"/>
            <a:ext cx="4580730" cy="3200500"/>
          </a:xfrm>
          <a:prstGeom prst="roundRect">
            <a:avLst>
              <a:gd name="adj" fmla="val 3174"/>
            </a:avLst>
          </a:prstGeom>
          <a:solidFill>
            <a:srgbClr val="FFFFFF">
              <a:alpha val="57999"/>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Rectangle">
            <a:extLst>
              <a:ext uri="{FF2B5EF4-FFF2-40B4-BE49-F238E27FC236}">
                <a16:creationId xmlns:a16="http://schemas.microsoft.com/office/drawing/2014/main" id="{A0C957D4-E4F1-4D51-EC0C-C161461E948E}"/>
              </a:ext>
            </a:extLst>
          </p:cNvPr>
          <p:cNvSpPr/>
          <p:nvPr/>
        </p:nvSpPr>
        <p:spPr>
          <a:xfrm>
            <a:off x="436562" y="1730438"/>
            <a:ext cx="4571205" cy="3190975"/>
          </a:xfrm>
          <a:prstGeom prst="roundRect">
            <a:avLst>
              <a:gd name="adj" fmla="val 3034"/>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644398" y="1938274"/>
            <a:ext cx="457084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6B2D5C"/>
                </a:solidFill>
                <a:latin typeface="Montserrat"/>
              </a:rPr>
              <a:t>Genre adoption rate</a:t>
            </a:r>
            <a:endParaRPr lang="en-US"/>
          </a:p>
        </p:txBody>
      </p:sp>
      <p:graphicFrame>
        <p:nvGraphicFramePr>
          <p:cNvPr id="12" name="ECharts Chart 12"/>
          <p:cNvGraphicFramePr/>
          <p:nvPr/>
        </p:nvGraphicFramePr>
        <p:xfrm>
          <a:off x="644398" y="2263267"/>
          <a:ext cx="4155313" cy="2489200"/>
        </p:xfrm>
        <a:graphic>
          <a:graphicData uri="http://schemas.openxmlformats.org/drawingml/2006/chart">
            <c:chart xmlns:c="http://schemas.openxmlformats.org/drawingml/2006/chart" xmlns:r="http://schemas.openxmlformats.org/officeDocument/2006/relationships" r:id="rId5"/>
          </a:graphicData>
        </a:graphic>
      </p:graphicFrame>
      <p:sp>
        <p:nvSpPr>
          <p:cNvPr id="13" name="RoundedRectangle">
            <a:extLst>
              <a:ext uri="{FF2B5EF4-FFF2-40B4-BE49-F238E27FC236}">
                <a16:creationId xmlns:a16="http://schemas.microsoft.com/office/drawing/2014/main" id="{A0C957D4-E4F1-4D51-EC0C-C161461E948E}"/>
              </a:ext>
            </a:extLst>
          </p:cNvPr>
          <p:cNvSpPr/>
          <p:nvPr/>
        </p:nvSpPr>
        <p:spPr>
          <a:xfrm>
            <a:off x="5215509" y="1725676"/>
            <a:ext cx="3496814" cy="3200500"/>
          </a:xfrm>
          <a:prstGeom prst="roundRect">
            <a:avLst>
              <a:gd name="adj" fmla="val 3174"/>
            </a:avLst>
          </a:prstGeom>
          <a:solidFill>
            <a:srgbClr val="EEE6D6"/>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Rectangle">
            <a:extLst>
              <a:ext uri="{FF2B5EF4-FFF2-40B4-BE49-F238E27FC236}">
                <a16:creationId xmlns:a16="http://schemas.microsoft.com/office/drawing/2014/main" id="{A0C957D4-E4F1-4D51-EC0C-C161461E948E}"/>
              </a:ext>
            </a:extLst>
          </p:cNvPr>
          <p:cNvSpPr/>
          <p:nvPr/>
        </p:nvSpPr>
        <p:spPr>
          <a:xfrm>
            <a:off x="5220271" y="1730438"/>
            <a:ext cx="3487289" cy="3190975"/>
          </a:xfrm>
          <a:prstGeom prst="roundRect">
            <a:avLst>
              <a:gd name="adj" fmla="val 3034"/>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a:extLst>
              <a:ext uri="{FF2B5EF4-FFF2-40B4-BE49-F238E27FC236}">
                <a16:creationId xmlns:a16="http://schemas.microsoft.com/office/drawing/2014/main" id="{A0C957D4-E4F1-4D51-EC0C-C161461E948E}"/>
              </a:ext>
            </a:extLst>
          </p:cNvPr>
          <p:cNvSpPr/>
          <p:nvPr/>
        </p:nvSpPr>
        <p:spPr>
          <a:xfrm>
            <a:off x="5428234" y="1938274"/>
            <a:ext cx="337850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6B2D5C"/>
                </a:solidFill>
                <a:latin typeface="Montserrat"/>
              </a:rPr>
              <a:t>How tools enter practice</a:t>
            </a:r>
            <a:endParaRPr lang="en-US"/>
          </a:p>
        </p:txBody>
      </p:sp>
      <p:sp>
        <p:nvSpPr>
          <p:cNvPr id="16" name="Rectangle">
            <a:extLst>
              <a:ext uri="{FF2B5EF4-FFF2-40B4-BE49-F238E27FC236}">
                <a16:creationId xmlns:a16="http://schemas.microsoft.com/office/drawing/2014/main" id="{A0C957D4-E4F1-4D51-EC0C-C161461E948E}"/>
              </a:ext>
            </a:extLst>
          </p:cNvPr>
          <p:cNvSpPr/>
          <p:nvPr/>
        </p:nvSpPr>
        <p:spPr>
          <a:xfrm>
            <a:off x="5459857" y="2263267"/>
            <a:ext cx="73025" cy="1800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416"/>
              </a:lnSpc>
            </a:pPr>
            <a:r>
              <a:rPr lang="en-US" sz="1050" b="0" i="0" dirty="0">
                <a:solidFill>
                  <a:srgbClr val="1F1F1F"/>
                </a:solidFill>
                <a:latin typeface="Arial"/>
              </a:rPr>
              <a:t>• </a:t>
            </a:r>
            <a:endParaRPr lang="en-US"/>
          </a:p>
        </p:txBody>
      </p:sp>
      <p:sp>
        <p:nvSpPr>
          <p:cNvPr id="17" name="Rectangle">
            <a:extLst>
              <a:ext uri="{FF2B5EF4-FFF2-40B4-BE49-F238E27FC236}">
                <a16:creationId xmlns:a16="http://schemas.microsoft.com/office/drawing/2014/main" id="{A0C957D4-E4F1-4D51-EC0C-C161461E948E}"/>
              </a:ext>
            </a:extLst>
          </p:cNvPr>
          <p:cNvSpPr/>
          <p:nvPr/>
        </p:nvSpPr>
        <p:spPr>
          <a:xfrm>
            <a:off x="5631307" y="2263267"/>
            <a:ext cx="2874518" cy="35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16"/>
              </a:lnSpc>
            </a:pPr>
            <a:r>
              <a:rPr lang="en-US" sz="1050" b="1" i="0" dirty="0">
                <a:solidFill>
                  <a:srgbClr val="1F1F1F"/>
                </a:solidFill>
                <a:latin typeface="Open Sans"/>
              </a:rPr>
              <a:t>Beat generation:</a:t>
            </a:r>
            <a:r>
              <a:rPr lang="en-US" sz="1050" b="0" i="0" dirty="0">
                <a:solidFill>
                  <a:srgbClr val="1F1F1F"/>
                </a:solidFill>
                <a:latin typeface="Open Sans"/>
              </a:rPr>
              <a:t> Suno, Udio, and Boomy can rapidly draft full instrumentals.</a:t>
            </a: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5459857" y="2724658"/>
            <a:ext cx="73025" cy="1800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416"/>
              </a:lnSpc>
            </a:pPr>
            <a:r>
              <a:rPr lang="en-US" sz="1050" b="0" i="0" dirty="0">
                <a:solidFill>
                  <a:srgbClr val="1F1F1F"/>
                </a:solidFill>
                <a:latin typeface="Arial"/>
              </a:rPr>
              <a:t>• </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5631307" y="2724658"/>
            <a:ext cx="2874518" cy="35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16"/>
              </a:lnSpc>
            </a:pPr>
            <a:r>
              <a:rPr lang="en-US" sz="1050" b="1" i="0" dirty="0">
                <a:solidFill>
                  <a:srgbClr val="1F1F1F"/>
                </a:solidFill>
                <a:latin typeface="Open Sans"/>
              </a:rPr>
              <a:t>Sample intelligence:</a:t>
            </a:r>
            <a:r>
              <a:rPr lang="en-US" sz="1050" b="0" i="0" dirty="0">
                <a:solidFill>
                  <a:srgbClr val="1F1F1F"/>
                </a:solidFill>
                <a:latin typeface="Open Sans"/>
              </a:rPr>
              <a:t> tools such as LoopMagic compress search and iteration.</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5459857" y="3185922"/>
            <a:ext cx="73025" cy="1800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417"/>
              </a:lnSpc>
            </a:pPr>
            <a:r>
              <a:rPr lang="en-US" sz="1050" b="0" i="0" dirty="0">
                <a:solidFill>
                  <a:srgbClr val="1F1F1F"/>
                </a:solidFill>
                <a:latin typeface="Arial"/>
              </a:rPr>
              <a:t>• </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5631307" y="3185922"/>
            <a:ext cx="2874518" cy="35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17"/>
              </a:lnSpc>
            </a:pPr>
            <a:r>
              <a:rPr lang="en-US" sz="1050" b="1" i="0" dirty="0">
                <a:solidFill>
                  <a:srgbClr val="1F1F1F"/>
                </a:solidFill>
                <a:latin typeface="Open Sans"/>
              </a:rPr>
              <a:t>Lyric and flow AI:</a:t>
            </a:r>
            <a:r>
              <a:rPr lang="en-US" sz="1050" b="0" i="0" dirty="0">
                <a:solidFill>
                  <a:srgbClr val="1F1F1F"/>
                </a:solidFill>
                <a:latin typeface="Open Sans"/>
              </a:rPr>
              <a:t> LLMs can draft coherent bars, but lived specificity remains contested.</a:t>
            </a:r>
            <a:endParaRPr lang="en-US"/>
          </a:p>
        </p:txBody>
      </p:sp>
      <p:sp>
        <p:nvSpPr>
          <p:cNvPr id="22" name="Rectangle">
            <a:extLst>
              <a:ext uri="{FF2B5EF4-FFF2-40B4-BE49-F238E27FC236}">
                <a16:creationId xmlns:a16="http://schemas.microsoft.com/office/drawing/2014/main" id="{A0C957D4-E4F1-4D51-EC0C-C161461E948E}"/>
              </a:ext>
            </a:extLst>
          </p:cNvPr>
          <p:cNvSpPr/>
          <p:nvPr/>
        </p:nvSpPr>
        <p:spPr>
          <a:xfrm>
            <a:off x="5459857" y="3647313"/>
            <a:ext cx="73025" cy="1800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417"/>
              </a:lnSpc>
            </a:pPr>
            <a:r>
              <a:rPr lang="en-US" sz="1050" b="0" i="0" dirty="0">
                <a:solidFill>
                  <a:srgbClr val="1F1F1F"/>
                </a:solidFill>
                <a:latin typeface="Arial"/>
              </a:rPr>
              <a:t>• </a:t>
            </a:r>
            <a:endParaRPr lang="en-US"/>
          </a:p>
        </p:txBody>
      </p:sp>
      <p:sp>
        <p:nvSpPr>
          <p:cNvPr id="23" name="Rectangle">
            <a:extLst>
              <a:ext uri="{FF2B5EF4-FFF2-40B4-BE49-F238E27FC236}">
                <a16:creationId xmlns:a16="http://schemas.microsoft.com/office/drawing/2014/main" id="{A0C957D4-E4F1-4D51-EC0C-C161461E948E}"/>
              </a:ext>
            </a:extLst>
          </p:cNvPr>
          <p:cNvSpPr/>
          <p:nvPr/>
        </p:nvSpPr>
        <p:spPr>
          <a:xfrm>
            <a:off x="5631307" y="3647313"/>
            <a:ext cx="2874518" cy="35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17"/>
              </a:lnSpc>
            </a:pPr>
            <a:r>
              <a:rPr lang="en-US" sz="1050" b="1" i="0" dirty="0">
                <a:solidFill>
                  <a:srgbClr val="1F1F1F"/>
                </a:solidFill>
                <a:latin typeface="Open Sans"/>
              </a:rPr>
              <a:t>Key tension:</a:t>
            </a:r>
            <a:r>
              <a:rPr lang="en-US" sz="1050" b="0" i="0" dirty="0">
                <a:solidFill>
                  <a:srgbClr val="1F1F1F"/>
                </a:solidFill>
                <a:latin typeface="Open Sans"/>
              </a:rPr>
              <a:t> workflow enhancer or substitute for human craft?</a:t>
            </a:r>
            <a:endParaRPr lang="en-US"/>
          </a:p>
        </p:txBody>
      </p:sp>
      <p:sp>
        <p:nvSpPr>
          <p:cNvPr id="24" name="Rectangle">
            <a:extLst>
              <a:ext uri="{FF2B5EF4-FFF2-40B4-BE49-F238E27FC236}">
                <a16:creationId xmlns:a16="http://schemas.microsoft.com/office/drawing/2014/main" id="{A0C957D4-E4F1-4D51-EC0C-C161461E948E}"/>
              </a:ext>
            </a:extLst>
          </p:cNvPr>
          <p:cNvSpPr/>
          <p:nvPr/>
        </p:nvSpPr>
        <p:spPr>
          <a:xfrm>
            <a:off x="228866" y="4841240"/>
            <a:ext cx="4570844" cy="127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1000"/>
              </a:lnSpc>
            </a:pPr>
            <a:r>
              <a:rPr lang="en-US" sz="800" b="0" i="0" dirty="0">
                <a:solidFill>
                  <a:srgbClr val="5B5B5B"/>
                </a:solidFill>
                <a:latin typeface="Open Sans"/>
              </a:rPr>
              <a:t>Source: Tracklib Survey, July 2024; Billboard, 2025.</a:t>
            </a:r>
            <a:endParaRPr lang="en-US"/>
          </a:p>
        </p:txBody>
      </p:sp>
    </p:spTree>
    <p:extLst>
      <p:ext uri="{BB962C8B-B14F-4D97-AF65-F5344CB8AC3E}">
        <p14:creationId xmlns:p14="http://schemas.microsoft.com/office/powerpoint/2010/main" val="945381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5"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ectangle">
            <a:extLst>
              <a:ext uri="{FF2B5EF4-FFF2-40B4-BE49-F238E27FC236}">
                <a16:creationId xmlns:a16="http://schemas.microsoft.com/office/drawing/2014/main" id="{A0C957D4-E4F1-4D51-EC0C-C161461E948E}"/>
              </a:ext>
            </a:extLst>
          </p:cNvPr>
          <p:cNvSpPr/>
          <p:nvPr/>
        </p:nvSpPr>
        <p:spPr>
          <a:xfrm>
            <a:off x="7458075" y="457200"/>
            <a:ext cx="1267777" cy="8716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17348" rIns="0" bIns="0" rtlCol="0" anchor="t"/>
          <a:lstStyle/>
          <a:p>
            <a:pPr algn="l">
              <a:lnSpc>
                <a:spcPts val="5940"/>
              </a:lnSpc>
            </a:pPr>
            <a:r>
              <a:rPr lang="en-US" sz="6600" b="1" i="0" dirty="0">
                <a:solidFill>
                  <a:srgbClr val="6B2D5C">
                    <a:alpha val="12000"/>
                  </a:srgbClr>
                </a:solidFill>
                <a:latin typeface="Montserrat"/>
              </a:rPr>
              <a:t>04</a:t>
            </a: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711073" y="1207135"/>
            <a:ext cx="8494039"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20"/>
              </a:lnSpc>
            </a:pPr>
            <a:r>
              <a:rPr lang="en-US" sz="1100" b="1" i="0" spc="132" dirty="0">
                <a:solidFill>
                  <a:srgbClr val="6B2D5C"/>
                </a:solidFill>
                <a:latin typeface="Montserrat"/>
              </a:rPr>
              <a:t>VOICE CLONING &amp; COPYRIGHT</a:t>
            </a:r>
            <a:endParaRPr lang="en-US"/>
          </a:p>
        </p:txBody>
      </p:sp>
      <p:sp>
        <p:nvSpPr>
          <p:cNvPr id="7" name="RoundedRectangle">
            <a:extLst>
              <a:ext uri="{FF2B5EF4-FFF2-40B4-BE49-F238E27FC236}">
                <a16:creationId xmlns:a16="http://schemas.microsoft.com/office/drawing/2014/main" id="{A0C957D4-E4F1-4D51-EC0C-C161461E948E}"/>
              </a:ext>
            </a:extLst>
          </p:cNvPr>
          <p:cNvSpPr/>
          <p:nvPr/>
        </p:nvSpPr>
        <p:spPr>
          <a:xfrm>
            <a:off x="711073" y="1505585"/>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a:extLst>
              <a:ext uri="{FF2B5EF4-FFF2-40B4-BE49-F238E27FC236}">
                <a16:creationId xmlns:a16="http://schemas.microsoft.com/office/drawing/2014/main" id="{A0C957D4-E4F1-4D51-EC0C-C161461E948E}"/>
              </a:ext>
            </a:extLst>
          </p:cNvPr>
          <p:cNvSpPr/>
          <p:nvPr/>
        </p:nvSpPr>
        <p:spPr>
          <a:xfrm>
            <a:off x="711073" y="1784858"/>
            <a:ext cx="7823060" cy="4944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5146" rIns="0" bIns="0" rtlCol="0" anchor="t"/>
          <a:lstStyle/>
          <a:p>
            <a:pPr algn="l">
              <a:lnSpc>
                <a:spcPts val="3696"/>
              </a:lnSpc>
            </a:pPr>
            <a:r>
              <a:rPr lang="en-US" sz="3300" b="1" i="0" spc="-66" dirty="0">
                <a:solidFill>
                  <a:srgbClr val="1F1F1F"/>
                </a:solidFill>
                <a:latin typeface="Montserrat"/>
              </a:rPr>
              <a:t>Voice Cloning &amp; Copyright</a:t>
            </a: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711073" y="2377186"/>
            <a:ext cx="690245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5"/>
              </a:lnSpc>
            </a:pPr>
            <a:r>
              <a:rPr lang="en-US" sz="1300" b="0" i="0" dirty="0">
                <a:solidFill>
                  <a:srgbClr val="5B5B5B"/>
                </a:solidFill>
                <a:latin typeface="Open Sans"/>
              </a:rPr>
              <a:t>Synthetic voice replication makes identity, consent, and ownership central ethical questions—</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711073" y="2600071"/>
            <a:ext cx="113030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5"/>
              </a:lnSpc>
            </a:pPr>
            <a:r>
              <a:rPr lang="en-US" sz="1300" b="0" i="0" dirty="0">
                <a:solidFill>
                  <a:srgbClr val="5B5B5B"/>
                </a:solidFill>
                <a:latin typeface="Open Sans"/>
              </a:rPr>
              <a:t>not side issues.</a:t>
            </a:r>
            <a:endParaRPr lang="en-US"/>
          </a:p>
        </p:txBody>
      </p:sp>
      <p:sp>
        <p:nvSpPr>
          <p:cNvPr id="11" name="RoundedRectangle">
            <a:extLst>
              <a:ext uri="{FF2B5EF4-FFF2-40B4-BE49-F238E27FC236}">
                <a16:creationId xmlns:a16="http://schemas.microsoft.com/office/drawing/2014/main" id="{A0C957D4-E4F1-4D51-EC0C-C161461E948E}"/>
              </a:ext>
            </a:extLst>
          </p:cNvPr>
          <p:cNvSpPr/>
          <p:nvPr/>
        </p:nvSpPr>
        <p:spPr>
          <a:xfrm>
            <a:off x="711073" y="3207639"/>
            <a:ext cx="7130999" cy="931664"/>
          </a:xfrm>
          <a:prstGeom prst="roundRect">
            <a:avLst>
              <a:gd name="adj" fmla="val 16357"/>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Rectangle">
            <a:extLst>
              <a:ext uri="{FF2B5EF4-FFF2-40B4-BE49-F238E27FC236}">
                <a16:creationId xmlns:a16="http://schemas.microsoft.com/office/drawing/2014/main" id="{A0C957D4-E4F1-4D51-EC0C-C161461E948E}"/>
              </a:ext>
            </a:extLst>
          </p:cNvPr>
          <p:cNvSpPr/>
          <p:nvPr/>
        </p:nvSpPr>
        <p:spPr>
          <a:xfrm>
            <a:off x="715835" y="3212401"/>
            <a:ext cx="7121474" cy="922139"/>
          </a:xfrm>
          <a:prstGeom prst="roundRect">
            <a:avLst>
              <a:gd name="adj" fmla="val 1601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974471" y="3416427"/>
            <a:ext cx="614045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93"/>
              </a:lnSpc>
            </a:pPr>
            <a:r>
              <a:rPr lang="en-US" sz="1300" b="0" i="0" dirty="0">
                <a:solidFill>
                  <a:srgbClr val="1F1F1F"/>
                </a:solidFill>
                <a:latin typeface="Open Sans"/>
              </a:rPr>
              <a:t>When a model can imitate a recognizable artist closely enough to confuse listeners,</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974471" y="3644138"/>
            <a:ext cx="2606675"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93"/>
              </a:lnSpc>
            </a:pPr>
            <a:r>
              <a:rPr lang="en-US" sz="1300" b="0" i="0" dirty="0">
                <a:solidFill>
                  <a:srgbClr val="1F1F1F"/>
                </a:solidFill>
                <a:latin typeface="Open Sans"/>
              </a:rPr>
              <a:t>culture becomes a legal stress test.</a:t>
            </a:r>
            <a:endParaRPr lang="en-US"/>
          </a:p>
        </p:txBody>
      </p:sp>
    </p:spTree>
    <p:extLst>
      <p:ext uri="{BB962C8B-B14F-4D97-AF65-F5344CB8AC3E}">
        <p14:creationId xmlns:p14="http://schemas.microsoft.com/office/powerpoint/2010/main" val="945381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4"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oundedRectangle">
            <a:extLst>
              <a:ext uri="{FF2B5EF4-FFF2-40B4-BE49-F238E27FC236}">
                <a16:creationId xmlns:a16="http://schemas.microsoft.com/office/drawing/2014/main" id="{A0C957D4-E4F1-4D51-EC0C-C161461E948E}"/>
              </a:ext>
            </a:extLst>
          </p:cNvPr>
          <p:cNvSpPr/>
          <p:nvPr/>
        </p:nvSpPr>
        <p:spPr>
          <a:xfrm>
            <a:off x="431800" y="4318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431800" y="660146"/>
            <a:ext cx="9108579"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spc="-48" dirty="0">
                <a:solidFill>
                  <a:srgbClr val="1F1F1F"/>
                </a:solidFill>
                <a:latin typeface="Montserrat"/>
              </a:rPr>
              <a:t>The Fake Drake Case</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431800" y="1102995"/>
            <a:ext cx="8661260" cy="197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52"/>
              </a:lnSpc>
            </a:pPr>
            <a:r>
              <a:rPr lang="en-US" sz="1150" b="0" i="1" dirty="0">
                <a:solidFill>
                  <a:srgbClr val="5B5B5B"/>
                </a:solidFill>
                <a:latin typeface="Open Sans"/>
              </a:rPr>
              <a:t>Heart on My Sleeve</a:t>
            </a:r>
            <a:r>
              <a:rPr lang="en-US" sz="1150" b="0" i="0" dirty="0">
                <a:solidFill>
                  <a:srgbClr val="5B5B5B"/>
                </a:solidFill>
                <a:latin typeface="Open Sans"/>
              </a:rPr>
              <a:t> exposed how quickly synthetic voices can outpace copyright doctrine and platform governance.</a:t>
            </a: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431800" y="1528572"/>
            <a:ext cx="3824786" cy="3177534"/>
          </a:xfrm>
          <a:prstGeom prst="roundRect">
            <a:avLst>
              <a:gd name="adj" fmla="val 4796"/>
            </a:avLst>
          </a:prstGeom>
          <a:solidFill>
            <a:srgbClr val="1F1F1F"/>
          </a:solidFill>
          <a:ln>
            <a:noFill/>
          </a:ln>
          <a:effectLst>
            <a:outerShdw blurRad="101600" dist="25400" dir="5400000" algn="ctr" rotWithShape="0">
              <a:srgbClr val="000000">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685673" y="1782572"/>
            <a:ext cx="3648405" cy="5501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67564" rIns="0" bIns="0" rtlCol="0" anchor="t"/>
          <a:lstStyle/>
          <a:p>
            <a:pPr algn="l">
              <a:lnSpc>
                <a:spcPts val="3800"/>
              </a:lnSpc>
            </a:pPr>
            <a:r>
              <a:rPr lang="en-US" sz="3800" b="1" i="0" dirty="0">
                <a:solidFill>
                  <a:srgbClr val="C9A227"/>
                </a:solidFill>
                <a:latin typeface="Montserrat"/>
              </a:rPr>
              <a:t>9M</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685673" y="2344547"/>
            <a:ext cx="3263900"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84"/>
              </a:lnSpc>
            </a:pPr>
            <a:r>
              <a:rPr lang="en-US" sz="1100" b="0" i="0" dirty="0">
                <a:solidFill>
                  <a:srgbClr val="F6F2EA"/>
                </a:solidFill>
                <a:latin typeface="Open Sans"/>
              </a:rPr>
              <a:t>TikTok views before takedown pressure made the</a:t>
            </a: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685673" y="2533015"/>
            <a:ext cx="2206625" cy="190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84"/>
              </a:lnSpc>
            </a:pPr>
            <a:r>
              <a:rPr lang="en-US" sz="1100" b="0" i="0" dirty="0">
                <a:solidFill>
                  <a:srgbClr val="F6F2EA"/>
                </a:solidFill>
                <a:latin typeface="Open Sans"/>
              </a:rPr>
              <a:t>track a global AI music flashpoint.</a:t>
            </a:r>
            <a:endParaRPr lang="en-US"/>
          </a:p>
        </p:txBody>
      </p:sp>
      <p:cxnSp>
        <p:nvCxnSpPr>
          <p:cNvPr id="12" name="Straight Connector 7">
            <a:extLst>
              <a:ext uri="{FF2B5EF4-FFF2-40B4-BE49-F238E27FC236}">
                <a16:creationId xmlns:a16="http://schemas.microsoft.com/office/drawing/2014/main" id="{07140A32-94A2-3494-976F-5BA2F17FCD02}"/>
              </a:ext>
            </a:extLst>
          </p:cNvPr>
          <p:cNvCxnSpPr/>
          <p:nvPr/>
        </p:nvCxnSpPr>
        <p:spPr>
          <a:xfrm>
            <a:off x="685673" y="2964497"/>
            <a:ext cx="1594846" cy="127"/>
          </a:xfrm>
          <a:prstGeom prst="line">
            <a:avLst/>
          </a:prstGeom>
          <a:ln w="9525" cmpd="sng">
            <a:solidFill>
              <a:srgbClr val="F6F2EA">
                <a:alpha val="25000"/>
              </a:srgbClr>
            </a:solidFill>
          </a:ln>
        </p:spPr>
        <p:style>
          <a:lnRef idx="1">
            <a:schemeClr val="accent1"/>
          </a:lnRef>
          <a:fillRef idx="0">
            <a:schemeClr val="accent1"/>
          </a:fillRef>
          <a:effectRef idx="0">
            <a:schemeClr val="accent1"/>
          </a:effectRef>
          <a:fontRef idx="minor">
            <a:schemeClr val="tx1"/>
          </a:fontRef>
        </p:style>
      </p:cxnSp>
      <p:sp>
        <p:nvSpPr>
          <p:cNvPr id="13" name="Rectangle">
            <a:extLst>
              <a:ext uri="{FF2B5EF4-FFF2-40B4-BE49-F238E27FC236}">
                <a16:creationId xmlns:a16="http://schemas.microsoft.com/office/drawing/2014/main" id="{A0C957D4-E4F1-4D51-EC0C-C161461E948E}"/>
              </a:ext>
            </a:extLst>
          </p:cNvPr>
          <p:cNvSpPr/>
          <p:nvPr/>
        </p:nvSpPr>
        <p:spPr>
          <a:xfrm>
            <a:off x="685673" y="3096260"/>
            <a:ext cx="1754352"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2040"/>
              </a:lnSpc>
            </a:pPr>
            <a:r>
              <a:rPr lang="en-US" sz="1700" b="1" i="0" dirty="0">
                <a:solidFill>
                  <a:srgbClr val="C9A227"/>
                </a:solidFill>
                <a:latin typeface="Montserrat"/>
              </a:rPr>
              <a:t>250K</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685673" y="3401060"/>
            <a:ext cx="1754352" cy="1507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187"/>
              </a:lnSpc>
            </a:pPr>
            <a:r>
              <a:rPr lang="en-US" sz="950" b="0" i="0" dirty="0">
                <a:solidFill>
                  <a:srgbClr val="F6F2EA"/>
                </a:solidFill>
                <a:latin typeface="Open Sans"/>
              </a:rPr>
              <a:t>Spotify streams</a:t>
            </a:r>
            <a:endParaRPr lang="en-US"/>
          </a:p>
        </p:txBody>
      </p:sp>
      <p:cxnSp>
        <p:nvCxnSpPr>
          <p:cNvPr id="15" name="Straight Connector 7">
            <a:extLst>
              <a:ext uri="{FF2B5EF4-FFF2-40B4-BE49-F238E27FC236}">
                <a16:creationId xmlns:a16="http://schemas.microsoft.com/office/drawing/2014/main" id="{07140A32-94A2-3494-976F-5BA2F17FCD02}"/>
              </a:ext>
            </a:extLst>
          </p:cNvPr>
          <p:cNvCxnSpPr/>
          <p:nvPr/>
        </p:nvCxnSpPr>
        <p:spPr>
          <a:xfrm>
            <a:off x="2407412" y="2964497"/>
            <a:ext cx="1594989" cy="127"/>
          </a:xfrm>
          <a:prstGeom prst="line">
            <a:avLst/>
          </a:prstGeom>
          <a:ln w="9525" cmpd="sng">
            <a:solidFill>
              <a:srgbClr val="F6F2EA">
                <a:alpha val="25000"/>
              </a:srgbClr>
            </a:solidFill>
          </a:ln>
        </p:spPr>
        <p:style>
          <a:lnRef idx="1">
            <a:schemeClr val="accent1"/>
          </a:lnRef>
          <a:fillRef idx="0">
            <a:schemeClr val="accent1"/>
          </a:fillRef>
          <a:effectRef idx="0">
            <a:schemeClr val="accent1"/>
          </a:effectRef>
          <a:fontRef idx="minor">
            <a:schemeClr val="tx1"/>
          </a:fontRef>
        </p:style>
      </p:cxnSp>
      <p:sp>
        <p:nvSpPr>
          <p:cNvPr id="16" name="Rectangle">
            <a:extLst>
              <a:ext uri="{FF2B5EF4-FFF2-40B4-BE49-F238E27FC236}">
                <a16:creationId xmlns:a16="http://schemas.microsoft.com/office/drawing/2014/main" id="{A0C957D4-E4F1-4D51-EC0C-C161461E948E}"/>
              </a:ext>
            </a:extLst>
          </p:cNvPr>
          <p:cNvSpPr/>
          <p:nvPr/>
        </p:nvSpPr>
        <p:spPr>
          <a:xfrm>
            <a:off x="2407412" y="3096260"/>
            <a:ext cx="1754492" cy="266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2040"/>
              </a:lnSpc>
            </a:pPr>
            <a:r>
              <a:rPr lang="en-US" sz="1700" b="1" i="0" dirty="0">
                <a:solidFill>
                  <a:srgbClr val="C9A227"/>
                </a:solidFill>
                <a:latin typeface="Montserrat"/>
              </a:rPr>
              <a:t>200K</a:t>
            </a:r>
            <a:endParaRPr lang="en-US"/>
          </a:p>
        </p:txBody>
      </p:sp>
      <p:sp>
        <p:nvSpPr>
          <p:cNvPr id="17" name="Rectangle">
            <a:extLst>
              <a:ext uri="{FF2B5EF4-FFF2-40B4-BE49-F238E27FC236}">
                <a16:creationId xmlns:a16="http://schemas.microsoft.com/office/drawing/2014/main" id="{A0C957D4-E4F1-4D51-EC0C-C161461E948E}"/>
              </a:ext>
            </a:extLst>
          </p:cNvPr>
          <p:cNvSpPr/>
          <p:nvPr/>
        </p:nvSpPr>
        <p:spPr>
          <a:xfrm>
            <a:off x="2407412" y="3401060"/>
            <a:ext cx="1754492" cy="1507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187"/>
              </a:lnSpc>
            </a:pPr>
            <a:r>
              <a:rPr lang="en-US" sz="950" b="0" i="0" dirty="0">
                <a:solidFill>
                  <a:srgbClr val="F6F2EA"/>
                </a:solidFill>
                <a:latin typeface="Open Sans"/>
              </a:rPr>
              <a:t>YouTube views</a:t>
            </a:r>
            <a:endParaRPr lang="en-US"/>
          </a:p>
        </p:txBody>
      </p:sp>
      <p:sp>
        <p:nvSpPr>
          <p:cNvPr id="18" name="RoundedRectangle">
            <a:extLst>
              <a:ext uri="{FF2B5EF4-FFF2-40B4-BE49-F238E27FC236}">
                <a16:creationId xmlns:a16="http://schemas.microsoft.com/office/drawing/2014/main" id="{A0C957D4-E4F1-4D51-EC0C-C161461E948E}"/>
              </a:ext>
            </a:extLst>
          </p:cNvPr>
          <p:cNvSpPr/>
          <p:nvPr/>
        </p:nvSpPr>
        <p:spPr>
          <a:xfrm>
            <a:off x="4484878" y="1528572"/>
            <a:ext cx="4227166" cy="3177431"/>
          </a:xfrm>
          <a:prstGeom prst="roundRect">
            <a:avLst>
              <a:gd name="adj" fmla="val 3197"/>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Rectangle">
            <a:extLst>
              <a:ext uri="{FF2B5EF4-FFF2-40B4-BE49-F238E27FC236}">
                <a16:creationId xmlns:a16="http://schemas.microsoft.com/office/drawing/2014/main" id="{A0C957D4-E4F1-4D51-EC0C-C161461E948E}"/>
              </a:ext>
            </a:extLst>
          </p:cNvPr>
          <p:cNvSpPr/>
          <p:nvPr/>
        </p:nvSpPr>
        <p:spPr>
          <a:xfrm>
            <a:off x="4489640" y="1533334"/>
            <a:ext cx="4217641" cy="3167906"/>
          </a:xfrm>
          <a:prstGeom prst="roundRect">
            <a:avLst>
              <a:gd name="adj" fmla="val 3056"/>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4723003" y="1741297"/>
            <a:ext cx="4126039" cy="2000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6B2D5C"/>
                </a:solidFill>
                <a:latin typeface="Montserrat"/>
              </a:rPr>
              <a:t>Why the case matters</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4723003" y="2068322"/>
            <a:ext cx="3750945" cy="23508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marL="203200" indent="-171450" algn="l">
              <a:lnSpc>
                <a:spcPts val="1433"/>
              </a:lnSpc>
              <a:spcAft>
                <a:spcPts val="798"/>
              </a:spcAft>
              <a:buSzPct val="100000"/>
              <a:buFont typeface="Arial"/>
              <a:buChar char="•"/>
              <a:defRPr sz="1070" b="0" i="0">
                <a:solidFill>
                  <a:srgbClr val="1F1F1F"/>
                </a:solidFill>
                <a:latin typeface="Arial"/>
              </a:defRPr>
            </a:pPr>
            <a:r>
              <a:rPr lang="en-US" sz="1070" b="0" i="0" dirty="0">
                <a:solidFill>
                  <a:srgbClr val="1F1F1F"/>
                </a:solidFill>
                <a:latin typeface="Open Sans"/>
              </a:rPr>
              <a:t>The track imitated Drake and The Weeknd and spread</a:t>
            </a:r>
            <a:br/>
            <a:r>
              <a:rPr lang="en-US" sz="1070" b="0" i="0" dirty="0">
                <a:solidFill>
                  <a:srgbClr val="1F1F1F"/>
                </a:solidFill>
                <a:latin typeface="Open Sans"/>
              </a:rPr>
              <a:t>widely in April 2023.</a:t>
            </a:r>
            <a:endParaRPr lang="en-US"/>
          </a:p>
          <a:p>
            <a:pPr marL="203200" indent="-171450" algn="l">
              <a:lnSpc>
                <a:spcPts val="1433"/>
              </a:lnSpc>
              <a:spcAft>
                <a:spcPts val="800"/>
              </a:spcAft>
              <a:buSzPct val="100000"/>
              <a:buFont typeface="Arial"/>
              <a:buChar char="•"/>
              <a:defRPr sz="1070" b="0" i="0">
                <a:solidFill>
                  <a:srgbClr val="1F1F1F"/>
                </a:solidFill>
                <a:latin typeface="Arial"/>
              </a:defRPr>
            </a:pPr>
            <a:r>
              <a:rPr lang="en-US" sz="1070" b="0" i="0" dirty="0">
                <a:solidFill>
                  <a:srgbClr val="1F1F1F"/>
                </a:solidFill>
                <a:latin typeface="Open Sans"/>
              </a:rPr>
              <a:t>UMG cited unauthorized vocal likeness and an</a:t>
            </a:r>
            <a:br/>
            <a:r>
              <a:rPr lang="en-US" sz="1070" b="0" i="0" dirty="0">
                <a:solidFill>
                  <a:srgbClr val="1F1F1F"/>
                </a:solidFill>
                <a:latin typeface="Open Sans"/>
              </a:rPr>
              <a:t>unlicensed Metro Boomin producer tag.</a:t>
            </a:r>
            <a:endParaRPr lang="en-US"/>
          </a:p>
          <a:p>
            <a:pPr marL="203200" indent="-171450" algn="l">
              <a:lnSpc>
                <a:spcPts val="1434"/>
              </a:lnSpc>
              <a:spcAft>
                <a:spcPts val="799"/>
              </a:spcAft>
              <a:buSzPct val="101000"/>
              <a:buFont typeface="Arial"/>
              <a:buChar char="•"/>
              <a:defRPr sz="1070" b="0" i="0">
                <a:solidFill>
                  <a:srgbClr val="1F1F1F"/>
                </a:solidFill>
                <a:latin typeface="Arial"/>
              </a:defRPr>
            </a:pPr>
            <a:r>
              <a:rPr lang="en-US" sz="1070" b="0" i="0" dirty="0">
                <a:solidFill>
                  <a:srgbClr val="1F1F1F"/>
                </a:solidFill>
                <a:latin typeface="Open Sans"/>
              </a:rPr>
              <a:t>Voice style itself may not fit neatly inside copyright law.</a:t>
            </a:r>
            <a:endParaRPr lang="en-US"/>
          </a:p>
          <a:p>
            <a:pPr marL="203200" indent="-171450" algn="l">
              <a:lnSpc>
                <a:spcPts val="1433"/>
              </a:lnSpc>
              <a:spcAft>
                <a:spcPts val="799"/>
              </a:spcAft>
              <a:buSzPct val="100000"/>
              <a:buFont typeface="Arial"/>
              <a:buChar char="•"/>
              <a:defRPr sz="1070" b="0" i="0">
                <a:solidFill>
                  <a:srgbClr val="1F1F1F"/>
                </a:solidFill>
                <a:latin typeface="Arial"/>
              </a:defRPr>
            </a:pPr>
            <a:r>
              <a:rPr lang="en-US" sz="1070" b="0" i="0" dirty="0">
                <a:solidFill>
                  <a:srgbClr val="1F1F1F"/>
                </a:solidFill>
                <a:latin typeface="Open Sans"/>
              </a:rPr>
              <a:t>Platforms and takedown systems shaped the outcome</a:t>
            </a:r>
            <a:br/>
            <a:r>
              <a:rPr lang="en-US" sz="1070" b="0" i="0" dirty="0">
                <a:solidFill>
                  <a:srgbClr val="1F1F1F"/>
                </a:solidFill>
                <a:latin typeface="Open Sans"/>
              </a:rPr>
              <a:t>before courts could.</a:t>
            </a:r>
            <a:endParaRPr lang="en-US"/>
          </a:p>
          <a:p>
            <a:pPr marL="203200" indent="-171450" algn="l">
              <a:lnSpc>
                <a:spcPts val="1433"/>
              </a:lnSpc>
              <a:buSzPct val="100000"/>
              <a:buFont typeface="Arial"/>
              <a:buChar char="•"/>
              <a:defRPr sz="1070" b="0" i="0">
                <a:solidFill>
                  <a:srgbClr val="1F1F1F"/>
                </a:solidFill>
                <a:latin typeface="Arial"/>
              </a:defRPr>
            </a:pPr>
            <a:r>
              <a:rPr lang="en-US" sz="1070" b="0" i="0" dirty="0">
                <a:solidFill>
                  <a:srgbClr val="1F1F1F"/>
                </a:solidFill>
                <a:latin typeface="Open Sans"/>
              </a:rPr>
              <a:t>The authorship question remains unsettled: lyrics,</a:t>
            </a:r>
            <a:br/>
            <a:r>
              <a:rPr lang="en-US" sz="1070" b="0" i="0" dirty="0">
                <a:solidFill>
                  <a:srgbClr val="1F1F1F"/>
                </a:solidFill>
                <a:latin typeface="Open Sans"/>
              </a:rPr>
              <a:t>model, voice, or platform?</a:t>
            </a:r>
            <a:endParaRPr lang="en-US"/>
          </a:p>
        </p:txBody>
      </p:sp>
      <p:sp>
        <p:nvSpPr>
          <p:cNvPr id="22" name="Rectangle">
            <a:extLst>
              <a:ext uri="{FF2B5EF4-FFF2-40B4-BE49-F238E27FC236}">
                <a16:creationId xmlns:a16="http://schemas.microsoft.com/office/drawing/2014/main" id="{A0C957D4-E4F1-4D51-EC0C-C161461E948E}"/>
              </a:ext>
            </a:extLst>
          </p:cNvPr>
          <p:cNvSpPr/>
          <p:nvPr/>
        </p:nvSpPr>
        <p:spPr>
          <a:xfrm>
            <a:off x="5054473" y="4229862"/>
            <a:ext cx="3425825" cy="133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lnSpc>
                <a:spcPts val="999"/>
              </a:lnSpc>
            </a:pPr>
            <a:r>
              <a:rPr lang="en-US" sz="800" b="0" i="0" dirty="0">
                <a:solidFill>
                  <a:srgbClr val="5B5B5B"/>
                </a:solidFill>
                <a:latin typeface="Open Sans"/>
              </a:rPr>
              <a:t>Sources: Harvard Law School Today, 2023; Tschmuck, 2024; Southern</a:t>
            </a:r>
            <a:endParaRPr lang="en-US"/>
          </a:p>
        </p:txBody>
      </p:sp>
      <p:sp>
        <p:nvSpPr>
          <p:cNvPr id="23" name="Rectangle">
            <a:extLst>
              <a:ext uri="{FF2B5EF4-FFF2-40B4-BE49-F238E27FC236}">
                <a16:creationId xmlns:a16="http://schemas.microsoft.com/office/drawing/2014/main" id="{A0C957D4-E4F1-4D51-EC0C-C161461E948E}"/>
              </a:ext>
            </a:extLst>
          </p:cNvPr>
          <p:cNvSpPr/>
          <p:nvPr/>
        </p:nvSpPr>
        <p:spPr>
          <a:xfrm>
            <a:off x="7064248" y="4356735"/>
            <a:ext cx="1416050" cy="133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r">
              <a:lnSpc>
                <a:spcPts val="999"/>
              </a:lnSpc>
            </a:pPr>
            <a:r>
              <a:rPr lang="en-US" sz="800" b="0" i="0" dirty="0">
                <a:solidFill>
                  <a:srgbClr val="5B5B5B"/>
                </a:solidFill>
                <a:latin typeface="Open Sans"/>
              </a:rPr>
              <a:t>California Law Review, 2025.</a:t>
            </a:r>
            <a:endParaRPr lang="en-US"/>
          </a:p>
        </p:txBody>
      </p:sp>
    </p:spTree>
    <p:extLst>
      <p:ext uri="{BB962C8B-B14F-4D97-AF65-F5344CB8AC3E}">
        <p14:creationId xmlns:p14="http://schemas.microsoft.com/office/powerpoint/2010/main" val="945381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34"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oundedRectangle">
            <a:extLst>
              <a:ext uri="{FF2B5EF4-FFF2-40B4-BE49-F238E27FC236}">
                <a16:creationId xmlns:a16="http://schemas.microsoft.com/office/drawing/2014/main" id="{A0C957D4-E4F1-4D51-EC0C-C161461E948E}"/>
              </a:ext>
            </a:extLst>
          </p:cNvPr>
          <p:cNvSpPr/>
          <p:nvPr/>
        </p:nvSpPr>
        <p:spPr>
          <a:xfrm>
            <a:off x="431800" y="4318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431800" y="660146"/>
            <a:ext cx="9108579"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spc="-48" dirty="0">
                <a:solidFill>
                  <a:srgbClr val="1F1F1F"/>
                </a:solidFill>
                <a:latin typeface="Montserrat"/>
              </a:rPr>
              <a:t>The Law Scrambles to Catch Up</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431800" y="1102995"/>
            <a:ext cx="8661260" cy="197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52"/>
              </a:lnSpc>
            </a:pPr>
            <a:r>
              <a:rPr lang="en-US" sz="1150" b="0" i="0" dirty="0">
                <a:solidFill>
                  <a:srgbClr val="5B5B5B"/>
                </a:solidFill>
                <a:latin typeface="Open Sans"/>
              </a:rPr>
              <a:t>Legislators are responding to synthetic voices, but the framework remains fragmented and incomplete.</a:t>
            </a: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431800" y="1528572"/>
            <a:ext cx="2641895" cy="2381250"/>
          </a:xfrm>
          <a:prstGeom prst="roundRect">
            <a:avLst>
              <a:gd name="adj" fmla="val 4266"/>
            </a:avLst>
          </a:prstGeom>
          <a:solidFill>
            <a:srgbClr val="EEE6D6"/>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Rectangle">
            <a:extLst>
              <a:ext uri="{FF2B5EF4-FFF2-40B4-BE49-F238E27FC236}">
                <a16:creationId xmlns:a16="http://schemas.microsoft.com/office/drawing/2014/main" id="{A0C957D4-E4F1-4D51-EC0C-C161461E948E}"/>
              </a:ext>
            </a:extLst>
          </p:cNvPr>
          <p:cNvSpPr/>
          <p:nvPr/>
        </p:nvSpPr>
        <p:spPr>
          <a:xfrm>
            <a:off x="436562" y="1533334"/>
            <a:ext cx="2632370" cy="2371725"/>
          </a:xfrm>
          <a:prstGeom prst="roundRect">
            <a:avLst>
              <a:gd name="adj" fmla="val 4082"/>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Rectangle">
            <a:extLst>
              <a:ext uri="{FF2B5EF4-FFF2-40B4-BE49-F238E27FC236}">
                <a16:creationId xmlns:a16="http://schemas.microsoft.com/office/drawing/2014/main" id="{A0C957D4-E4F1-4D51-EC0C-C161461E948E}"/>
              </a:ext>
            </a:extLst>
          </p:cNvPr>
          <p:cNvSpPr/>
          <p:nvPr/>
        </p:nvSpPr>
        <p:spPr>
          <a:xfrm>
            <a:off x="618998" y="1728597"/>
            <a:ext cx="1468987" cy="276324"/>
          </a:xfrm>
          <a:prstGeom prst="roundRect">
            <a:avLst>
              <a:gd name="adj" fmla="val 49981"/>
            </a:avLst>
          </a:prstGeom>
          <a:solidFill>
            <a:srgbClr val="C9A227">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720471" y="1779397"/>
            <a:ext cx="1392389" cy="1747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77"/>
              </a:lnSpc>
            </a:pPr>
            <a:r>
              <a:rPr lang="en-US" sz="1020" b="1" i="0" spc="51" dirty="0">
                <a:solidFill>
                  <a:srgbClr val="1F1F1F"/>
                </a:solidFill>
                <a:latin typeface="Open Sans"/>
              </a:rPr>
              <a:t>TENNESSEE · 2024</a:t>
            </a:r>
            <a:endParaRPr lang="en-US"/>
          </a:p>
        </p:txBody>
      </p:sp>
      <p:sp>
        <p:nvSpPr>
          <p:cNvPr id="12" name="Rectangle">
            <a:extLst>
              <a:ext uri="{FF2B5EF4-FFF2-40B4-BE49-F238E27FC236}">
                <a16:creationId xmlns:a16="http://schemas.microsoft.com/office/drawing/2014/main" id="{A0C957D4-E4F1-4D51-EC0C-C161461E948E}"/>
              </a:ext>
            </a:extLst>
          </p:cNvPr>
          <p:cNvSpPr/>
          <p:nvPr/>
        </p:nvSpPr>
        <p:spPr>
          <a:xfrm>
            <a:off x="618998" y="2131822"/>
            <a:ext cx="249392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ELVIS Act</a:t>
            </a: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618998" y="2431288"/>
            <a:ext cx="2273554" cy="6988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76"/>
              </a:lnSpc>
            </a:pPr>
            <a:r>
              <a:rPr lang="en-US" sz="1020" b="0" i="0" dirty="0">
                <a:solidFill>
                  <a:srgbClr val="1F1F1F"/>
                </a:solidFill>
                <a:latin typeface="Open Sans"/>
              </a:rPr>
              <a:t>Expands state publicity rights to include </a:t>
            </a:r>
            <a:r>
              <a:rPr lang="en-US" sz="1020" b="1" i="0" dirty="0">
                <a:solidFill>
                  <a:srgbClr val="1F1F1F"/>
                </a:solidFill>
                <a:latin typeface="Open Sans"/>
              </a:rPr>
              <a:t>voice</a:t>
            </a:r>
            <a:r>
              <a:rPr lang="en-US" sz="1020" b="0" i="0" dirty="0">
                <a:solidFill>
                  <a:srgbClr val="1F1F1F"/>
                </a:solidFill>
                <a:latin typeface="Open Sans"/>
              </a:rPr>
              <a:t> as a protected property right, explicitly targeting AI voice cloning.</a:t>
            </a:r>
            <a:endParaRPr lang="en-US"/>
          </a:p>
        </p:txBody>
      </p:sp>
      <p:sp>
        <p:nvSpPr>
          <p:cNvPr id="14" name="RoundedRectangle">
            <a:extLst>
              <a:ext uri="{FF2B5EF4-FFF2-40B4-BE49-F238E27FC236}">
                <a16:creationId xmlns:a16="http://schemas.microsoft.com/office/drawing/2014/main" id="{A0C957D4-E4F1-4D51-EC0C-C161461E948E}"/>
              </a:ext>
            </a:extLst>
          </p:cNvPr>
          <p:cNvSpPr/>
          <p:nvPr/>
        </p:nvSpPr>
        <p:spPr>
          <a:xfrm>
            <a:off x="3251200" y="1528572"/>
            <a:ext cx="2641895" cy="2381250"/>
          </a:xfrm>
          <a:prstGeom prst="roundRect">
            <a:avLst>
              <a:gd name="adj" fmla="val 4266"/>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Rectangle">
            <a:extLst>
              <a:ext uri="{FF2B5EF4-FFF2-40B4-BE49-F238E27FC236}">
                <a16:creationId xmlns:a16="http://schemas.microsoft.com/office/drawing/2014/main" id="{A0C957D4-E4F1-4D51-EC0C-C161461E948E}"/>
              </a:ext>
            </a:extLst>
          </p:cNvPr>
          <p:cNvSpPr/>
          <p:nvPr/>
        </p:nvSpPr>
        <p:spPr>
          <a:xfrm>
            <a:off x="3255962" y="1533334"/>
            <a:ext cx="2632370" cy="2371725"/>
          </a:xfrm>
          <a:prstGeom prst="roundRect">
            <a:avLst>
              <a:gd name="adj" fmla="val 4082"/>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Rectangle">
            <a:extLst>
              <a:ext uri="{FF2B5EF4-FFF2-40B4-BE49-F238E27FC236}">
                <a16:creationId xmlns:a16="http://schemas.microsoft.com/office/drawing/2014/main" id="{A0C957D4-E4F1-4D51-EC0C-C161461E948E}"/>
              </a:ext>
            </a:extLst>
          </p:cNvPr>
          <p:cNvSpPr/>
          <p:nvPr/>
        </p:nvSpPr>
        <p:spPr>
          <a:xfrm>
            <a:off x="3438398" y="1728597"/>
            <a:ext cx="1539081" cy="276324"/>
          </a:xfrm>
          <a:prstGeom prst="roundRect">
            <a:avLst>
              <a:gd name="adj" fmla="val 49981"/>
            </a:avLst>
          </a:prstGeom>
          <a:solidFill>
            <a:srgbClr val="C9A227">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a:extLst>
              <a:ext uri="{FF2B5EF4-FFF2-40B4-BE49-F238E27FC236}">
                <a16:creationId xmlns:a16="http://schemas.microsoft.com/office/drawing/2014/main" id="{A0C957D4-E4F1-4D51-EC0C-C161461E948E}"/>
              </a:ext>
            </a:extLst>
          </p:cNvPr>
          <p:cNvSpPr/>
          <p:nvPr/>
        </p:nvSpPr>
        <p:spPr>
          <a:xfrm>
            <a:off x="3539871" y="1779397"/>
            <a:ext cx="1469504" cy="1747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77"/>
              </a:lnSpc>
            </a:pPr>
            <a:r>
              <a:rPr lang="en-US" sz="1020" b="1" i="0" spc="51" dirty="0">
                <a:solidFill>
                  <a:srgbClr val="1F1F1F"/>
                </a:solidFill>
                <a:latin typeface="Open Sans"/>
              </a:rPr>
              <a:t>U.S. SENATE · 2023</a:t>
            </a: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3438398" y="2131822"/>
            <a:ext cx="249392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NO FAKES Act</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3438398" y="2421763"/>
            <a:ext cx="19970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76"/>
              </a:lnSpc>
            </a:pPr>
            <a:r>
              <a:rPr lang="en-US" sz="1020" b="0" i="0" dirty="0">
                <a:solidFill>
                  <a:srgbClr val="1F1F1F"/>
                </a:solidFill>
                <a:latin typeface="Open Sans"/>
              </a:rPr>
              <a:t>Proposes federal protection for</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3438398" y="2596515"/>
            <a:ext cx="21113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76"/>
              </a:lnSpc>
            </a:pPr>
            <a:r>
              <a:rPr lang="en-US" sz="1020" b="0" i="0" dirty="0">
                <a:solidFill>
                  <a:srgbClr val="1F1F1F"/>
                </a:solidFill>
                <a:latin typeface="Open Sans"/>
              </a:rPr>
              <a:t>name, image, likeness, and voice</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3438398" y="2771140"/>
            <a:ext cx="21209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76"/>
              </a:lnSpc>
            </a:pPr>
            <a:r>
              <a:rPr lang="en-US" sz="1020" b="0" i="0" dirty="0">
                <a:solidFill>
                  <a:srgbClr val="1F1F1F"/>
                </a:solidFill>
                <a:latin typeface="Open Sans"/>
              </a:rPr>
              <a:t>against unauthorized AI replicas.</a:t>
            </a:r>
            <a:endParaRPr lang="en-US"/>
          </a:p>
        </p:txBody>
      </p:sp>
      <p:sp>
        <p:nvSpPr>
          <p:cNvPr id="22" name="RoundedRectangle">
            <a:extLst>
              <a:ext uri="{FF2B5EF4-FFF2-40B4-BE49-F238E27FC236}">
                <a16:creationId xmlns:a16="http://schemas.microsoft.com/office/drawing/2014/main" id="{A0C957D4-E4F1-4D51-EC0C-C161461E948E}"/>
              </a:ext>
            </a:extLst>
          </p:cNvPr>
          <p:cNvSpPr/>
          <p:nvPr/>
        </p:nvSpPr>
        <p:spPr>
          <a:xfrm>
            <a:off x="6070600" y="1528572"/>
            <a:ext cx="2641895" cy="2381250"/>
          </a:xfrm>
          <a:prstGeom prst="roundRect">
            <a:avLst>
              <a:gd name="adj" fmla="val 4266"/>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Rectangle">
            <a:extLst>
              <a:ext uri="{FF2B5EF4-FFF2-40B4-BE49-F238E27FC236}">
                <a16:creationId xmlns:a16="http://schemas.microsoft.com/office/drawing/2014/main" id="{A0C957D4-E4F1-4D51-EC0C-C161461E948E}"/>
              </a:ext>
            </a:extLst>
          </p:cNvPr>
          <p:cNvSpPr/>
          <p:nvPr/>
        </p:nvSpPr>
        <p:spPr>
          <a:xfrm>
            <a:off x="6075362" y="1533334"/>
            <a:ext cx="2632370" cy="2371725"/>
          </a:xfrm>
          <a:prstGeom prst="roundRect">
            <a:avLst>
              <a:gd name="adj" fmla="val 4082"/>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Rectangle">
            <a:extLst>
              <a:ext uri="{FF2B5EF4-FFF2-40B4-BE49-F238E27FC236}">
                <a16:creationId xmlns:a16="http://schemas.microsoft.com/office/drawing/2014/main" id="{A0C957D4-E4F1-4D51-EC0C-C161461E948E}"/>
              </a:ext>
            </a:extLst>
          </p:cNvPr>
          <p:cNvSpPr/>
          <p:nvPr/>
        </p:nvSpPr>
        <p:spPr>
          <a:xfrm>
            <a:off x="6257798" y="1728597"/>
            <a:ext cx="1494428" cy="276324"/>
          </a:xfrm>
          <a:prstGeom prst="roundRect">
            <a:avLst>
              <a:gd name="adj" fmla="val 49981"/>
            </a:avLst>
          </a:prstGeom>
          <a:solidFill>
            <a:srgbClr val="C9A227">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6359271" y="1779397"/>
            <a:ext cx="1420329" cy="1747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77"/>
              </a:lnSpc>
            </a:pPr>
            <a:r>
              <a:rPr lang="en-US" sz="1020" b="1" i="0" spc="51" dirty="0">
                <a:solidFill>
                  <a:srgbClr val="1F1F1F"/>
                </a:solidFill>
                <a:latin typeface="Open Sans"/>
              </a:rPr>
              <a:t>U.S. HOUSE · 2024</a:t>
            </a:r>
            <a:endParaRPr lang="en-US"/>
          </a:p>
        </p:txBody>
      </p:sp>
      <p:sp>
        <p:nvSpPr>
          <p:cNvPr id="26" name="Rectangle">
            <a:extLst>
              <a:ext uri="{FF2B5EF4-FFF2-40B4-BE49-F238E27FC236}">
                <a16:creationId xmlns:a16="http://schemas.microsoft.com/office/drawing/2014/main" id="{A0C957D4-E4F1-4D51-EC0C-C161461E948E}"/>
              </a:ext>
            </a:extLst>
          </p:cNvPr>
          <p:cNvSpPr/>
          <p:nvPr/>
        </p:nvSpPr>
        <p:spPr>
          <a:xfrm>
            <a:off x="6257798" y="2131822"/>
            <a:ext cx="249392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No AI FRAUD Act</a:t>
            </a:r>
            <a:endParaRPr lang="en-US"/>
          </a:p>
        </p:txBody>
      </p:sp>
      <p:sp>
        <p:nvSpPr>
          <p:cNvPr id="27" name="Rectangle">
            <a:extLst>
              <a:ext uri="{FF2B5EF4-FFF2-40B4-BE49-F238E27FC236}">
                <a16:creationId xmlns:a16="http://schemas.microsoft.com/office/drawing/2014/main" id="{A0C957D4-E4F1-4D51-EC0C-C161461E948E}"/>
              </a:ext>
            </a:extLst>
          </p:cNvPr>
          <p:cNvSpPr/>
          <p:nvPr/>
        </p:nvSpPr>
        <p:spPr>
          <a:xfrm>
            <a:off x="6257798" y="2421763"/>
            <a:ext cx="15684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76"/>
              </a:lnSpc>
            </a:pPr>
            <a:r>
              <a:rPr lang="en-US" sz="1020" b="0" i="0" dirty="0">
                <a:solidFill>
                  <a:srgbClr val="1F1F1F"/>
                </a:solidFill>
                <a:latin typeface="Open Sans"/>
              </a:rPr>
              <a:t>Builds toward a national</a:t>
            </a:r>
            <a:endParaRPr lang="en-US"/>
          </a:p>
        </p:txBody>
      </p:sp>
      <p:sp>
        <p:nvSpPr>
          <p:cNvPr id="28" name="Rectangle">
            <a:extLst>
              <a:ext uri="{FF2B5EF4-FFF2-40B4-BE49-F238E27FC236}">
                <a16:creationId xmlns:a16="http://schemas.microsoft.com/office/drawing/2014/main" id="{A0C957D4-E4F1-4D51-EC0C-C161461E948E}"/>
              </a:ext>
            </a:extLst>
          </p:cNvPr>
          <p:cNvSpPr/>
          <p:nvPr/>
        </p:nvSpPr>
        <p:spPr>
          <a:xfrm>
            <a:off x="6257798" y="2596515"/>
            <a:ext cx="22066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76"/>
              </a:lnSpc>
            </a:pPr>
            <a:r>
              <a:rPr lang="en-US" sz="1020" b="0" i="0" dirty="0">
                <a:solidFill>
                  <a:srgbClr val="1F1F1F"/>
                </a:solidFill>
                <a:latin typeface="Open Sans"/>
              </a:rPr>
              <a:t>framework with voice and likeness</a:t>
            </a:r>
            <a:endParaRPr lang="en-US"/>
          </a:p>
        </p:txBody>
      </p:sp>
      <p:sp>
        <p:nvSpPr>
          <p:cNvPr id="29" name="Rectangle">
            <a:extLst>
              <a:ext uri="{FF2B5EF4-FFF2-40B4-BE49-F238E27FC236}">
                <a16:creationId xmlns:a16="http://schemas.microsoft.com/office/drawing/2014/main" id="{A0C957D4-E4F1-4D51-EC0C-C161461E948E}"/>
              </a:ext>
            </a:extLst>
          </p:cNvPr>
          <p:cNvSpPr/>
          <p:nvPr/>
        </p:nvSpPr>
        <p:spPr>
          <a:xfrm>
            <a:off x="6257798" y="2771140"/>
            <a:ext cx="21875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76"/>
              </a:lnSpc>
            </a:pPr>
            <a:r>
              <a:rPr lang="en-US" sz="1020" b="0" i="0" dirty="0">
                <a:solidFill>
                  <a:srgbClr val="1F1F1F"/>
                </a:solidFill>
                <a:latin typeface="Open Sans"/>
              </a:rPr>
              <a:t>protections plus First Amendment</a:t>
            </a:r>
            <a:endParaRPr lang="en-US"/>
          </a:p>
        </p:txBody>
      </p:sp>
      <p:sp>
        <p:nvSpPr>
          <p:cNvPr id="30" name="Rectangle">
            <a:extLst>
              <a:ext uri="{FF2B5EF4-FFF2-40B4-BE49-F238E27FC236}">
                <a16:creationId xmlns:a16="http://schemas.microsoft.com/office/drawing/2014/main" id="{A0C957D4-E4F1-4D51-EC0C-C161461E948E}"/>
              </a:ext>
            </a:extLst>
          </p:cNvPr>
          <p:cNvSpPr/>
          <p:nvPr/>
        </p:nvSpPr>
        <p:spPr>
          <a:xfrm>
            <a:off x="6257798" y="2945892"/>
            <a:ext cx="7112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76"/>
              </a:lnSpc>
            </a:pPr>
            <a:r>
              <a:rPr lang="en-US" sz="1020" b="0" i="0" dirty="0">
                <a:solidFill>
                  <a:srgbClr val="1F1F1F"/>
                </a:solidFill>
                <a:latin typeface="Open Sans"/>
              </a:rPr>
              <a:t>carve-outs.</a:t>
            </a:r>
            <a:endParaRPr lang="en-US"/>
          </a:p>
        </p:txBody>
      </p:sp>
      <p:sp>
        <p:nvSpPr>
          <p:cNvPr id="31" name="RoundedRectangle">
            <a:extLst>
              <a:ext uri="{FF2B5EF4-FFF2-40B4-BE49-F238E27FC236}">
                <a16:creationId xmlns:a16="http://schemas.microsoft.com/office/drawing/2014/main" id="{A0C957D4-E4F1-4D51-EC0C-C161461E948E}"/>
              </a:ext>
            </a:extLst>
          </p:cNvPr>
          <p:cNvSpPr/>
          <p:nvPr/>
        </p:nvSpPr>
        <p:spPr>
          <a:xfrm>
            <a:off x="431800" y="4087622"/>
            <a:ext cx="8280602" cy="651271"/>
          </a:xfrm>
          <a:prstGeom prst="roundRect">
            <a:avLst>
              <a:gd name="adj" fmla="val 15600"/>
            </a:avLst>
          </a:prstGeom>
          <a:solidFill>
            <a:srgbClr val="1F1F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a:extLst>
              <a:ext uri="{FF2B5EF4-FFF2-40B4-BE49-F238E27FC236}">
                <a16:creationId xmlns:a16="http://schemas.microsoft.com/office/drawing/2014/main" id="{A0C957D4-E4F1-4D51-EC0C-C161461E948E}"/>
              </a:ext>
            </a:extLst>
          </p:cNvPr>
          <p:cNvSpPr/>
          <p:nvPr/>
        </p:nvSpPr>
        <p:spPr>
          <a:xfrm>
            <a:off x="634873" y="4230497"/>
            <a:ext cx="73596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F6F2EA"/>
                </a:solidFill>
                <a:latin typeface="Open Sans"/>
              </a:rPr>
              <a:t>Patchwork law means ethical responsibility cannot be outsourced to compliance alone; system designers still make</a:t>
            </a:r>
            <a:endParaRPr lang="en-US"/>
          </a:p>
        </p:txBody>
      </p:sp>
      <p:sp>
        <p:nvSpPr>
          <p:cNvPr id="33" name="Rectangle">
            <a:extLst>
              <a:ext uri="{FF2B5EF4-FFF2-40B4-BE49-F238E27FC236}">
                <a16:creationId xmlns:a16="http://schemas.microsoft.com/office/drawing/2014/main" id="{A0C957D4-E4F1-4D51-EC0C-C161461E948E}"/>
              </a:ext>
            </a:extLst>
          </p:cNvPr>
          <p:cNvSpPr/>
          <p:nvPr/>
        </p:nvSpPr>
        <p:spPr>
          <a:xfrm>
            <a:off x="634873" y="4403725"/>
            <a:ext cx="14636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F6F2EA"/>
                </a:solidFill>
                <a:latin typeface="Open Sans"/>
              </a:rPr>
              <a:t>consequential choices.</a:t>
            </a:r>
            <a:endParaRPr lang="en-US"/>
          </a:p>
        </p:txBody>
      </p:sp>
    </p:spTree>
    <p:extLst>
      <p:ext uri="{BB962C8B-B14F-4D97-AF65-F5344CB8AC3E}">
        <p14:creationId xmlns:p14="http://schemas.microsoft.com/office/powerpoint/2010/main" val="945381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5"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ectangle">
            <a:extLst>
              <a:ext uri="{FF2B5EF4-FFF2-40B4-BE49-F238E27FC236}">
                <a16:creationId xmlns:a16="http://schemas.microsoft.com/office/drawing/2014/main" id="{A0C957D4-E4F1-4D51-EC0C-C161461E948E}"/>
              </a:ext>
            </a:extLst>
          </p:cNvPr>
          <p:cNvSpPr/>
          <p:nvPr/>
        </p:nvSpPr>
        <p:spPr>
          <a:xfrm>
            <a:off x="7543800" y="457200"/>
            <a:ext cx="1173480" cy="8716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17348" rIns="0" bIns="0" rtlCol="0" anchor="t"/>
          <a:lstStyle/>
          <a:p>
            <a:pPr algn="l">
              <a:lnSpc>
                <a:spcPts val="5940"/>
              </a:lnSpc>
            </a:pPr>
            <a:r>
              <a:rPr lang="en-US" sz="6600" b="1" i="0" dirty="0">
                <a:solidFill>
                  <a:srgbClr val="6B2D5C">
                    <a:alpha val="12000"/>
                  </a:srgbClr>
                </a:solidFill>
                <a:latin typeface="Montserrat"/>
              </a:rPr>
              <a:t>05</a:t>
            </a: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711073" y="1207135"/>
            <a:ext cx="8494039"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20"/>
              </a:lnSpc>
            </a:pPr>
            <a:r>
              <a:rPr lang="en-US" sz="1100" b="1" i="0" spc="132" dirty="0">
                <a:solidFill>
                  <a:srgbClr val="6B2D5C"/>
                </a:solidFill>
                <a:latin typeface="Montserrat"/>
              </a:rPr>
              <a:t>ETHICS OF AI MUSIC CREATION</a:t>
            </a:r>
            <a:endParaRPr lang="en-US"/>
          </a:p>
        </p:txBody>
      </p:sp>
      <p:sp>
        <p:nvSpPr>
          <p:cNvPr id="7" name="RoundedRectangle">
            <a:extLst>
              <a:ext uri="{FF2B5EF4-FFF2-40B4-BE49-F238E27FC236}">
                <a16:creationId xmlns:a16="http://schemas.microsoft.com/office/drawing/2014/main" id="{A0C957D4-E4F1-4D51-EC0C-C161461E948E}"/>
              </a:ext>
            </a:extLst>
          </p:cNvPr>
          <p:cNvSpPr/>
          <p:nvPr/>
        </p:nvSpPr>
        <p:spPr>
          <a:xfrm>
            <a:off x="711073" y="1505585"/>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a:extLst>
              <a:ext uri="{FF2B5EF4-FFF2-40B4-BE49-F238E27FC236}">
                <a16:creationId xmlns:a16="http://schemas.microsoft.com/office/drawing/2014/main" id="{A0C957D4-E4F1-4D51-EC0C-C161461E948E}"/>
              </a:ext>
            </a:extLst>
          </p:cNvPr>
          <p:cNvSpPr/>
          <p:nvPr/>
        </p:nvSpPr>
        <p:spPr>
          <a:xfrm>
            <a:off x="711073" y="1784858"/>
            <a:ext cx="8242160" cy="4944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5146" rIns="0" bIns="0" rtlCol="0" anchor="t"/>
          <a:lstStyle/>
          <a:p>
            <a:pPr algn="l">
              <a:lnSpc>
                <a:spcPts val="3696"/>
              </a:lnSpc>
            </a:pPr>
            <a:r>
              <a:rPr lang="en-US" sz="3300" b="1" i="0" spc="-66" dirty="0">
                <a:solidFill>
                  <a:srgbClr val="1F1F1F"/>
                </a:solidFill>
                <a:latin typeface="Montserrat"/>
              </a:rPr>
              <a:t>Ethics of AI Music Creation</a:t>
            </a: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711073" y="2377186"/>
            <a:ext cx="6931025"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5"/>
              </a:lnSpc>
            </a:pPr>
            <a:r>
              <a:rPr lang="en-US" sz="1300" b="0" i="0" dirty="0">
                <a:solidFill>
                  <a:srgbClr val="5B5B5B"/>
                </a:solidFill>
                <a:latin typeface="Open Sans"/>
              </a:rPr>
              <a:t>After capability and law, the harder questions are about power, recognition, labor, and cultural</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711073" y="2600071"/>
            <a:ext cx="69215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5"/>
              </a:lnSpc>
            </a:pPr>
            <a:r>
              <a:rPr lang="en-US" sz="1300" b="0" i="0" dirty="0">
                <a:solidFill>
                  <a:srgbClr val="5B5B5B"/>
                </a:solidFill>
                <a:latin typeface="Open Sans"/>
              </a:rPr>
              <a:t>memory.</a:t>
            </a:r>
            <a:endParaRPr lang="en-US"/>
          </a:p>
        </p:txBody>
      </p:sp>
      <p:sp>
        <p:nvSpPr>
          <p:cNvPr id="11" name="RoundedRectangle">
            <a:extLst>
              <a:ext uri="{FF2B5EF4-FFF2-40B4-BE49-F238E27FC236}">
                <a16:creationId xmlns:a16="http://schemas.microsoft.com/office/drawing/2014/main" id="{A0C957D4-E4F1-4D51-EC0C-C161461E948E}"/>
              </a:ext>
            </a:extLst>
          </p:cNvPr>
          <p:cNvSpPr/>
          <p:nvPr/>
        </p:nvSpPr>
        <p:spPr>
          <a:xfrm>
            <a:off x="711073" y="3207639"/>
            <a:ext cx="7385050" cy="931664"/>
          </a:xfrm>
          <a:prstGeom prst="roundRect">
            <a:avLst>
              <a:gd name="adj" fmla="val 16357"/>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Rectangle">
            <a:extLst>
              <a:ext uri="{FF2B5EF4-FFF2-40B4-BE49-F238E27FC236}">
                <a16:creationId xmlns:a16="http://schemas.microsoft.com/office/drawing/2014/main" id="{A0C957D4-E4F1-4D51-EC0C-C161461E948E}"/>
              </a:ext>
            </a:extLst>
          </p:cNvPr>
          <p:cNvSpPr/>
          <p:nvPr/>
        </p:nvSpPr>
        <p:spPr>
          <a:xfrm>
            <a:off x="715835" y="3212401"/>
            <a:ext cx="7375525" cy="922139"/>
          </a:xfrm>
          <a:prstGeom prst="roundRect">
            <a:avLst>
              <a:gd name="adj" fmla="val 1601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974471" y="3416427"/>
            <a:ext cx="642620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93"/>
              </a:lnSpc>
            </a:pPr>
            <a:r>
              <a:rPr lang="en-US" sz="1300" b="0" i="0" dirty="0">
                <a:solidFill>
                  <a:srgbClr val="1F1F1F"/>
                </a:solidFill>
                <a:latin typeface="Open Sans"/>
              </a:rPr>
              <a:t>Some uses may be legal, impressive, and still ethically troubling. That is exactly why this</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974471" y="3644138"/>
            <a:ext cx="158750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93"/>
              </a:lnSpc>
            </a:pPr>
            <a:r>
              <a:rPr lang="en-US" sz="1300" b="0" i="0" dirty="0">
                <a:solidFill>
                  <a:srgbClr val="1F1F1F"/>
                </a:solidFill>
                <a:latin typeface="Open Sans"/>
              </a:rPr>
              <a:t>belongs in MSDS 690.</a:t>
            </a:r>
            <a:endParaRPr lang="en-US"/>
          </a:p>
        </p:txBody>
      </p:sp>
    </p:spTree>
    <p:extLst>
      <p:ext uri="{BB962C8B-B14F-4D97-AF65-F5344CB8AC3E}">
        <p14:creationId xmlns:p14="http://schemas.microsoft.com/office/powerpoint/2010/main" val="945381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36"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oundedRectangle">
            <a:extLst>
              <a:ext uri="{FF2B5EF4-FFF2-40B4-BE49-F238E27FC236}">
                <a16:creationId xmlns:a16="http://schemas.microsoft.com/office/drawing/2014/main" id="{A0C957D4-E4F1-4D51-EC0C-C161461E948E}"/>
              </a:ext>
            </a:extLst>
          </p:cNvPr>
          <p:cNvSpPr/>
          <p:nvPr/>
        </p:nvSpPr>
        <p:spPr>
          <a:xfrm>
            <a:off x="431800" y="4318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431800" y="660146"/>
            <a:ext cx="9108579"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spc="-48" dirty="0">
                <a:solidFill>
                  <a:srgbClr val="1F1F1F"/>
                </a:solidFill>
                <a:latin typeface="Montserrat"/>
              </a:rPr>
              <a:t>Four Ethical Fault Lines</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431800" y="1102995"/>
            <a:ext cx="8661260" cy="197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52"/>
              </a:lnSpc>
            </a:pPr>
            <a:r>
              <a:rPr lang="en-US" sz="1150" b="0" i="0" dirty="0">
                <a:solidFill>
                  <a:srgbClr val="5B5B5B"/>
                </a:solidFill>
                <a:latin typeface="Open Sans"/>
              </a:rPr>
              <a:t>The central tensions are about consent, authorship, cultural extraction, and labor—not just model performance.</a:t>
            </a: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431800" y="1528572"/>
            <a:ext cx="4051502" cy="1708150"/>
          </a:xfrm>
          <a:prstGeom prst="roundRect">
            <a:avLst>
              <a:gd name="adj" fmla="val 5947"/>
            </a:avLst>
          </a:prstGeom>
          <a:solidFill>
            <a:srgbClr val="EEE6D6"/>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Rectangle">
            <a:extLst>
              <a:ext uri="{FF2B5EF4-FFF2-40B4-BE49-F238E27FC236}">
                <a16:creationId xmlns:a16="http://schemas.microsoft.com/office/drawing/2014/main" id="{A0C957D4-E4F1-4D51-EC0C-C161461E948E}"/>
              </a:ext>
            </a:extLst>
          </p:cNvPr>
          <p:cNvSpPr/>
          <p:nvPr/>
        </p:nvSpPr>
        <p:spPr>
          <a:xfrm>
            <a:off x="436562" y="1533334"/>
            <a:ext cx="4041977" cy="1698625"/>
          </a:xfrm>
          <a:prstGeom prst="roundRect">
            <a:avLst>
              <a:gd name="adj" fmla="val 57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Rectangle">
            <a:extLst>
              <a:ext uri="{FF2B5EF4-FFF2-40B4-BE49-F238E27FC236}">
                <a16:creationId xmlns:a16="http://schemas.microsoft.com/office/drawing/2014/main" id="{A0C957D4-E4F1-4D51-EC0C-C161461E948E}"/>
              </a:ext>
            </a:extLst>
          </p:cNvPr>
          <p:cNvSpPr/>
          <p:nvPr/>
        </p:nvSpPr>
        <p:spPr>
          <a:xfrm>
            <a:off x="644398" y="1715897"/>
            <a:ext cx="304800" cy="30480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773049" y="1777365"/>
            <a:ext cx="52387" cy="181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31"/>
              </a:lnSpc>
            </a:pPr>
            <a:r>
              <a:rPr lang="en-US" sz="1060" b="1" i="0" dirty="0">
                <a:solidFill>
                  <a:srgbClr val="F6F2EA"/>
                </a:solidFill>
                <a:latin typeface="Montserrat"/>
              </a:rPr>
              <a:t>1</a:t>
            </a:r>
            <a:endParaRPr lang="en-US"/>
          </a:p>
        </p:txBody>
      </p:sp>
      <p:sp>
        <p:nvSpPr>
          <p:cNvPr id="12" name="Rectangle">
            <a:extLst>
              <a:ext uri="{FF2B5EF4-FFF2-40B4-BE49-F238E27FC236}">
                <a16:creationId xmlns:a16="http://schemas.microsoft.com/office/drawing/2014/main" id="{A0C957D4-E4F1-4D51-EC0C-C161461E948E}"/>
              </a:ext>
            </a:extLst>
          </p:cNvPr>
          <p:cNvSpPr/>
          <p:nvPr/>
        </p:nvSpPr>
        <p:spPr>
          <a:xfrm>
            <a:off x="1063498" y="1769237"/>
            <a:ext cx="2095500"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Consent &amp; voice rights</a:t>
            </a: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644398" y="2122170"/>
            <a:ext cx="33496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Can creators' voices or catalogs be used to train and</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644398" y="2303907"/>
            <a:ext cx="19113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generate without permission?</a:t>
            </a:r>
            <a:endParaRPr lang="en-US"/>
          </a:p>
        </p:txBody>
      </p:sp>
      <p:sp>
        <p:nvSpPr>
          <p:cNvPr id="15" name="RoundedRectangle">
            <a:extLst>
              <a:ext uri="{FF2B5EF4-FFF2-40B4-BE49-F238E27FC236}">
                <a16:creationId xmlns:a16="http://schemas.microsoft.com/office/drawing/2014/main" id="{A0C957D4-E4F1-4D51-EC0C-C161461E948E}"/>
              </a:ext>
            </a:extLst>
          </p:cNvPr>
          <p:cNvSpPr/>
          <p:nvPr/>
        </p:nvSpPr>
        <p:spPr>
          <a:xfrm>
            <a:off x="4660900" y="1528572"/>
            <a:ext cx="4051502" cy="1708150"/>
          </a:xfrm>
          <a:prstGeom prst="roundRect">
            <a:avLst>
              <a:gd name="adj" fmla="val 5947"/>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Rectangle">
            <a:extLst>
              <a:ext uri="{FF2B5EF4-FFF2-40B4-BE49-F238E27FC236}">
                <a16:creationId xmlns:a16="http://schemas.microsoft.com/office/drawing/2014/main" id="{A0C957D4-E4F1-4D51-EC0C-C161461E948E}"/>
              </a:ext>
            </a:extLst>
          </p:cNvPr>
          <p:cNvSpPr/>
          <p:nvPr/>
        </p:nvSpPr>
        <p:spPr>
          <a:xfrm>
            <a:off x="4665662" y="1533334"/>
            <a:ext cx="4041977" cy="1698625"/>
          </a:xfrm>
          <a:prstGeom prst="roundRect">
            <a:avLst>
              <a:gd name="adj" fmla="val 57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Rectangle">
            <a:extLst>
              <a:ext uri="{FF2B5EF4-FFF2-40B4-BE49-F238E27FC236}">
                <a16:creationId xmlns:a16="http://schemas.microsoft.com/office/drawing/2014/main" id="{A0C957D4-E4F1-4D51-EC0C-C161461E948E}"/>
              </a:ext>
            </a:extLst>
          </p:cNvPr>
          <p:cNvSpPr/>
          <p:nvPr/>
        </p:nvSpPr>
        <p:spPr>
          <a:xfrm>
            <a:off x="4873498" y="1715897"/>
            <a:ext cx="304800" cy="30480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4987798" y="1777365"/>
            <a:ext cx="83820" cy="181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31"/>
              </a:lnSpc>
            </a:pPr>
            <a:r>
              <a:rPr lang="en-US" sz="1060" b="1" i="0" dirty="0">
                <a:solidFill>
                  <a:srgbClr val="F6F2EA"/>
                </a:solidFill>
                <a:latin typeface="Montserrat"/>
              </a:rPr>
              <a:t>2</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5292598" y="1769237"/>
            <a:ext cx="1823085"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Authorship &amp; credit</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4873498" y="2122170"/>
            <a:ext cx="34734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Who deserves recognition when AI drafts lyrics, beats,</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4873498" y="2303907"/>
            <a:ext cx="16827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vocals, or a finished track?</a:t>
            </a:r>
            <a:endParaRPr lang="en-US"/>
          </a:p>
        </p:txBody>
      </p:sp>
      <p:sp>
        <p:nvSpPr>
          <p:cNvPr id="22" name="RoundedRectangle">
            <a:extLst>
              <a:ext uri="{FF2B5EF4-FFF2-40B4-BE49-F238E27FC236}">
                <a16:creationId xmlns:a16="http://schemas.microsoft.com/office/drawing/2014/main" id="{A0C957D4-E4F1-4D51-EC0C-C161461E948E}"/>
              </a:ext>
            </a:extLst>
          </p:cNvPr>
          <p:cNvSpPr/>
          <p:nvPr/>
        </p:nvSpPr>
        <p:spPr>
          <a:xfrm>
            <a:off x="431800" y="3414268"/>
            <a:ext cx="4051502" cy="1708150"/>
          </a:xfrm>
          <a:prstGeom prst="roundRect">
            <a:avLst>
              <a:gd name="adj" fmla="val 5947"/>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Rectangle">
            <a:extLst>
              <a:ext uri="{FF2B5EF4-FFF2-40B4-BE49-F238E27FC236}">
                <a16:creationId xmlns:a16="http://schemas.microsoft.com/office/drawing/2014/main" id="{A0C957D4-E4F1-4D51-EC0C-C161461E948E}"/>
              </a:ext>
            </a:extLst>
          </p:cNvPr>
          <p:cNvSpPr/>
          <p:nvPr/>
        </p:nvSpPr>
        <p:spPr>
          <a:xfrm>
            <a:off x="436562" y="3419030"/>
            <a:ext cx="4041977" cy="1698625"/>
          </a:xfrm>
          <a:prstGeom prst="roundRect">
            <a:avLst>
              <a:gd name="adj" fmla="val 57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Rectangle">
            <a:extLst>
              <a:ext uri="{FF2B5EF4-FFF2-40B4-BE49-F238E27FC236}">
                <a16:creationId xmlns:a16="http://schemas.microsoft.com/office/drawing/2014/main" id="{A0C957D4-E4F1-4D51-EC0C-C161461E948E}"/>
              </a:ext>
            </a:extLst>
          </p:cNvPr>
          <p:cNvSpPr/>
          <p:nvPr/>
        </p:nvSpPr>
        <p:spPr>
          <a:xfrm>
            <a:off x="644398" y="3601466"/>
            <a:ext cx="304800" cy="30480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758698" y="3662934"/>
            <a:ext cx="83820" cy="181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31"/>
              </a:lnSpc>
            </a:pPr>
            <a:r>
              <a:rPr lang="en-US" sz="1060" b="1" i="0" dirty="0">
                <a:solidFill>
                  <a:srgbClr val="F6F2EA"/>
                </a:solidFill>
                <a:latin typeface="Montserrat"/>
              </a:rPr>
              <a:t>3</a:t>
            </a:r>
            <a:endParaRPr lang="en-US"/>
          </a:p>
        </p:txBody>
      </p:sp>
      <p:sp>
        <p:nvSpPr>
          <p:cNvPr id="26" name="Rectangle">
            <a:extLst>
              <a:ext uri="{FF2B5EF4-FFF2-40B4-BE49-F238E27FC236}">
                <a16:creationId xmlns:a16="http://schemas.microsoft.com/office/drawing/2014/main" id="{A0C957D4-E4F1-4D51-EC0C-C161461E948E}"/>
              </a:ext>
            </a:extLst>
          </p:cNvPr>
          <p:cNvSpPr/>
          <p:nvPr/>
        </p:nvSpPr>
        <p:spPr>
          <a:xfrm>
            <a:off x="1063498" y="3654933"/>
            <a:ext cx="1885950"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Cultural exploitation</a:t>
            </a:r>
            <a:endParaRPr lang="en-US"/>
          </a:p>
        </p:txBody>
      </p:sp>
      <p:sp>
        <p:nvSpPr>
          <p:cNvPr id="27" name="Rectangle">
            <a:extLst>
              <a:ext uri="{FF2B5EF4-FFF2-40B4-BE49-F238E27FC236}">
                <a16:creationId xmlns:a16="http://schemas.microsoft.com/office/drawing/2014/main" id="{A0C957D4-E4F1-4D51-EC0C-C161461E948E}"/>
              </a:ext>
            </a:extLst>
          </p:cNvPr>
          <p:cNvSpPr/>
          <p:nvPr/>
        </p:nvSpPr>
        <p:spPr>
          <a:xfrm>
            <a:off x="644398" y="4007739"/>
            <a:ext cx="34258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Training on hip-hop without context or compensation</a:t>
            </a:r>
            <a:endParaRPr lang="en-US"/>
          </a:p>
        </p:txBody>
      </p:sp>
      <p:sp>
        <p:nvSpPr>
          <p:cNvPr id="28" name="Rectangle">
            <a:extLst>
              <a:ext uri="{FF2B5EF4-FFF2-40B4-BE49-F238E27FC236}">
                <a16:creationId xmlns:a16="http://schemas.microsoft.com/office/drawing/2014/main" id="{A0C957D4-E4F1-4D51-EC0C-C161461E948E}"/>
              </a:ext>
            </a:extLst>
          </p:cNvPr>
          <p:cNvSpPr/>
          <p:nvPr/>
        </p:nvSpPr>
        <p:spPr>
          <a:xfrm>
            <a:off x="644398" y="4189476"/>
            <a:ext cx="26162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can repeat extraction from Black culture.</a:t>
            </a:r>
            <a:endParaRPr lang="en-US"/>
          </a:p>
        </p:txBody>
      </p:sp>
      <p:sp>
        <p:nvSpPr>
          <p:cNvPr id="29" name="RoundedRectangle">
            <a:extLst>
              <a:ext uri="{FF2B5EF4-FFF2-40B4-BE49-F238E27FC236}">
                <a16:creationId xmlns:a16="http://schemas.microsoft.com/office/drawing/2014/main" id="{A0C957D4-E4F1-4D51-EC0C-C161461E948E}"/>
              </a:ext>
            </a:extLst>
          </p:cNvPr>
          <p:cNvSpPr/>
          <p:nvPr/>
        </p:nvSpPr>
        <p:spPr>
          <a:xfrm>
            <a:off x="4660900" y="3414268"/>
            <a:ext cx="4051502" cy="1708150"/>
          </a:xfrm>
          <a:prstGeom prst="roundRect">
            <a:avLst>
              <a:gd name="adj" fmla="val 5947"/>
            </a:avLst>
          </a:prstGeom>
          <a:solidFill>
            <a:srgbClr val="EEE6D6"/>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Rectangle">
            <a:extLst>
              <a:ext uri="{FF2B5EF4-FFF2-40B4-BE49-F238E27FC236}">
                <a16:creationId xmlns:a16="http://schemas.microsoft.com/office/drawing/2014/main" id="{A0C957D4-E4F1-4D51-EC0C-C161461E948E}"/>
              </a:ext>
            </a:extLst>
          </p:cNvPr>
          <p:cNvSpPr/>
          <p:nvPr/>
        </p:nvSpPr>
        <p:spPr>
          <a:xfrm>
            <a:off x="4665662" y="3419030"/>
            <a:ext cx="4041977" cy="1698625"/>
          </a:xfrm>
          <a:prstGeom prst="roundRect">
            <a:avLst>
              <a:gd name="adj" fmla="val 570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Rectangle">
            <a:extLst>
              <a:ext uri="{FF2B5EF4-FFF2-40B4-BE49-F238E27FC236}">
                <a16:creationId xmlns:a16="http://schemas.microsoft.com/office/drawing/2014/main" id="{A0C957D4-E4F1-4D51-EC0C-C161461E948E}"/>
              </a:ext>
            </a:extLst>
          </p:cNvPr>
          <p:cNvSpPr/>
          <p:nvPr/>
        </p:nvSpPr>
        <p:spPr>
          <a:xfrm>
            <a:off x="4873498" y="3601466"/>
            <a:ext cx="304800" cy="304800"/>
          </a:xfrm>
          <a:prstGeom prst="roundRect">
            <a:avLst>
              <a:gd name="adj" fmla="val 50000"/>
            </a:avLst>
          </a:prstGeom>
          <a:solidFill>
            <a:srgbClr val="6B2D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a:extLst>
              <a:ext uri="{FF2B5EF4-FFF2-40B4-BE49-F238E27FC236}">
                <a16:creationId xmlns:a16="http://schemas.microsoft.com/office/drawing/2014/main" id="{A0C957D4-E4F1-4D51-EC0C-C161461E948E}"/>
              </a:ext>
            </a:extLst>
          </p:cNvPr>
          <p:cNvSpPr/>
          <p:nvPr/>
        </p:nvSpPr>
        <p:spPr>
          <a:xfrm>
            <a:off x="4978273" y="3662934"/>
            <a:ext cx="104775" cy="181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31"/>
              </a:lnSpc>
            </a:pPr>
            <a:r>
              <a:rPr lang="en-US" sz="1060" b="1" i="0" dirty="0">
                <a:solidFill>
                  <a:srgbClr val="F6F2EA"/>
                </a:solidFill>
                <a:latin typeface="Montserrat"/>
              </a:rPr>
              <a:t>4</a:t>
            </a:r>
            <a:endParaRPr lang="en-US"/>
          </a:p>
        </p:txBody>
      </p:sp>
      <p:sp>
        <p:nvSpPr>
          <p:cNvPr id="33" name="Rectangle">
            <a:extLst>
              <a:ext uri="{FF2B5EF4-FFF2-40B4-BE49-F238E27FC236}">
                <a16:creationId xmlns:a16="http://schemas.microsoft.com/office/drawing/2014/main" id="{A0C957D4-E4F1-4D51-EC0C-C161461E948E}"/>
              </a:ext>
            </a:extLst>
          </p:cNvPr>
          <p:cNvSpPr/>
          <p:nvPr/>
        </p:nvSpPr>
        <p:spPr>
          <a:xfrm>
            <a:off x="5292598" y="3654933"/>
            <a:ext cx="1760220"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1F1F1F"/>
                </a:solidFill>
                <a:latin typeface="Montserrat"/>
              </a:rPr>
              <a:t>Labor &amp; livelihoods</a:t>
            </a:r>
            <a:endParaRPr lang="en-US"/>
          </a:p>
        </p:txBody>
      </p:sp>
      <p:sp>
        <p:nvSpPr>
          <p:cNvPr id="34" name="Rectangle">
            <a:extLst>
              <a:ext uri="{FF2B5EF4-FFF2-40B4-BE49-F238E27FC236}">
                <a16:creationId xmlns:a16="http://schemas.microsoft.com/office/drawing/2014/main" id="{A0C957D4-E4F1-4D51-EC0C-C161461E948E}"/>
              </a:ext>
            </a:extLst>
          </p:cNvPr>
          <p:cNvSpPr/>
          <p:nvPr/>
        </p:nvSpPr>
        <p:spPr>
          <a:xfrm>
            <a:off x="4873498" y="4007739"/>
            <a:ext cx="36163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Efficiency may lower barriers while compressing fees for</a:t>
            </a:r>
            <a:endParaRPr lang="en-US"/>
          </a:p>
        </p:txBody>
      </p:sp>
      <p:sp>
        <p:nvSpPr>
          <p:cNvPr id="35" name="Rectangle">
            <a:extLst>
              <a:ext uri="{FF2B5EF4-FFF2-40B4-BE49-F238E27FC236}">
                <a16:creationId xmlns:a16="http://schemas.microsoft.com/office/drawing/2014/main" id="{A0C957D4-E4F1-4D51-EC0C-C161461E948E}"/>
              </a:ext>
            </a:extLst>
          </p:cNvPr>
          <p:cNvSpPr/>
          <p:nvPr/>
        </p:nvSpPr>
        <p:spPr>
          <a:xfrm>
            <a:off x="4873498" y="4189476"/>
            <a:ext cx="24257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31"/>
              </a:lnSpc>
            </a:pPr>
            <a:r>
              <a:rPr lang="en-US" sz="1060" b="0" i="0" dirty="0">
                <a:solidFill>
                  <a:srgbClr val="1F1F1F"/>
                </a:solidFill>
                <a:latin typeface="Open Sans"/>
              </a:rPr>
              <a:t>producers, engineers, and musicians.</a:t>
            </a:r>
            <a:endParaRPr lang="en-US"/>
          </a:p>
        </p:txBody>
      </p:sp>
    </p:spTree>
    <p:extLst>
      <p:ext uri="{BB962C8B-B14F-4D97-AF65-F5344CB8AC3E}">
        <p14:creationId xmlns:p14="http://schemas.microsoft.com/office/powerpoint/2010/main" val="945381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5"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ectangle">
            <a:extLst>
              <a:ext uri="{FF2B5EF4-FFF2-40B4-BE49-F238E27FC236}">
                <a16:creationId xmlns:a16="http://schemas.microsoft.com/office/drawing/2014/main" id="{A0C957D4-E4F1-4D51-EC0C-C161461E948E}"/>
              </a:ext>
            </a:extLst>
          </p:cNvPr>
          <p:cNvSpPr/>
          <p:nvPr/>
        </p:nvSpPr>
        <p:spPr>
          <a:xfrm>
            <a:off x="7515225" y="457200"/>
            <a:ext cx="1204912" cy="8716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17348" rIns="0" bIns="0" rtlCol="0" anchor="t"/>
          <a:lstStyle/>
          <a:p>
            <a:pPr algn="l">
              <a:lnSpc>
                <a:spcPts val="5940"/>
              </a:lnSpc>
            </a:pPr>
            <a:r>
              <a:rPr lang="en-US" sz="6600" b="1" i="0" dirty="0">
                <a:solidFill>
                  <a:srgbClr val="6B2D5C">
                    <a:alpha val="12000"/>
                  </a:srgbClr>
                </a:solidFill>
                <a:latin typeface="Montserrat"/>
              </a:rPr>
              <a:t>06</a:t>
            </a:r>
            <a:endParaRPr lang="en-US" dirty="0"/>
          </a:p>
        </p:txBody>
      </p:sp>
      <p:sp>
        <p:nvSpPr>
          <p:cNvPr id="6" name="Rectangle">
            <a:extLst>
              <a:ext uri="{FF2B5EF4-FFF2-40B4-BE49-F238E27FC236}">
                <a16:creationId xmlns:a16="http://schemas.microsoft.com/office/drawing/2014/main" id="{A0C957D4-E4F1-4D51-EC0C-C161461E948E}"/>
              </a:ext>
            </a:extLst>
          </p:cNvPr>
          <p:cNvSpPr/>
          <p:nvPr/>
        </p:nvSpPr>
        <p:spPr>
          <a:xfrm>
            <a:off x="711073" y="1207135"/>
            <a:ext cx="8494039" cy="171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320"/>
              </a:lnSpc>
            </a:pPr>
            <a:r>
              <a:rPr lang="en-US" sz="1100" b="1" i="0" spc="132" dirty="0">
                <a:solidFill>
                  <a:srgbClr val="6B2D5C"/>
                </a:solidFill>
                <a:latin typeface="Montserrat"/>
              </a:rPr>
              <a:t>IMPLICATIONS FOR DATA SCIENTISTS</a:t>
            </a:r>
            <a:endParaRPr lang="en-US"/>
          </a:p>
        </p:txBody>
      </p:sp>
      <p:sp>
        <p:nvSpPr>
          <p:cNvPr id="7" name="RoundedRectangle">
            <a:extLst>
              <a:ext uri="{FF2B5EF4-FFF2-40B4-BE49-F238E27FC236}">
                <a16:creationId xmlns:a16="http://schemas.microsoft.com/office/drawing/2014/main" id="{A0C957D4-E4F1-4D51-EC0C-C161461E948E}"/>
              </a:ext>
            </a:extLst>
          </p:cNvPr>
          <p:cNvSpPr/>
          <p:nvPr/>
        </p:nvSpPr>
        <p:spPr>
          <a:xfrm>
            <a:off x="711073" y="1505585"/>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a:extLst>
              <a:ext uri="{FF2B5EF4-FFF2-40B4-BE49-F238E27FC236}">
                <a16:creationId xmlns:a16="http://schemas.microsoft.com/office/drawing/2014/main" id="{A0C957D4-E4F1-4D51-EC0C-C161461E948E}"/>
              </a:ext>
            </a:extLst>
          </p:cNvPr>
          <p:cNvSpPr/>
          <p:nvPr/>
        </p:nvSpPr>
        <p:spPr>
          <a:xfrm>
            <a:off x="711073" y="1784858"/>
            <a:ext cx="8494039" cy="4944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5146" rIns="0" bIns="0" rtlCol="0" anchor="t"/>
          <a:lstStyle/>
          <a:p>
            <a:pPr algn="l">
              <a:lnSpc>
                <a:spcPts val="3696"/>
              </a:lnSpc>
            </a:pPr>
            <a:r>
              <a:rPr lang="en-US" sz="3300" b="1" i="0" spc="-66" dirty="0">
                <a:solidFill>
                  <a:srgbClr val="1F1F1F"/>
                </a:solidFill>
                <a:latin typeface="Montserrat"/>
              </a:rPr>
              <a:t>Implications for Data Scientists</a:t>
            </a: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711073" y="2377186"/>
            <a:ext cx="690245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5"/>
              </a:lnSpc>
            </a:pPr>
            <a:r>
              <a:rPr lang="en-US" sz="1300" b="0" i="0" dirty="0">
                <a:solidFill>
                  <a:srgbClr val="5B5B5B"/>
                </a:solidFill>
                <a:latin typeface="Open Sans"/>
              </a:rPr>
              <a:t>Future builders of generative systems will help decide whether AI music expands creativity or</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711073" y="2600071"/>
            <a:ext cx="1073150"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55"/>
              </a:lnSpc>
            </a:pPr>
            <a:r>
              <a:rPr lang="en-US" sz="1300" b="0" i="0" dirty="0">
                <a:solidFill>
                  <a:srgbClr val="5B5B5B"/>
                </a:solidFill>
                <a:latin typeface="Open Sans"/>
              </a:rPr>
              <a:t>extracts value.</a:t>
            </a:r>
            <a:endParaRPr lang="en-US"/>
          </a:p>
        </p:txBody>
      </p:sp>
      <p:sp>
        <p:nvSpPr>
          <p:cNvPr id="11" name="RoundedRectangle">
            <a:extLst>
              <a:ext uri="{FF2B5EF4-FFF2-40B4-BE49-F238E27FC236}">
                <a16:creationId xmlns:a16="http://schemas.microsoft.com/office/drawing/2014/main" id="{A0C957D4-E4F1-4D51-EC0C-C161461E948E}"/>
              </a:ext>
            </a:extLst>
          </p:cNvPr>
          <p:cNvSpPr/>
          <p:nvPr/>
        </p:nvSpPr>
        <p:spPr>
          <a:xfrm>
            <a:off x="711073" y="3207639"/>
            <a:ext cx="7448449" cy="931664"/>
          </a:xfrm>
          <a:prstGeom prst="roundRect">
            <a:avLst>
              <a:gd name="adj" fmla="val 16357"/>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Rectangle">
            <a:extLst>
              <a:ext uri="{FF2B5EF4-FFF2-40B4-BE49-F238E27FC236}">
                <a16:creationId xmlns:a16="http://schemas.microsoft.com/office/drawing/2014/main" id="{A0C957D4-E4F1-4D51-EC0C-C161461E948E}"/>
              </a:ext>
            </a:extLst>
          </p:cNvPr>
          <p:cNvSpPr/>
          <p:nvPr/>
        </p:nvSpPr>
        <p:spPr>
          <a:xfrm>
            <a:off x="715835" y="3212401"/>
            <a:ext cx="7438924" cy="922139"/>
          </a:xfrm>
          <a:prstGeom prst="roundRect">
            <a:avLst>
              <a:gd name="adj" fmla="val 16010"/>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974471" y="3416427"/>
            <a:ext cx="6359525"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93"/>
              </a:lnSpc>
            </a:pPr>
            <a:r>
              <a:rPr lang="en-US" sz="1300" b="0" i="0" dirty="0">
                <a:solidFill>
                  <a:srgbClr val="1F1F1F"/>
                </a:solidFill>
                <a:latin typeface="Open Sans"/>
              </a:rPr>
              <a:t>Ethical AI music design is not only a policy problem. It is a product, data, and evaluation</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974471" y="3644138"/>
            <a:ext cx="682625" cy="2484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793"/>
              </a:lnSpc>
            </a:pPr>
            <a:r>
              <a:rPr lang="en-US" sz="1300" b="0" i="0" dirty="0">
                <a:solidFill>
                  <a:srgbClr val="1F1F1F"/>
                </a:solidFill>
                <a:latin typeface="Open Sans"/>
              </a:rPr>
              <a:t>problem.</a:t>
            </a:r>
            <a:endParaRPr lang="en-US"/>
          </a:p>
        </p:txBody>
      </p:sp>
    </p:spTree>
    <p:extLst>
      <p:ext uri="{BB962C8B-B14F-4D97-AF65-F5344CB8AC3E}">
        <p14:creationId xmlns:p14="http://schemas.microsoft.com/office/powerpoint/2010/main" val="945381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32"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p:cNvPicPr/>
          <p:nvPr/>
        </p:nvPicPr>
        <p:blipFill>
          <a:blip r:embed="rId3">
            <a:alphaModFix amt="80000"/>
          </a:blip>
          <a:stretch/>
        </p:blipFill>
        <p:spPr>
          <a:xfrm>
            <a:off x="6413500" y="2667000"/>
            <a:ext cx="2730500" cy="2476500"/>
          </a:xfrm>
          <a:prstGeom prst="roundRect">
            <a:avLst>
              <a:gd name="adj" fmla="val 50000"/>
            </a:avLst>
          </a:prstGeom>
        </p:spPr>
      </p:pic>
      <p:pic>
        <p:nvPicPr>
          <p:cNvPr id="4" name="Picture 4"/>
          <p:cNvPicPr/>
          <p:nvPr/>
        </p:nvPicPr>
        <p:blipFill>
          <a:blip r:embed="rId4">
            <a:alphaModFix amt="80000"/>
          </a:blip>
          <a:stretch/>
        </p:blipFill>
        <p:spPr>
          <a:xfrm>
            <a:off x="6413500" y="2667000"/>
            <a:ext cx="2730500" cy="2476500"/>
          </a:xfrm>
          <a:prstGeom prst="roundRect">
            <a:avLst>
              <a:gd name="adj" fmla="val 50000"/>
            </a:avLst>
          </a:prstGeom>
        </p:spPr>
      </p:pic>
      <p:sp>
        <p:nvSpPr>
          <p:cNvPr id="5" name="RoundedRectangle">
            <a:extLst>
              <a:ext uri="{FF2B5EF4-FFF2-40B4-BE49-F238E27FC236}">
                <a16:creationId xmlns:a16="http://schemas.microsoft.com/office/drawing/2014/main" id="{A0C957D4-E4F1-4D51-EC0C-C161461E948E}"/>
              </a:ext>
            </a:extLst>
          </p:cNvPr>
          <p:cNvSpPr/>
          <p:nvPr/>
        </p:nvSpPr>
        <p:spPr>
          <a:xfrm>
            <a:off x="431800" y="4318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431800" y="660146"/>
            <a:ext cx="9108579"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spc="-48" dirty="0">
                <a:solidFill>
                  <a:srgbClr val="1F1F1F"/>
                </a:solidFill>
                <a:latin typeface="Montserrat"/>
              </a:rPr>
              <a:t>What This Means for Data Scientists</a:t>
            </a:r>
            <a:endParaRPr lang="en-US"/>
          </a:p>
        </p:txBody>
      </p:sp>
      <p:sp>
        <p:nvSpPr>
          <p:cNvPr id="7" name="Rectangle">
            <a:extLst>
              <a:ext uri="{FF2B5EF4-FFF2-40B4-BE49-F238E27FC236}">
                <a16:creationId xmlns:a16="http://schemas.microsoft.com/office/drawing/2014/main" id="{A0C957D4-E4F1-4D51-EC0C-C161461E948E}"/>
              </a:ext>
            </a:extLst>
          </p:cNvPr>
          <p:cNvSpPr/>
          <p:nvPr/>
        </p:nvSpPr>
        <p:spPr>
          <a:xfrm>
            <a:off x="431800" y="1102995"/>
            <a:ext cx="8661260" cy="197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52"/>
              </a:lnSpc>
            </a:pPr>
            <a:r>
              <a:rPr lang="en-US" sz="1150" b="0" i="0" dirty="0">
                <a:solidFill>
                  <a:srgbClr val="5B5B5B"/>
                </a:solidFill>
                <a:latin typeface="Open Sans"/>
              </a:rPr>
              <a:t>Technical capability does not equal ethical permission; the responsible choices are design choices.</a:t>
            </a: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431800" y="1528572"/>
            <a:ext cx="2641701" cy="2076450"/>
          </a:xfrm>
          <a:prstGeom prst="roundRect">
            <a:avLst>
              <a:gd name="adj" fmla="val 4892"/>
            </a:avLst>
          </a:prstGeom>
          <a:solidFill>
            <a:srgbClr val="1F1F1F"/>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Rectangle">
            <a:extLst>
              <a:ext uri="{FF2B5EF4-FFF2-40B4-BE49-F238E27FC236}">
                <a16:creationId xmlns:a16="http://schemas.microsoft.com/office/drawing/2014/main" id="{A0C957D4-E4F1-4D51-EC0C-C161461E948E}"/>
              </a:ext>
            </a:extLst>
          </p:cNvPr>
          <p:cNvSpPr/>
          <p:nvPr/>
        </p:nvSpPr>
        <p:spPr>
          <a:xfrm>
            <a:off x="436562" y="1533334"/>
            <a:ext cx="2632176" cy="2066925"/>
          </a:xfrm>
          <a:prstGeom prst="roundRect">
            <a:avLst>
              <a:gd name="adj" fmla="val 4685"/>
            </a:avLst>
          </a:prstGeom>
          <a:noFill/>
          <a:ln w="9525" cmpd="sng">
            <a:solidFill>
              <a:srgbClr val="1F1F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631825" y="1728597"/>
            <a:ext cx="246584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C9A227"/>
                </a:solidFill>
                <a:latin typeface="Montserrat"/>
              </a:rPr>
              <a:t>Build for provenance</a:t>
            </a: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631825" y="2018538"/>
            <a:ext cx="14636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F6F2EA"/>
                </a:solidFill>
                <a:latin typeface="Open Sans"/>
              </a:rPr>
              <a:t>Track training sources,</a:t>
            </a:r>
            <a:endParaRPr lang="en-US"/>
          </a:p>
        </p:txBody>
      </p:sp>
      <p:sp>
        <p:nvSpPr>
          <p:cNvPr id="12" name="Rectangle">
            <a:extLst>
              <a:ext uri="{FF2B5EF4-FFF2-40B4-BE49-F238E27FC236}">
                <a16:creationId xmlns:a16="http://schemas.microsoft.com/office/drawing/2014/main" id="{A0C957D4-E4F1-4D51-EC0C-C161461E948E}"/>
              </a:ext>
            </a:extLst>
          </p:cNvPr>
          <p:cNvSpPr/>
          <p:nvPr/>
        </p:nvSpPr>
        <p:spPr>
          <a:xfrm>
            <a:off x="631825" y="2196719"/>
            <a:ext cx="20828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F6F2EA"/>
                </a:solidFill>
                <a:latin typeface="Open Sans"/>
              </a:rPr>
              <a:t>transformations, and attribution</a:t>
            </a: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631825" y="2374900"/>
            <a:ext cx="15779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F6F2EA"/>
                </a:solidFill>
                <a:latin typeface="Open Sans"/>
              </a:rPr>
              <a:t>so cultural inputs do not</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631825" y="2552954"/>
            <a:ext cx="18065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F6F2EA"/>
                </a:solidFill>
                <a:latin typeface="Open Sans"/>
              </a:rPr>
              <a:t>disappear inside the model.</a:t>
            </a:r>
            <a:endParaRPr lang="en-US"/>
          </a:p>
        </p:txBody>
      </p:sp>
      <p:sp>
        <p:nvSpPr>
          <p:cNvPr id="15" name="RoundedRectangle">
            <a:extLst>
              <a:ext uri="{FF2B5EF4-FFF2-40B4-BE49-F238E27FC236}">
                <a16:creationId xmlns:a16="http://schemas.microsoft.com/office/drawing/2014/main" id="{A0C957D4-E4F1-4D51-EC0C-C161461E948E}"/>
              </a:ext>
            </a:extLst>
          </p:cNvPr>
          <p:cNvSpPr/>
          <p:nvPr/>
        </p:nvSpPr>
        <p:spPr>
          <a:xfrm>
            <a:off x="3251200" y="1528572"/>
            <a:ext cx="2641701" cy="2076450"/>
          </a:xfrm>
          <a:prstGeom prst="roundRect">
            <a:avLst>
              <a:gd name="adj" fmla="val 4892"/>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Rectangle">
            <a:extLst>
              <a:ext uri="{FF2B5EF4-FFF2-40B4-BE49-F238E27FC236}">
                <a16:creationId xmlns:a16="http://schemas.microsoft.com/office/drawing/2014/main" id="{A0C957D4-E4F1-4D51-EC0C-C161461E948E}"/>
              </a:ext>
            </a:extLst>
          </p:cNvPr>
          <p:cNvSpPr/>
          <p:nvPr/>
        </p:nvSpPr>
        <p:spPr>
          <a:xfrm>
            <a:off x="3255962" y="1533334"/>
            <a:ext cx="2632176" cy="2066925"/>
          </a:xfrm>
          <a:prstGeom prst="roundRect">
            <a:avLst>
              <a:gd name="adj" fmla="val 4685"/>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a:extLst>
              <a:ext uri="{FF2B5EF4-FFF2-40B4-BE49-F238E27FC236}">
                <a16:creationId xmlns:a16="http://schemas.microsoft.com/office/drawing/2014/main" id="{A0C957D4-E4F1-4D51-EC0C-C161461E948E}"/>
              </a:ext>
            </a:extLst>
          </p:cNvPr>
          <p:cNvSpPr/>
          <p:nvPr/>
        </p:nvSpPr>
        <p:spPr>
          <a:xfrm>
            <a:off x="3451225" y="1728597"/>
            <a:ext cx="246584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6B2D5C"/>
                </a:solidFill>
                <a:latin typeface="Montserrat"/>
              </a:rPr>
              <a:t>Default toward consent</a:t>
            </a: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3451225" y="2018538"/>
            <a:ext cx="21971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Use opt-in data policies, licensing,</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3451225" y="2196719"/>
            <a:ext cx="20447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and compensation mechanisms</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3451225" y="2374900"/>
            <a:ext cx="21304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before voices or catalogs become</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3451225" y="2552954"/>
            <a:ext cx="8921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model inputs.</a:t>
            </a:r>
            <a:endParaRPr lang="en-US"/>
          </a:p>
        </p:txBody>
      </p:sp>
      <p:sp>
        <p:nvSpPr>
          <p:cNvPr id="22" name="RoundedRectangle">
            <a:extLst>
              <a:ext uri="{FF2B5EF4-FFF2-40B4-BE49-F238E27FC236}">
                <a16:creationId xmlns:a16="http://schemas.microsoft.com/office/drawing/2014/main" id="{A0C957D4-E4F1-4D51-EC0C-C161461E948E}"/>
              </a:ext>
            </a:extLst>
          </p:cNvPr>
          <p:cNvSpPr/>
          <p:nvPr/>
        </p:nvSpPr>
        <p:spPr>
          <a:xfrm>
            <a:off x="6070600" y="1528572"/>
            <a:ext cx="2641701" cy="2076450"/>
          </a:xfrm>
          <a:prstGeom prst="roundRect">
            <a:avLst>
              <a:gd name="adj" fmla="val 4892"/>
            </a:avLst>
          </a:prstGeom>
          <a:solidFill>
            <a:srgbClr val="FFFFFF">
              <a:alpha val="62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Rectangle">
            <a:extLst>
              <a:ext uri="{FF2B5EF4-FFF2-40B4-BE49-F238E27FC236}">
                <a16:creationId xmlns:a16="http://schemas.microsoft.com/office/drawing/2014/main" id="{A0C957D4-E4F1-4D51-EC0C-C161461E948E}"/>
              </a:ext>
            </a:extLst>
          </p:cNvPr>
          <p:cNvSpPr/>
          <p:nvPr/>
        </p:nvSpPr>
        <p:spPr>
          <a:xfrm>
            <a:off x="6075362" y="1533334"/>
            <a:ext cx="2632176" cy="2066925"/>
          </a:xfrm>
          <a:prstGeom prst="roundRect">
            <a:avLst>
              <a:gd name="adj" fmla="val 4685"/>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a:extLst>
              <a:ext uri="{FF2B5EF4-FFF2-40B4-BE49-F238E27FC236}">
                <a16:creationId xmlns:a16="http://schemas.microsoft.com/office/drawing/2014/main" id="{A0C957D4-E4F1-4D51-EC0C-C161461E948E}"/>
              </a:ext>
            </a:extLst>
          </p:cNvPr>
          <p:cNvSpPr/>
          <p:nvPr/>
        </p:nvSpPr>
        <p:spPr>
          <a:xfrm>
            <a:off x="6270625" y="1728597"/>
            <a:ext cx="2465844" cy="1979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560"/>
              </a:lnSpc>
            </a:pPr>
            <a:r>
              <a:rPr lang="en-US" sz="1300" b="1" i="0" dirty="0">
                <a:solidFill>
                  <a:srgbClr val="6B2D5C"/>
                </a:solidFill>
                <a:latin typeface="Montserrat"/>
              </a:rPr>
              <a:t>Evaluate beyond quality</a:t>
            </a: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6270625" y="2018538"/>
            <a:ext cx="20256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Measure authenticity, diversity,</a:t>
            </a:r>
            <a:endParaRPr lang="en-US"/>
          </a:p>
        </p:txBody>
      </p:sp>
      <p:sp>
        <p:nvSpPr>
          <p:cNvPr id="26" name="Rectangle">
            <a:extLst>
              <a:ext uri="{FF2B5EF4-FFF2-40B4-BE49-F238E27FC236}">
                <a16:creationId xmlns:a16="http://schemas.microsoft.com/office/drawing/2014/main" id="{A0C957D4-E4F1-4D51-EC0C-C161461E948E}"/>
              </a:ext>
            </a:extLst>
          </p:cNvPr>
          <p:cNvSpPr/>
          <p:nvPr/>
        </p:nvSpPr>
        <p:spPr>
          <a:xfrm>
            <a:off x="6270625" y="2196719"/>
            <a:ext cx="21590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bias, and fair value distribution—</a:t>
            </a:r>
            <a:endParaRPr lang="en-US"/>
          </a:p>
        </p:txBody>
      </p:sp>
      <p:sp>
        <p:nvSpPr>
          <p:cNvPr id="27" name="Rectangle">
            <a:extLst>
              <a:ext uri="{FF2B5EF4-FFF2-40B4-BE49-F238E27FC236}">
                <a16:creationId xmlns:a16="http://schemas.microsoft.com/office/drawing/2014/main" id="{A0C957D4-E4F1-4D51-EC0C-C161461E948E}"/>
              </a:ext>
            </a:extLst>
          </p:cNvPr>
          <p:cNvSpPr/>
          <p:nvPr/>
        </p:nvSpPr>
        <p:spPr>
          <a:xfrm>
            <a:off x="6270625" y="2374900"/>
            <a:ext cx="18065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not only whether the output</a:t>
            </a:r>
            <a:endParaRPr lang="en-US"/>
          </a:p>
        </p:txBody>
      </p:sp>
      <p:sp>
        <p:nvSpPr>
          <p:cNvPr id="28" name="Rectangle">
            <a:extLst>
              <a:ext uri="{FF2B5EF4-FFF2-40B4-BE49-F238E27FC236}">
                <a16:creationId xmlns:a16="http://schemas.microsoft.com/office/drawing/2014/main" id="{A0C957D4-E4F1-4D51-EC0C-C161461E948E}"/>
              </a:ext>
            </a:extLst>
          </p:cNvPr>
          <p:cNvSpPr/>
          <p:nvPr/>
        </p:nvSpPr>
        <p:spPr>
          <a:xfrm>
            <a:off x="6270625" y="2552954"/>
            <a:ext cx="8636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403"/>
              </a:lnSpc>
            </a:pPr>
            <a:r>
              <a:rPr lang="en-US" sz="1040" b="0" i="0" dirty="0">
                <a:solidFill>
                  <a:srgbClr val="1F1F1F"/>
                </a:solidFill>
                <a:latin typeface="Open Sans"/>
              </a:rPr>
              <a:t>sounds good.</a:t>
            </a:r>
            <a:endParaRPr lang="en-US"/>
          </a:p>
        </p:txBody>
      </p:sp>
      <p:sp>
        <p:nvSpPr>
          <p:cNvPr id="29" name="RoundedRectangle">
            <a:extLst>
              <a:ext uri="{FF2B5EF4-FFF2-40B4-BE49-F238E27FC236}">
                <a16:creationId xmlns:a16="http://schemas.microsoft.com/office/drawing/2014/main" id="{A0C957D4-E4F1-4D51-EC0C-C161461E948E}"/>
              </a:ext>
            </a:extLst>
          </p:cNvPr>
          <p:cNvSpPr/>
          <p:nvPr/>
        </p:nvSpPr>
        <p:spPr>
          <a:xfrm>
            <a:off x="431800" y="3782822"/>
            <a:ext cx="8280602" cy="718045"/>
          </a:xfrm>
          <a:prstGeom prst="roundRect">
            <a:avLst>
              <a:gd name="adj" fmla="val 14149"/>
            </a:avLst>
          </a:prstGeom>
          <a:solidFill>
            <a:srgbClr val="EEE6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Rectangle">
            <a:extLst>
              <a:ext uri="{FF2B5EF4-FFF2-40B4-BE49-F238E27FC236}">
                <a16:creationId xmlns:a16="http://schemas.microsoft.com/office/drawing/2014/main" id="{A0C957D4-E4F1-4D51-EC0C-C161461E948E}"/>
              </a:ext>
            </a:extLst>
          </p:cNvPr>
          <p:cNvSpPr/>
          <p:nvPr/>
        </p:nvSpPr>
        <p:spPr>
          <a:xfrm>
            <a:off x="436562" y="3787584"/>
            <a:ext cx="8271077" cy="708520"/>
          </a:xfrm>
          <a:prstGeom prst="roundRect">
            <a:avLst>
              <a:gd name="adj" fmla="val 13667"/>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a:extLst>
              <a:ext uri="{FF2B5EF4-FFF2-40B4-BE49-F238E27FC236}">
                <a16:creationId xmlns:a16="http://schemas.microsoft.com/office/drawing/2014/main" id="{A0C957D4-E4F1-4D51-EC0C-C161461E948E}"/>
              </a:ext>
            </a:extLst>
          </p:cNvPr>
          <p:cNvSpPr/>
          <p:nvPr/>
        </p:nvSpPr>
        <p:spPr>
          <a:xfrm>
            <a:off x="644398" y="3957320"/>
            <a:ext cx="7861554" cy="3688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452"/>
              </a:lnSpc>
            </a:pPr>
            <a:r>
              <a:rPr lang="en-US" sz="1100" b="1" i="0" dirty="0">
                <a:solidFill>
                  <a:srgbClr val="1F1F1F"/>
                </a:solidFill>
                <a:latin typeface="Open Sans"/>
              </a:rPr>
              <a:t>Design prompt:</a:t>
            </a:r>
            <a:r>
              <a:rPr lang="en-US" sz="1100" b="0" i="0" dirty="0">
                <a:solidFill>
                  <a:srgbClr val="1F1F1F"/>
                </a:solidFill>
                <a:latin typeface="Open Sans"/>
              </a:rPr>
              <a:t> What would an AI music platform look like if it treated artists, communities, and listeners as stakeholders from the start?</a:t>
            </a:r>
            <a:endParaRPr lang="en-US"/>
          </a:p>
        </p:txBody>
      </p:sp>
    </p:spTree>
    <p:extLst>
      <p:ext uri="{BB962C8B-B14F-4D97-AF65-F5344CB8AC3E}">
        <p14:creationId xmlns:p14="http://schemas.microsoft.com/office/powerpoint/2010/main" val="945381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31"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609600" y="470789"/>
            <a:ext cx="7924800" cy="307975"/>
          </a:xfrm>
          <a:prstGeom prst="roundRect">
            <a:avLst>
              <a:gd name="adj" fmla="val 49958"/>
            </a:avLst>
          </a:prstGeom>
          <a:solidFill>
            <a:srgbClr val="EEE6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Rectangle">
            <a:extLst>
              <a:ext uri="{FF2B5EF4-FFF2-40B4-BE49-F238E27FC236}">
                <a16:creationId xmlns:a16="http://schemas.microsoft.com/office/drawing/2014/main" id="{A0C957D4-E4F1-4D51-EC0C-C161461E948E}"/>
              </a:ext>
            </a:extLst>
          </p:cNvPr>
          <p:cNvSpPr/>
          <p:nvPr/>
        </p:nvSpPr>
        <p:spPr>
          <a:xfrm>
            <a:off x="614362" y="475551"/>
            <a:ext cx="7915275" cy="298450"/>
          </a:xfrm>
          <a:prstGeom prst="roundRect">
            <a:avLst>
              <a:gd name="adj" fmla="val 49957"/>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a:extLst>
              <a:ext uri="{FF2B5EF4-FFF2-40B4-BE49-F238E27FC236}">
                <a16:creationId xmlns:a16="http://schemas.microsoft.com/office/drawing/2014/main" id="{A0C957D4-E4F1-4D51-EC0C-C161461E948E}"/>
              </a:ext>
            </a:extLst>
          </p:cNvPr>
          <p:cNvSpPr/>
          <p:nvPr/>
        </p:nvSpPr>
        <p:spPr>
          <a:xfrm>
            <a:off x="733425" y="543687"/>
            <a:ext cx="1439329" cy="1619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080"/>
              </a:lnSpc>
            </a:pPr>
            <a:r>
              <a:rPr lang="en-US" sz="900" b="1" i="0" spc="72" dirty="0">
                <a:solidFill>
                  <a:srgbClr val="6B2D5C"/>
                </a:solidFill>
                <a:latin typeface="Open Sans"/>
              </a:rPr>
              <a:t>CLOSING QUESTION</a:t>
            </a:r>
            <a:endParaRPr lang="en-US"/>
          </a:p>
        </p:txBody>
      </p:sp>
      <p:sp>
        <p:nvSpPr>
          <p:cNvPr id="6" name="Rectangle">
            <a:extLst>
              <a:ext uri="{FF2B5EF4-FFF2-40B4-BE49-F238E27FC236}">
                <a16:creationId xmlns:a16="http://schemas.microsoft.com/office/drawing/2014/main" id="{A0C957D4-E4F1-4D51-EC0C-C161461E948E}"/>
              </a:ext>
            </a:extLst>
          </p:cNvPr>
          <p:cNvSpPr/>
          <p:nvPr/>
        </p:nvSpPr>
        <p:spPr>
          <a:xfrm>
            <a:off x="609600" y="1184783"/>
            <a:ext cx="8661260" cy="4795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24384" rIns="0" bIns="0" rtlCol="0" anchor="t"/>
          <a:lstStyle/>
          <a:p>
            <a:pPr algn="l">
              <a:lnSpc>
                <a:spcPts val="3584"/>
              </a:lnSpc>
            </a:pPr>
            <a:r>
              <a:rPr lang="en-US" sz="3200" b="1" i="0" spc="-64" dirty="0">
                <a:solidFill>
                  <a:srgbClr val="1F1F1F"/>
                </a:solidFill>
                <a:latin typeface="Montserrat"/>
              </a:rPr>
              <a:t>So, Who Is the Artist?</a:t>
            </a:r>
            <a:endParaRPr lang="en-US" dirty="0"/>
          </a:p>
        </p:txBody>
      </p:sp>
      <p:sp>
        <p:nvSpPr>
          <p:cNvPr id="7" name="Rectangle">
            <a:extLst>
              <a:ext uri="{FF2B5EF4-FFF2-40B4-BE49-F238E27FC236}">
                <a16:creationId xmlns:a16="http://schemas.microsoft.com/office/drawing/2014/main" id="{A0C957D4-E4F1-4D51-EC0C-C161461E948E}"/>
              </a:ext>
            </a:extLst>
          </p:cNvPr>
          <p:cNvSpPr/>
          <p:nvPr/>
        </p:nvSpPr>
        <p:spPr>
          <a:xfrm>
            <a:off x="609600" y="1792351"/>
            <a:ext cx="7823060" cy="2227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755"/>
              </a:lnSpc>
            </a:pPr>
            <a:r>
              <a:rPr lang="en-US" sz="1300" b="0" i="0" dirty="0">
                <a:solidFill>
                  <a:srgbClr val="5B5B5B"/>
                </a:solidFill>
                <a:latin typeface="Open Sans"/>
              </a:rPr>
              <a:t>AI did not invent hip-hop’s tensions over originality, credit, and profit. It amplifies them.</a:t>
            </a: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609600" y="2294509"/>
            <a:ext cx="7924800" cy="1141610"/>
          </a:xfrm>
          <a:prstGeom prst="roundRect">
            <a:avLst>
              <a:gd name="adj" fmla="val 13349"/>
            </a:avLst>
          </a:prstGeom>
          <a:solidFill>
            <a:srgbClr val="1F1F1F"/>
          </a:solidFill>
          <a:ln>
            <a:noFill/>
          </a:ln>
          <a:effectLst>
            <a:outerShdw blurRad="101600" dist="25400" dir="5400000" algn="ctr" rotWithShape="0">
              <a:srgbClr val="000000">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a:extLst>
              <a:ext uri="{FF2B5EF4-FFF2-40B4-BE49-F238E27FC236}">
                <a16:creationId xmlns:a16="http://schemas.microsoft.com/office/drawing/2014/main" id="{A0C957D4-E4F1-4D51-EC0C-C161461E948E}"/>
              </a:ext>
            </a:extLst>
          </p:cNvPr>
          <p:cNvSpPr/>
          <p:nvPr/>
        </p:nvSpPr>
        <p:spPr>
          <a:xfrm>
            <a:off x="914400" y="2538349"/>
            <a:ext cx="6797675" cy="3211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2295"/>
              </a:lnSpc>
            </a:pPr>
            <a:r>
              <a:rPr lang="en-US" sz="1700" b="0" i="0" dirty="0">
                <a:solidFill>
                  <a:srgbClr val="F6F2EA"/>
                </a:solidFill>
                <a:latin typeface="Open Sans SemiBold"/>
              </a:rPr>
              <a:t>The answer remains unsettled — and it will depend partly on the</a:t>
            </a: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914400" y="2829814"/>
            <a:ext cx="4749800" cy="3211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2295"/>
              </a:lnSpc>
            </a:pPr>
            <a:r>
              <a:rPr lang="en-US" sz="1700" b="0" i="0" dirty="0">
                <a:solidFill>
                  <a:srgbClr val="F6F2EA"/>
                </a:solidFill>
                <a:latin typeface="Open Sans SemiBold"/>
              </a:rPr>
              <a:t>systems future technologists choose to build.</a:t>
            </a:r>
            <a:endParaRPr lang="en-US"/>
          </a:p>
        </p:txBody>
      </p:sp>
      <p:sp>
        <p:nvSpPr>
          <p:cNvPr id="11" name="RoundedRectangle">
            <a:extLst>
              <a:ext uri="{FF2B5EF4-FFF2-40B4-BE49-F238E27FC236}">
                <a16:creationId xmlns:a16="http://schemas.microsoft.com/office/drawing/2014/main" id="{A0C957D4-E4F1-4D51-EC0C-C161461E948E}"/>
              </a:ext>
            </a:extLst>
          </p:cNvPr>
          <p:cNvSpPr/>
          <p:nvPr/>
        </p:nvSpPr>
        <p:spPr>
          <a:xfrm>
            <a:off x="609600" y="3715385"/>
            <a:ext cx="2540102" cy="1084758"/>
          </a:xfrm>
          <a:prstGeom prst="roundRect">
            <a:avLst>
              <a:gd name="adj" fmla="val 9366"/>
            </a:avLst>
          </a:prstGeom>
          <a:solidFill>
            <a:srgbClr val="EEE6D6">
              <a:alpha val="88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Rectangle">
            <a:extLst>
              <a:ext uri="{FF2B5EF4-FFF2-40B4-BE49-F238E27FC236}">
                <a16:creationId xmlns:a16="http://schemas.microsoft.com/office/drawing/2014/main" id="{A0C957D4-E4F1-4D51-EC0C-C161461E948E}"/>
              </a:ext>
            </a:extLst>
          </p:cNvPr>
          <p:cNvSpPr/>
          <p:nvPr/>
        </p:nvSpPr>
        <p:spPr>
          <a:xfrm>
            <a:off x="614362" y="3720147"/>
            <a:ext cx="2530577" cy="1075233"/>
          </a:xfrm>
          <a:prstGeom prst="roundRect">
            <a:avLst>
              <a:gd name="adj" fmla="val 9006"/>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796798" y="3889883"/>
            <a:ext cx="2382024" cy="152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00"/>
              </a:lnSpc>
            </a:pPr>
            <a:r>
              <a:rPr lang="en-US" sz="1000" b="1" i="0" spc="80" dirty="0">
                <a:solidFill>
                  <a:srgbClr val="6B2D5C"/>
                </a:solidFill>
                <a:latin typeface="Montserrat"/>
              </a:rPr>
              <a:t>CULTURE</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796798" y="4096258"/>
            <a:ext cx="21399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Who gets to speak with authority,</a:t>
            </a:r>
            <a:endParaRPr lang="en-US"/>
          </a:p>
        </p:txBody>
      </p:sp>
      <p:sp>
        <p:nvSpPr>
          <p:cNvPr id="15" name="Rectangle">
            <a:extLst>
              <a:ext uri="{FF2B5EF4-FFF2-40B4-BE49-F238E27FC236}">
                <a16:creationId xmlns:a16="http://schemas.microsoft.com/office/drawing/2014/main" id="{A0C957D4-E4F1-4D51-EC0C-C161461E948E}"/>
              </a:ext>
            </a:extLst>
          </p:cNvPr>
          <p:cNvSpPr/>
          <p:nvPr/>
        </p:nvSpPr>
        <p:spPr>
          <a:xfrm>
            <a:off x="796798" y="4269486"/>
            <a:ext cx="16065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and whose voice is being</a:t>
            </a:r>
            <a:endParaRPr lang="en-US"/>
          </a:p>
        </p:txBody>
      </p:sp>
      <p:sp>
        <p:nvSpPr>
          <p:cNvPr id="16" name="Rectangle">
            <a:extLst>
              <a:ext uri="{FF2B5EF4-FFF2-40B4-BE49-F238E27FC236}">
                <a16:creationId xmlns:a16="http://schemas.microsoft.com/office/drawing/2014/main" id="{A0C957D4-E4F1-4D51-EC0C-C161461E948E}"/>
              </a:ext>
            </a:extLst>
          </p:cNvPr>
          <p:cNvSpPr/>
          <p:nvPr/>
        </p:nvSpPr>
        <p:spPr>
          <a:xfrm>
            <a:off x="796798" y="4442714"/>
            <a:ext cx="6826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borrowed?</a:t>
            </a:r>
            <a:endParaRPr lang="en-US"/>
          </a:p>
        </p:txBody>
      </p:sp>
      <p:sp>
        <p:nvSpPr>
          <p:cNvPr id="17" name="RoundedRectangle">
            <a:extLst>
              <a:ext uri="{FF2B5EF4-FFF2-40B4-BE49-F238E27FC236}">
                <a16:creationId xmlns:a16="http://schemas.microsoft.com/office/drawing/2014/main" id="{A0C957D4-E4F1-4D51-EC0C-C161461E948E}"/>
              </a:ext>
            </a:extLst>
          </p:cNvPr>
          <p:cNvSpPr/>
          <p:nvPr/>
        </p:nvSpPr>
        <p:spPr>
          <a:xfrm>
            <a:off x="3301873" y="3715385"/>
            <a:ext cx="2540245" cy="1084758"/>
          </a:xfrm>
          <a:prstGeom prst="roundRect">
            <a:avLst>
              <a:gd name="adj" fmla="val 9366"/>
            </a:avLst>
          </a:prstGeom>
          <a:solidFill>
            <a:srgbClr val="EEE6D6">
              <a:alpha val="88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Rectangle">
            <a:extLst>
              <a:ext uri="{FF2B5EF4-FFF2-40B4-BE49-F238E27FC236}">
                <a16:creationId xmlns:a16="http://schemas.microsoft.com/office/drawing/2014/main" id="{A0C957D4-E4F1-4D51-EC0C-C161461E948E}"/>
              </a:ext>
            </a:extLst>
          </p:cNvPr>
          <p:cNvSpPr/>
          <p:nvPr/>
        </p:nvSpPr>
        <p:spPr>
          <a:xfrm>
            <a:off x="3306635" y="3720147"/>
            <a:ext cx="2530720" cy="1075233"/>
          </a:xfrm>
          <a:prstGeom prst="roundRect">
            <a:avLst>
              <a:gd name="adj" fmla="val 9006"/>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3489071" y="3889883"/>
            <a:ext cx="2382164" cy="152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00"/>
              </a:lnSpc>
            </a:pPr>
            <a:r>
              <a:rPr lang="en-US" sz="1000" b="1" i="0" spc="80" dirty="0">
                <a:solidFill>
                  <a:srgbClr val="6B2D5C"/>
                </a:solidFill>
                <a:latin typeface="Montserrat"/>
              </a:rPr>
              <a:t>LAW</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3489071" y="4096258"/>
            <a:ext cx="21685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Which protections keep pace with</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3489071" y="4269486"/>
            <a:ext cx="202565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identity, likeness, and synthetic</a:t>
            </a:r>
            <a:endParaRPr lang="en-US"/>
          </a:p>
        </p:txBody>
      </p:sp>
      <p:sp>
        <p:nvSpPr>
          <p:cNvPr id="22" name="Rectangle">
            <a:extLst>
              <a:ext uri="{FF2B5EF4-FFF2-40B4-BE49-F238E27FC236}">
                <a16:creationId xmlns:a16="http://schemas.microsoft.com/office/drawing/2014/main" id="{A0C957D4-E4F1-4D51-EC0C-C161461E948E}"/>
              </a:ext>
            </a:extLst>
          </p:cNvPr>
          <p:cNvSpPr/>
          <p:nvPr/>
        </p:nvSpPr>
        <p:spPr>
          <a:xfrm>
            <a:off x="3489071" y="4442714"/>
            <a:ext cx="89217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performance?</a:t>
            </a:r>
            <a:endParaRPr lang="en-US"/>
          </a:p>
        </p:txBody>
      </p:sp>
      <p:sp>
        <p:nvSpPr>
          <p:cNvPr id="23" name="RoundedRectangle">
            <a:extLst>
              <a:ext uri="{FF2B5EF4-FFF2-40B4-BE49-F238E27FC236}">
                <a16:creationId xmlns:a16="http://schemas.microsoft.com/office/drawing/2014/main" id="{A0C957D4-E4F1-4D51-EC0C-C161461E948E}"/>
              </a:ext>
            </a:extLst>
          </p:cNvPr>
          <p:cNvSpPr/>
          <p:nvPr/>
        </p:nvSpPr>
        <p:spPr>
          <a:xfrm>
            <a:off x="5994400" y="3715385"/>
            <a:ext cx="2540102" cy="1084758"/>
          </a:xfrm>
          <a:prstGeom prst="roundRect">
            <a:avLst>
              <a:gd name="adj" fmla="val 9366"/>
            </a:avLst>
          </a:prstGeom>
          <a:solidFill>
            <a:srgbClr val="EEE6D6">
              <a:alpha val="88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Rectangle">
            <a:extLst>
              <a:ext uri="{FF2B5EF4-FFF2-40B4-BE49-F238E27FC236}">
                <a16:creationId xmlns:a16="http://schemas.microsoft.com/office/drawing/2014/main" id="{A0C957D4-E4F1-4D51-EC0C-C161461E948E}"/>
              </a:ext>
            </a:extLst>
          </p:cNvPr>
          <p:cNvSpPr/>
          <p:nvPr/>
        </p:nvSpPr>
        <p:spPr>
          <a:xfrm>
            <a:off x="5999162" y="3720147"/>
            <a:ext cx="2530577" cy="1075233"/>
          </a:xfrm>
          <a:prstGeom prst="roundRect">
            <a:avLst>
              <a:gd name="adj" fmla="val 9006"/>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6181598" y="3889883"/>
            <a:ext cx="2382024" cy="152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1200"/>
              </a:lnSpc>
            </a:pPr>
            <a:r>
              <a:rPr lang="en-US" sz="1000" b="1" i="0" spc="80" dirty="0">
                <a:solidFill>
                  <a:srgbClr val="6B2D5C"/>
                </a:solidFill>
                <a:latin typeface="Montserrat"/>
              </a:rPr>
              <a:t>CODE</a:t>
            </a:r>
            <a:endParaRPr lang="en-US"/>
          </a:p>
        </p:txBody>
      </p:sp>
      <p:sp>
        <p:nvSpPr>
          <p:cNvPr id="26" name="Rectangle">
            <a:extLst>
              <a:ext uri="{FF2B5EF4-FFF2-40B4-BE49-F238E27FC236}">
                <a16:creationId xmlns:a16="http://schemas.microsoft.com/office/drawing/2014/main" id="{A0C957D4-E4F1-4D51-EC0C-C161461E948E}"/>
              </a:ext>
            </a:extLst>
          </p:cNvPr>
          <p:cNvSpPr/>
          <p:nvPr/>
        </p:nvSpPr>
        <p:spPr>
          <a:xfrm>
            <a:off x="6181598" y="4096258"/>
            <a:ext cx="17018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What design choices make</a:t>
            </a:r>
            <a:endParaRPr lang="en-US"/>
          </a:p>
        </p:txBody>
      </p:sp>
      <p:sp>
        <p:nvSpPr>
          <p:cNvPr id="27" name="Rectangle">
            <a:extLst>
              <a:ext uri="{FF2B5EF4-FFF2-40B4-BE49-F238E27FC236}">
                <a16:creationId xmlns:a16="http://schemas.microsoft.com/office/drawing/2014/main" id="{A0C957D4-E4F1-4D51-EC0C-C161461E948E}"/>
              </a:ext>
            </a:extLst>
          </p:cNvPr>
          <p:cNvSpPr/>
          <p:nvPr/>
        </p:nvSpPr>
        <p:spPr>
          <a:xfrm>
            <a:off x="6181598" y="4269486"/>
            <a:ext cx="1663700"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consent, provenance, and</a:t>
            </a:r>
            <a:endParaRPr lang="en-US"/>
          </a:p>
        </p:txBody>
      </p:sp>
      <p:sp>
        <p:nvSpPr>
          <p:cNvPr id="28" name="Rectangle">
            <a:extLst>
              <a:ext uri="{FF2B5EF4-FFF2-40B4-BE49-F238E27FC236}">
                <a16:creationId xmlns:a16="http://schemas.microsoft.com/office/drawing/2014/main" id="{A0C957D4-E4F1-4D51-EC0C-C161461E948E}"/>
              </a:ext>
            </a:extLst>
          </p:cNvPr>
          <p:cNvSpPr/>
          <p:nvPr/>
        </p:nvSpPr>
        <p:spPr>
          <a:xfrm>
            <a:off x="6181598" y="4442714"/>
            <a:ext cx="1254125" cy="1809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l">
              <a:lnSpc>
                <a:spcPts val="1364"/>
              </a:lnSpc>
            </a:pPr>
            <a:r>
              <a:rPr lang="en-US" sz="1050" b="0" i="0" dirty="0">
                <a:solidFill>
                  <a:srgbClr val="1F1F1F"/>
                </a:solidFill>
                <a:latin typeface="Open Sans"/>
              </a:rPr>
              <a:t>compensation real?</a:t>
            </a:r>
            <a:endParaRPr lang="en-US"/>
          </a:p>
        </p:txBody>
      </p:sp>
      <p:pic>
        <p:nvPicPr>
          <p:cNvPr id="29" name="Picture 29"/>
          <p:cNvPicPr/>
          <p:nvPr/>
        </p:nvPicPr>
        <p:blipFill>
          <a:blip r:embed="rId3">
            <a:alphaModFix amt="80000"/>
          </a:blip>
          <a:stretch/>
        </p:blipFill>
        <p:spPr>
          <a:xfrm>
            <a:off x="6413500" y="2667000"/>
            <a:ext cx="2730500" cy="2476500"/>
          </a:xfrm>
          <a:prstGeom prst="roundRect">
            <a:avLst>
              <a:gd name="adj" fmla="val 50000"/>
            </a:avLst>
          </a:prstGeom>
        </p:spPr>
      </p:pic>
      <p:pic>
        <p:nvPicPr>
          <p:cNvPr id="30" name="Picture 30"/>
          <p:cNvPicPr/>
          <p:nvPr/>
        </p:nvPicPr>
        <p:blipFill>
          <a:blip r:embed="rId4">
            <a:alphaModFix amt="80000"/>
          </a:blip>
          <a:stretch/>
        </p:blipFill>
        <p:spPr>
          <a:xfrm>
            <a:off x="6413500" y="2667000"/>
            <a:ext cx="2730500" cy="2476500"/>
          </a:xfrm>
          <a:prstGeom prst="roundRect">
            <a:avLst>
              <a:gd name="adj" fmla="val 50000"/>
            </a:avLst>
          </a:prstGeom>
        </p:spPr>
      </p:pic>
    </p:spTree>
    <p:extLst>
      <p:ext uri="{BB962C8B-B14F-4D97-AF65-F5344CB8AC3E}">
        <p14:creationId xmlns:p14="http://schemas.microsoft.com/office/powerpoint/2010/main" val="945381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34" name="Rectangle">
            <a:extLst>
              <a:ext uri="{FF2B5EF4-FFF2-40B4-BE49-F238E27FC236}">
                <a16:creationId xmlns:a16="http://schemas.microsoft.com/office/drawing/2014/main" id="{A0C957D4-E4F1-4D51-EC0C-C161461E948E}"/>
              </a:ext>
            </a:extLst>
          </p:cNvPr>
          <p:cNvSpPr/>
          <p:nvPr/>
        </p:nvSpPr>
        <p:spPr>
          <a:xfrm>
            <a:off x="0" y="0"/>
            <a:ext cx="10350500" cy="66040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A0C957D4-E4F1-4D51-EC0C-C161461E948E}"/>
              </a:ext>
            </a:extLst>
          </p:cNvPr>
          <p:cNvSpPr/>
          <p:nvPr/>
        </p:nvSpPr>
        <p:spPr>
          <a:xfrm>
            <a:off x="0" y="0"/>
            <a:ext cx="9144000" cy="5143500"/>
          </a:xfrm>
          <a:prstGeom prst="rect">
            <a:avLst/>
          </a:prstGeom>
          <a:solidFill>
            <a:srgbClr val="F6F2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Rectangle">
            <a:extLst>
              <a:ext uri="{FF2B5EF4-FFF2-40B4-BE49-F238E27FC236}">
                <a16:creationId xmlns:a16="http://schemas.microsoft.com/office/drawing/2014/main" id="{A0C957D4-E4F1-4D51-EC0C-C161461E948E}"/>
              </a:ext>
            </a:extLst>
          </p:cNvPr>
          <p:cNvSpPr/>
          <p:nvPr/>
        </p:nvSpPr>
        <p:spPr>
          <a:xfrm>
            <a:off x="381000" y="381000"/>
            <a:ext cx="762000" cy="50750"/>
          </a:xfrm>
          <a:prstGeom prst="roundRect">
            <a:avLst>
              <a:gd name="adj" fmla="val 50000"/>
            </a:avLst>
          </a:prstGeom>
          <a:solidFill>
            <a:srgbClr val="C9A2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a:extLst>
              <a:ext uri="{FF2B5EF4-FFF2-40B4-BE49-F238E27FC236}">
                <a16:creationId xmlns:a16="http://schemas.microsoft.com/office/drawing/2014/main" id="{A0C957D4-E4F1-4D51-EC0C-C161461E948E}"/>
              </a:ext>
            </a:extLst>
          </p:cNvPr>
          <p:cNvSpPr/>
          <p:nvPr/>
        </p:nvSpPr>
        <p:spPr>
          <a:xfrm>
            <a:off x="381000" y="584200"/>
            <a:ext cx="9220200" cy="3595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18288" rIns="0" bIns="0" rtlCol="0" anchor="t"/>
          <a:lstStyle/>
          <a:p>
            <a:pPr algn="l">
              <a:lnSpc>
                <a:spcPts val="2688"/>
              </a:lnSpc>
            </a:pPr>
            <a:r>
              <a:rPr lang="en-US" sz="2400" b="1" i="0" spc="-48" dirty="0">
                <a:solidFill>
                  <a:srgbClr val="1F1F1F"/>
                </a:solidFill>
                <a:latin typeface="Montserrat"/>
              </a:rPr>
              <a:t>References</a:t>
            </a:r>
            <a:endParaRPr lang="en-US"/>
          </a:p>
        </p:txBody>
      </p:sp>
      <p:pic>
        <p:nvPicPr>
          <p:cNvPr id="5" name="Picture 5"/>
          <p:cNvPicPr/>
          <p:nvPr/>
        </p:nvPicPr>
        <p:blipFill>
          <a:blip r:embed="rId2">
            <a:alphaModFix amt="80000"/>
          </a:blip>
          <a:stretch/>
        </p:blipFill>
        <p:spPr>
          <a:xfrm>
            <a:off x="6413500" y="2667000"/>
            <a:ext cx="2730500" cy="2476500"/>
          </a:xfrm>
          <a:prstGeom prst="roundRect">
            <a:avLst>
              <a:gd name="adj" fmla="val 50000"/>
            </a:avLst>
          </a:prstGeom>
        </p:spPr>
      </p:pic>
      <p:pic>
        <p:nvPicPr>
          <p:cNvPr id="6" name="Picture 6"/>
          <p:cNvPicPr/>
          <p:nvPr/>
        </p:nvPicPr>
        <p:blipFill>
          <a:blip r:embed="rId3">
            <a:alphaModFix amt="80000"/>
          </a:blip>
          <a:stretch/>
        </p:blipFill>
        <p:spPr>
          <a:xfrm>
            <a:off x="6413500" y="2667000"/>
            <a:ext cx="2730500" cy="2476500"/>
          </a:xfrm>
          <a:prstGeom prst="roundRect">
            <a:avLst>
              <a:gd name="adj" fmla="val 50000"/>
            </a:avLst>
          </a:prstGeom>
        </p:spPr>
      </p:pic>
      <p:sp>
        <p:nvSpPr>
          <p:cNvPr id="7" name="Rectangle">
            <a:extLst>
              <a:ext uri="{FF2B5EF4-FFF2-40B4-BE49-F238E27FC236}">
                <a16:creationId xmlns:a16="http://schemas.microsoft.com/office/drawing/2014/main" id="{A0C957D4-E4F1-4D51-EC0C-C161461E948E}"/>
              </a:ext>
            </a:extLst>
          </p:cNvPr>
          <p:cNvSpPr/>
          <p:nvPr/>
        </p:nvSpPr>
        <p:spPr>
          <a:xfrm>
            <a:off x="381000" y="976122"/>
            <a:ext cx="9220200" cy="1428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984"/>
              </a:lnSpc>
            </a:pPr>
            <a:r>
              <a:rPr lang="en-US" sz="820" b="0" i="0" dirty="0">
                <a:solidFill>
                  <a:srgbClr val="5B5B5B"/>
                </a:solidFill>
                <a:latin typeface="Open Sans"/>
              </a:rPr>
              <a:t>APA-style condensed bibliography; URLs shortened to source domains where necessary for fit.</a:t>
            </a:r>
            <a:endParaRPr lang="en-US"/>
          </a:p>
        </p:txBody>
      </p:sp>
      <p:sp>
        <p:nvSpPr>
          <p:cNvPr id="8" name="RoundedRectangle">
            <a:extLst>
              <a:ext uri="{FF2B5EF4-FFF2-40B4-BE49-F238E27FC236}">
                <a16:creationId xmlns:a16="http://schemas.microsoft.com/office/drawing/2014/main" id="{A0C957D4-E4F1-4D51-EC0C-C161461E948E}"/>
              </a:ext>
            </a:extLst>
          </p:cNvPr>
          <p:cNvSpPr/>
          <p:nvPr/>
        </p:nvSpPr>
        <p:spPr>
          <a:xfrm>
            <a:off x="381000" y="1245997"/>
            <a:ext cx="8382000" cy="1653330"/>
          </a:xfrm>
          <a:prstGeom prst="roundRect">
            <a:avLst>
              <a:gd name="adj" fmla="val 6145"/>
            </a:avLst>
          </a:prstGeom>
          <a:solidFill>
            <a:srgbClr val="FFFFFF">
              <a:alpha val="46000"/>
            </a:srgbClr>
          </a:solidFill>
          <a:ln>
            <a:noFill/>
          </a:ln>
          <a:effectLst>
            <a:outerShdw blurRad="25400" dist="12700" dir="5400000" algn="ctr" rotWithShape="0">
              <a:srgbClr val="000000">
                <a:alpha val="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Rectangle">
            <a:extLst>
              <a:ext uri="{FF2B5EF4-FFF2-40B4-BE49-F238E27FC236}">
                <a16:creationId xmlns:a16="http://schemas.microsoft.com/office/drawing/2014/main" id="{A0C957D4-E4F1-4D51-EC0C-C161461E948E}"/>
              </a:ext>
            </a:extLst>
          </p:cNvPr>
          <p:cNvSpPr/>
          <p:nvPr/>
        </p:nvSpPr>
        <p:spPr>
          <a:xfrm>
            <a:off x="385762" y="1250759"/>
            <a:ext cx="8372475" cy="1643805"/>
          </a:xfrm>
          <a:prstGeom prst="roundRect">
            <a:avLst>
              <a:gd name="adj" fmla="val 5891"/>
            </a:avLst>
          </a:prstGeom>
          <a:noFill/>
          <a:ln w="9525" cmpd="sng">
            <a:solidFill>
              <a:srgbClr val="D8CE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a:extLst>
              <a:ext uri="{FF2B5EF4-FFF2-40B4-BE49-F238E27FC236}">
                <a16:creationId xmlns:a16="http://schemas.microsoft.com/office/drawing/2014/main" id="{A0C957D4-E4F1-4D51-EC0C-C161461E948E}"/>
              </a:ext>
            </a:extLst>
          </p:cNvPr>
          <p:cNvSpPr/>
          <p:nvPr/>
        </p:nvSpPr>
        <p:spPr>
          <a:xfrm>
            <a:off x="609600" y="1395095"/>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1. </a:t>
            </a:r>
            <a:endParaRPr lang="en-US"/>
          </a:p>
        </p:txBody>
      </p:sp>
      <p:sp>
        <p:nvSpPr>
          <p:cNvPr id="11" name="Rectangle">
            <a:extLst>
              <a:ext uri="{FF2B5EF4-FFF2-40B4-BE49-F238E27FC236}">
                <a16:creationId xmlns:a16="http://schemas.microsoft.com/office/drawing/2014/main" id="{A0C957D4-E4F1-4D51-EC0C-C161461E948E}"/>
              </a:ext>
            </a:extLst>
          </p:cNvPr>
          <p:cNvSpPr/>
          <p:nvPr/>
        </p:nvSpPr>
        <p:spPr>
          <a:xfrm>
            <a:off x="720598" y="1395095"/>
            <a:ext cx="3781552" cy="114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Andscape.</a:t>
            </a:r>
            <a:r>
              <a:rPr lang="en-US" sz="665" b="0" i="0" dirty="0">
                <a:solidFill>
                  <a:srgbClr val="1F1F1F"/>
                </a:solidFill>
                <a:latin typeface="Open Sans"/>
              </a:rPr>
              <a:t> (2021, June 24). </a:t>
            </a:r>
            <a:r>
              <a:rPr lang="en-US" sz="665" b="0" i="1" dirty="0">
                <a:solidFill>
                  <a:srgbClr val="1F1F1F"/>
                </a:solidFill>
                <a:latin typeface="Open Sans"/>
              </a:rPr>
              <a:t>T-Pain popularized Auto-Tune, but it came at a cost</a:t>
            </a:r>
            <a:r>
              <a:rPr lang="en-US" sz="665" b="0" i="0" dirty="0">
                <a:solidFill>
                  <a:srgbClr val="1F1F1F"/>
                </a:solidFill>
                <a:latin typeface="Open Sans"/>
              </a:rPr>
              <a:t>. </a:t>
            </a:r>
            <a:r>
              <a:rPr lang="en-US" sz="665" b="0" i="0" dirty="0">
                <a:solidFill>
                  <a:srgbClr val="5B5B5B"/>
                </a:solidFill>
                <a:latin typeface="Open Sans"/>
              </a:rPr>
              <a:t>andscape.com</a:t>
            </a:r>
            <a:endParaRPr lang="en-US"/>
          </a:p>
        </p:txBody>
      </p:sp>
      <p:sp>
        <p:nvSpPr>
          <p:cNvPr id="12" name="Rectangle">
            <a:extLst>
              <a:ext uri="{FF2B5EF4-FFF2-40B4-BE49-F238E27FC236}">
                <a16:creationId xmlns:a16="http://schemas.microsoft.com/office/drawing/2014/main" id="{A0C957D4-E4F1-4D51-EC0C-C161461E948E}"/>
              </a:ext>
            </a:extLst>
          </p:cNvPr>
          <p:cNvSpPr/>
          <p:nvPr/>
        </p:nvSpPr>
        <p:spPr>
          <a:xfrm>
            <a:off x="609600" y="1532763"/>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2. </a:t>
            </a:r>
            <a:endParaRPr lang="en-US"/>
          </a:p>
        </p:txBody>
      </p:sp>
      <p:sp>
        <p:nvSpPr>
          <p:cNvPr id="13" name="Rectangle">
            <a:extLst>
              <a:ext uri="{FF2B5EF4-FFF2-40B4-BE49-F238E27FC236}">
                <a16:creationId xmlns:a16="http://schemas.microsoft.com/office/drawing/2014/main" id="{A0C957D4-E4F1-4D51-EC0C-C161461E948E}"/>
              </a:ext>
            </a:extLst>
          </p:cNvPr>
          <p:cNvSpPr/>
          <p:nvPr/>
        </p:nvSpPr>
        <p:spPr>
          <a:xfrm>
            <a:off x="720598" y="1532763"/>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Eff, M.</a:t>
            </a:r>
            <a:r>
              <a:rPr lang="en-US" sz="665" b="0" i="0" dirty="0">
                <a:solidFill>
                  <a:srgbClr val="1F1F1F"/>
                </a:solidFill>
                <a:latin typeface="Open Sans"/>
              </a:rPr>
              <a:t> (2025, Sept. 11). </a:t>
            </a:r>
            <a:r>
              <a:rPr lang="en-US" sz="665" b="0" i="1" dirty="0">
                <a:solidFill>
                  <a:srgbClr val="1F1F1F"/>
                </a:solidFill>
                <a:latin typeface="Open Sans"/>
              </a:rPr>
              <a:t>Beyond the hype: Why the music industry needs better ways to judge AI creativity</a:t>
            </a:r>
            <a:r>
              <a:rPr lang="en-US" sz="665" b="0" i="0" dirty="0">
                <a:solidFill>
                  <a:srgbClr val="1F1F1F"/>
                </a:solidFill>
                <a:latin typeface="Open Sans"/>
              </a:rPr>
              <a:t>. </a:t>
            </a:r>
            <a:r>
              <a:rPr lang="en-US" sz="665" b="0" i="0" dirty="0">
                <a:solidFill>
                  <a:srgbClr val="5B5B5B"/>
                </a:solidFill>
                <a:latin typeface="Open Sans"/>
              </a:rPr>
              <a:t>Medium / AI Music</a:t>
            </a:r>
            <a:r>
              <a:rPr lang="en-US" sz="665" b="0" i="0" dirty="0">
                <a:solidFill>
                  <a:srgbClr val="1F1F1F"/>
                </a:solidFill>
                <a:latin typeface="Open Sans"/>
              </a:rPr>
              <a:t>.</a:t>
            </a:r>
            <a:endParaRPr lang="en-US"/>
          </a:p>
        </p:txBody>
      </p:sp>
      <p:sp>
        <p:nvSpPr>
          <p:cNvPr id="14" name="Rectangle">
            <a:extLst>
              <a:ext uri="{FF2B5EF4-FFF2-40B4-BE49-F238E27FC236}">
                <a16:creationId xmlns:a16="http://schemas.microsoft.com/office/drawing/2014/main" id="{A0C957D4-E4F1-4D51-EC0C-C161461E948E}"/>
              </a:ext>
            </a:extLst>
          </p:cNvPr>
          <p:cNvSpPr/>
          <p:nvPr/>
        </p:nvSpPr>
        <p:spPr>
          <a:xfrm>
            <a:off x="609600" y="1767459"/>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3. </a:t>
            </a:r>
            <a:endParaRPr lang="en-US"/>
          </a:p>
        </p:txBody>
      </p:sp>
      <p:sp>
        <p:nvSpPr>
          <p:cNvPr id="15" name="Rectangle">
            <a:extLst>
              <a:ext uri="{FF2B5EF4-FFF2-40B4-BE49-F238E27FC236}">
                <a16:creationId xmlns:a16="http://schemas.microsoft.com/office/drawing/2014/main" id="{A0C957D4-E4F1-4D51-EC0C-C161461E948E}"/>
              </a:ext>
            </a:extLst>
          </p:cNvPr>
          <p:cNvSpPr/>
          <p:nvPr/>
        </p:nvSpPr>
        <p:spPr>
          <a:xfrm>
            <a:off x="720598" y="1767459"/>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Evans, T. M.</a:t>
            </a:r>
            <a:r>
              <a:rPr lang="en-US" sz="665" b="0" i="0" dirty="0">
                <a:solidFill>
                  <a:srgbClr val="1F1F1F"/>
                </a:solidFill>
                <a:latin typeface="Open Sans"/>
              </a:rPr>
              <a:t> (2010). Sampling, looping, and mashing oh my: Hip hop and copyright law. </a:t>
            </a:r>
            <a:r>
              <a:rPr lang="en-US" sz="665" b="0" i="1" dirty="0">
                <a:solidFill>
                  <a:srgbClr val="1F1F1F"/>
                </a:solidFill>
                <a:latin typeface="Open Sans"/>
              </a:rPr>
              <a:t>Fordham IP, Media &amp; Entertainment Law Journal, 20</a:t>
            </a:r>
            <a:r>
              <a:rPr lang="en-US" sz="665" b="0" i="0" dirty="0">
                <a:solidFill>
                  <a:srgbClr val="1F1F1F"/>
                </a:solidFill>
                <a:latin typeface="Open Sans"/>
              </a:rPr>
              <a:t>(4), 115–152.</a:t>
            </a:r>
            <a:endParaRPr lang="en-US"/>
          </a:p>
        </p:txBody>
      </p:sp>
      <p:sp>
        <p:nvSpPr>
          <p:cNvPr id="16" name="Rectangle">
            <a:extLst>
              <a:ext uri="{FF2B5EF4-FFF2-40B4-BE49-F238E27FC236}">
                <a16:creationId xmlns:a16="http://schemas.microsoft.com/office/drawing/2014/main" id="{A0C957D4-E4F1-4D51-EC0C-C161461E948E}"/>
              </a:ext>
            </a:extLst>
          </p:cNvPr>
          <p:cNvSpPr/>
          <p:nvPr/>
        </p:nvSpPr>
        <p:spPr>
          <a:xfrm>
            <a:off x="609600" y="2002155"/>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4. </a:t>
            </a:r>
            <a:endParaRPr lang="en-US"/>
          </a:p>
        </p:txBody>
      </p:sp>
      <p:sp>
        <p:nvSpPr>
          <p:cNvPr id="17" name="Rectangle">
            <a:extLst>
              <a:ext uri="{FF2B5EF4-FFF2-40B4-BE49-F238E27FC236}">
                <a16:creationId xmlns:a16="http://schemas.microsoft.com/office/drawing/2014/main" id="{A0C957D4-E4F1-4D51-EC0C-C161461E948E}"/>
              </a:ext>
            </a:extLst>
          </p:cNvPr>
          <p:cNvSpPr/>
          <p:nvPr/>
        </p:nvSpPr>
        <p:spPr>
          <a:xfrm>
            <a:off x="720598" y="2002155"/>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Holland &amp; Knight.</a:t>
            </a:r>
            <a:r>
              <a:rPr lang="en-US" sz="665" b="0" i="0" dirty="0">
                <a:solidFill>
                  <a:srgbClr val="1F1F1F"/>
                </a:solidFill>
                <a:latin typeface="Open Sans"/>
              </a:rPr>
              <a:t> (2024, Apr. 1). </a:t>
            </a:r>
            <a:r>
              <a:rPr lang="en-US" sz="665" b="0" i="1" dirty="0">
                <a:solidFill>
                  <a:srgbClr val="1F1F1F"/>
                </a:solidFill>
                <a:latin typeface="Open Sans"/>
              </a:rPr>
              <a:t>First-of-its-kind AI law addresses deep fakes and voice clones</a:t>
            </a:r>
            <a:r>
              <a:rPr lang="en-US" sz="665" b="0" i="0" dirty="0">
                <a:solidFill>
                  <a:srgbClr val="1F1F1F"/>
                </a:solidFill>
                <a:latin typeface="Open Sans"/>
              </a:rPr>
              <a:t>. </a:t>
            </a:r>
            <a:r>
              <a:rPr lang="en-US" sz="665" b="0" i="0" dirty="0">
                <a:solidFill>
                  <a:srgbClr val="5B5B5B"/>
                </a:solidFill>
                <a:latin typeface="Open Sans"/>
              </a:rPr>
              <a:t>hklaw.com</a:t>
            </a:r>
            <a:endParaRPr lang="en-US"/>
          </a:p>
        </p:txBody>
      </p:sp>
      <p:sp>
        <p:nvSpPr>
          <p:cNvPr id="18" name="Rectangle">
            <a:extLst>
              <a:ext uri="{FF2B5EF4-FFF2-40B4-BE49-F238E27FC236}">
                <a16:creationId xmlns:a16="http://schemas.microsoft.com/office/drawing/2014/main" id="{A0C957D4-E4F1-4D51-EC0C-C161461E948E}"/>
              </a:ext>
            </a:extLst>
          </p:cNvPr>
          <p:cNvSpPr/>
          <p:nvPr/>
        </p:nvSpPr>
        <p:spPr>
          <a:xfrm>
            <a:off x="609600" y="2236851"/>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5. </a:t>
            </a:r>
            <a:endParaRPr lang="en-US"/>
          </a:p>
        </p:txBody>
      </p:sp>
      <p:sp>
        <p:nvSpPr>
          <p:cNvPr id="19" name="Rectangle">
            <a:extLst>
              <a:ext uri="{FF2B5EF4-FFF2-40B4-BE49-F238E27FC236}">
                <a16:creationId xmlns:a16="http://schemas.microsoft.com/office/drawing/2014/main" id="{A0C957D4-E4F1-4D51-EC0C-C161461E948E}"/>
              </a:ext>
            </a:extLst>
          </p:cNvPr>
          <p:cNvSpPr/>
          <p:nvPr/>
        </p:nvSpPr>
        <p:spPr>
          <a:xfrm>
            <a:off x="720598" y="2236851"/>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Music Business Worldwide.</a:t>
            </a:r>
            <a:r>
              <a:rPr lang="en-US" sz="665" b="0" i="0" dirty="0">
                <a:solidFill>
                  <a:srgbClr val="1F1F1F"/>
                </a:solidFill>
                <a:latin typeface="Open Sans"/>
              </a:rPr>
              <a:t> (2023, Aug. 30). </a:t>
            </a:r>
            <a:r>
              <a:rPr lang="en-US" sz="665" b="0" i="1" dirty="0">
                <a:solidFill>
                  <a:srgbClr val="1F1F1F"/>
                </a:solidFill>
                <a:latin typeface="Open Sans"/>
              </a:rPr>
              <a:t>UMG: Ripping off Drake’s voice for that AI track was against the law</a:t>
            </a:r>
            <a:r>
              <a:rPr lang="en-US" sz="665" b="0" i="0" dirty="0">
                <a:solidFill>
                  <a:srgbClr val="1F1F1F"/>
                </a:solidFill>
                <a:latin typeface="Open Sans"/>
              </a:rPr>
              <a:t>. </a:t>
            </a:r>
            <a:r>
              <a:rPr lang="en-US" sz="665" b="0" i="0" dirty="0">
                <a:solidFill>
                  <a:srgbClr val="5B5B5B"/>
                </a:solidFill>
                <a:latin typeface="Open Sans"/>
              </a:rPr>
              <a:t>musicbusinessworldwide.com</a:t>
            </a:r>
            <a:endParaRPr lang="en-US"/>
          </a:p>
        </p:txBody>
      </p:sp>
      <p:sp>
        <p:nvSpPr>
          <p:cNvPr id="20" name="Rectangle">
            <a:extLst>
              <a:ext uri="{FF2B5EF4-FFF2-40B4-BE49-F238E27FC236}">
                <a16:creationId xmlns:a16="http://schemas.microsoft.com/office/drawing/2014/main" id="{A0C957D4-E4F1-4D51-EC0C-C161461E948E}"/>
              </a:ext>
            </a:extLst>
          </p:cNvPr>
          <p:cNvSpPr/>
          <p:nvPr/>
        </p:nvSpPr>
        <p:spPr>
          <a:xfrm>
            <a:off x="609600" y="2471547"/>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6. </a:t>
            </a:r>
            <a:endParaRPr lang="en-US"/>
          </a:p>
        </p:txBody>
      </p:sp>
      <p:sp>
        <p:nvSpPr>
          <p:cNvPr id="21" name="Rectangle">
            <a:extLst>
              <a:ext uri="{FF2B5EF4-FFF2-40B4-BE49-F238E27FC236}">
                <a16:creationId xmlns:a16="http://schemas.microsoft.com/office/drawing/2014/main" id="{A0C957D4-E4F1-4D51-EC0C-C161461E948E}"/>
              </a:ext>
            </a:extLst>
          </p:cNvPr>
          <p:cNvSpPr/>
          <p:nvPr/>
        </p:nvSpPr>
        <p:spPr>
          <a:xfrm>
            <a:off x="720598" y="2471547"/>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Olabode, J.</a:t>
            </a:r>
            <a:r>
              <a:rPr lang="en-US" sz="665" b="0" i="0" dirty="0">
                <a:solidFill>
                  <a:srgbClr val="1F1F1F"/>
                </a:solidFill>
                <a:latin typeface="Open Sans"/>
              </a:rPr>
              <a:t> (2023). </a:t>
            </a:r>
            <a:r>
              <a:rPr lang="en-US" sz="665" b="0" i="1" dirty="0">
                <a:solidFill>
                  <a:srgbClr val="1F1F1F"/>
                </a:solidFill>
                <a:latin typeface="Open Sans"/>
              </a:rPr>
              <a:t>Sampling in hip-hop — creative genius or a total flop</a:t>
            </a:r>
            <a:r>
              <a:rPr lang="en-US" sz="665" b="0" i="0" dirty="0">
                <a:solidFill>
                  <a:srgbClr val="1F1F1F"/>
                </a:solidFill>
                <a:latin typeface="Open Sans"/>
              </a:rPr>
              <a:t> [Undergraduate thesis]. </a:t>
            </a:r>
            <a:r>
              <a:rPr lang="en-US" sz="665" b="0" i="0" dirty="0">
                <a:solidFill>
                  <a:srgbClr val="5B5B5B"/>
                </a:solidFill>
                <a:latin typeface="Open Sans"/>
              </a:rPr>
              <a:t>arXiv</a:t>
            </a:r>
            <a:r>
              <a:rPr lang="en-US" sz="665" b="0" i="0" dirty="0">
                <a:solidFill>
                  <a:srgbClr val="1F1F1F"/>
                </a:solidFill>
                <a:latin typeface="Open Sans"/>
              </a:rPr>
              <a:t>.</a:t>
            </a:r>
            <a:endParaRPr lang="en-US"/>
          </a:p>
        </p:txBody>
      </p:sp>
      <p:sp>
        <p:nvSpPr>
          <p:cNvPr id="22" name="Rectangle">
            <a:extLst>
              <a:ext uri="{FF2B5EF4-FFF2-40B4-BE49-F238E27FC236}">
                <a16:creationId xmlns:a16="http://schemas.microsoft.com/office/drawing/2014/main" id="{A0C957D4-E4F1-4D51-EC0C-C161461E948E}"/>
              </a:ext>
            </a:extLst>
          </p:cNvPr>
          <p:cNvSpPr/>
          <p:nvPr/>
        </p:nvSpPr>
        <p:spPr>
          <a:xfrm>
            <a:off x="4714875" y="1395095"/>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1. </a:t>
            </a:r>
            <a:endParaRPr lang="en-US"/>
          </a:p>
        </p:txBody>
      </p:sp>
      <p:sp>
        <p:nvSpPr>
          <p:cNvPr id="23" name="Rectangle">
            <a:extLst>
              <a:ext uri="{FF2B5EF4-FFF2-40B4-BE49-F238E27FC236}">
                <a16:creationId xmlns:a16="http://schemas.microsoft.com/office/drawing/2014/main" id="{A0C957D4-E4F1-4D51-EC0C-C161461E948E}"/>
              </a:ext>
            </a:extLst>
          </p:cNvPr>
          <p:cNvSpPr/>
          <p:nvPr/>
        </p:nvSpPr>
        <p:spPr>
          <a:xfrm>
            <a:off x="4825873" y="1395095"/>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Price, E., &amp; Kitwana, B.</a:t>
            </a:r>
            <a:r>
              <a:rPr lang="en-US" sz="665" b="0" i="0" dirty="0">
                <a:solidFill>
                  <a:srgbClr val="1F1F1F"/>
                </a:solidFill>
                <a:latin typeface="Open Sans"/>
              </a:rPr>
              <a:t> (as cited in Kelsey, A., 2012). </a:t>
            </a:r>
            <a:r>
              <a:rPr lang="en-US" sz="665" b="0" i="1" dirty="0">
                <a:solidFill>
                  <a:srgbClr val="1F1F1F"/>
                </a:solidFill>
                <a:latin typeface="Open Sans"/>
              </a:rPr>
              <a:t>Giant in the hillside: Hip-hop and copyright law</a:t>
            </a:r>
            <a:r>
              <a:rPr lang="en-US" sz="665" b="0" i="0" dirty="0">
                <a:solidFill>
                  <a:srgbClr val="1F1F1F"/>
                </a:solidFill>
                <a:latin typeface="Open Sans"/>
              </a:rPr>
              <a:t> [Honors thesis]. Bates College.</a:t>
            </a:r>
            <a:endParaRPr lang="en-US"/>
          </a:p>
        </p:txBody>
      </p:sp>
      <p:sp>
        <p:nvSpPr>
          <p:cNvPr id="24" name="Rectangle">
            <a:extLst>
              <a:ext uri="{FF2B5EF4-FFF2-40B4-BE49-F238E27FC236}">
                <a16:creationId xmlns:a16="http://schemas.microsoft.com/office/drawing/2014/main" id="{A0C957D4-E4F1-4D51-EC0C-C161461E948E}"/>
              </a:ext>
            </a:extLst>
          </p:cNvPr>
          <p:cNvSpPr/>
          <p:nvPr/>
        </p:nvSpPr>
        <p:spPr>
          <a:xfrm>
            <a:off x="4714875" y="1629791"/>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2. </a:t>
            </a:r>
            <a:endParaRPr lang="en-US"/>
          </a:p>
        </p:txBody>
      </p:sp>
      <p:sp>
        <p:nvSpPr>
          <p:cNvPr id="25" name="Rectangle">
            <a:extLst>
              <a:ext uri="{FF2B5EF4-FFF2-40B4-BE49-F238E27FC236}">
                <a16:creationId xmlns:a16="http://schemas.microsoft.com/office/drawing/2014/main" id="{A0C957D4-E4F1-4D51-EC0C-C161461E948E}"/>
              </a:ext>
            </a:extLst>
          </p:cNvPr>
          <p:cNvSpPr/>
          <p:nvPr/>
        </p:nvSpPr>
        <p:spPr>
          <a:xfrm>
            <a:off x="4825873" y="1629791"/>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Southern California Law Review.</a:t>
            </a:r>
            <a:r>
              <a:rPr lang="en-US" sz="665" b="0" i="0" dirty="0">
                <a:solidFill>
                  <a:srgbClr val="1F1F1F"/>
                </a:solidFill>
                <a:latin typeface="Open Sans"/>
              </a:rPr>
              <a:t> (2025, Apr. 24). </a:t>
            </a:r>
            <a:r>
              <a:rPr lang="en-US" sz="665" b="0" i="1" dirty="0">
                <a:solidFill>
                  <a:srgbClr val="1F1F1F"/>
                </a:solidFill>
                <a:latin typeface="Open Sans"/>
              </a:rPr>
              <a:t>“Fake Drake”: Vindicating copyright ownership in the advent of generative AI music</a:t>
            </a:r>
            <a:r>
              <a:rPr lang="en-US" sz="665" b="0" i="0" dirty="0">
                <a:solidFill>
                  <a:srgbClr val="1F1F1F"/>
                </a:solidFill>
                <a:latin typeface="Open Sans"/>
              </a:rPr>
              <a:t>. </a:t>
            </a:r>
            <a:r>
              <a:rPr lang="en-US" sz="665" b="0" i="0" dirty="0">
                <a:solidFill>
                  <a:srgbClr val="5B5B5B"/>
                </a:solidFill>
                <a:latin typeface="Open Sans"/>
              </a:rPr>
              <a:t>southerncalifornialawreview.com</a:t>
            </a:r>
            <a:endParaRPr lang="en-US"/>
          </a:p>
        </p:txBody>
      </p:sp>
      <p:sp>
        <p:nvSpPr>
          <p:cNvPr id="26" name="Rectangle">
            <a:extLst>
              <a:ext uri="{FF2B5EF4-FFF2-40B4-BE49-F238E27FC236}">
                <a16:creationId xmlns:a16="http://schemas.microsoft.com/office/drawing/2014/main" id="{A0C957D4-E4F1-4D51-EC0C-C161461E948E}"/>
              </a:ext>
            </a:extLst>
          </p:cNvPr>
          <p:cNvSpPr/>
          <p:nvPr/>
        </p:nvSpPr>
        <p:spPr>
          <a:xfrm>
            <a:off x="4714875" y="1864487"/>
            <a:ext cx="92075"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4"/>
              </a:lnSpc>
            </a:pPr>
            <a:r>
              <a:rPr lang="en-US" sz="665" b="0" i="0" dirty="0">
                <a:solidFill>
                  <a:srgbClr val="1F1F1F"/>
                </a:solidFill>
                <a:latin typeface="Open Sans"/>
              </a:rPr>
              <a:t>3. </a:t>
            </a:r>
            <a:endParaRPr lang="en-US"/>
          </a:p>
        </p:txBody>
      </p:sp>
      <p:sp>
        <p:nvSpPr>
          <p:cNvPr id="27" name="Rectangle">
            <a:extLst>
              <a:ext uri="{FF2B5EF4-FFF2-40B4-BE49-F238E27FC236}">
                <a16:creationId xmlns:a16="http://schemas.microsoft.com/office/drawing/2014/main" id="{A0C957D4-E4F1-4D51-EC0C-C161461E948E}"/>
              </a:ext>
            </a:extLst>
          </p:cNvPr>
          <p:cNvSpPr/>
          <p:nvPr/>
        </p:nvSpPr>
        <p:spPr>
          <a:xfrm>
            <a:off x="4825873" y="1864487"/>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4"/>
              </a:lnSpc>
            </a:pPr>
            <a:r>
              <a:rPr lang="en-US" sz="665" b="1" i="0" dirty="0">
                <a:solidFill>
                  <a:srgbClr val="6B2D5C"/>
                </a:solidFill>
                <a:latin typeface="Open Sans"/>
              </a:rPr>
              <a:t>Srivastava, A., et al.</a:t>
            </a:r>
            <a:r>
              <a:rPr lang="en-US" sz="665" b="0" i="0" dirty="0">
                <a:solidFill>
                  <a:srgbClr val="1F1F1F"/>
                </a:solidFill>
                <a:latin typeface="Open Sans"/>
              </a:rPr>
              <a:t> (2026). The economics of AI in the music industry: Impacts, risks, and opportunities. </a:t>
            </a:r>
            <a:r>
              <a:rPr lang="en-US" sz="665" b="0" i="1" dirty="0">
                <a:solidFill>
                  <a:srgbClr val="1F1F1F"/>
                </a:solidFill>
                <a:latin typeface="Open Sans"/>
              </a:rPr>
              <a:t>International Journal of Health Sciences &amp; Research, 8</a:t>
            </a:r>
            <a:r>
              <a:rPr lang="en-US" sz="665" b="0" i="0" dirty="0">
                <a:solidFill>
                  <a:srgbClr val="1F1F1F"/>
                </a:solidFill>
                <a:latin typeface="Open Sans"/>
              </a:rPr>
              <a:t>(7).</a:t>
            </a:r>
            <a:endParaRPr lang="en-US"/>
          </a:p>
        </p:txBody>
      </p:sp>
      <p:sp>
        <p:nvSpPr>
          <p:cNvPr id="28" name="Rectangle">
            <a:extLst>
              <a:ext uri="{FF2B5EF4-FFF2-40B4-BE49-F238E27FC236}">
                <a16:creationId xmlns:a16="http://schemas.microsoft.com/office/drawing/2014/main" id="{A0C957D4-E4F1-4D51-EC0C-C161461E948E}"/>
              </a:ext>
            </a:extLst>
          </p:cNvPr>
          <p:cNvSpPr/>
          <p:nvPr/>
        </p:nvSpPr>
        <p:spPr>
          <a:xfrm>
            <a:off x="4667250" y="2099183"/>
            <a:ext cx="139700"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4. </a:t>
            </a:r>
            <a:endParaRPr lang="en-US"/>
          </a:p>
        </p:txBody>
      </p:sp>
      <p:sp>
        <p:nvSpPr>
          <p:cNvPr id="29" name="Rectangle">
            <a:extLst>
              <a:ext uri="{FF2B5EF4-FFF2-40B4-BE49-F238E27FC236}">
                <a16:creationId xmlns:a16="http://schemas.microsoft.com/office/drawing/2014/main" id="{A0C957D4-E4F1-4D51-EC0C-C161461E948E}"/>
              </a:ext>
            </a:extLst>
          </p:cNvPr>
          <p:cNvSpPr/>
          <p:nvPr/>
        </p:nvSpPr>
        <p:spPr>
          <a:xfrm>
            <a:off x="4825873" y="2099183"/>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Tompros, L.</a:t>
            </a:r>
            <a:r>
              <a:rPr lang="en-US" sz="665" b="0" i="0" dirty="0">
                <a:solidFill>
                  <a:srgbClr val="1F1F1F"/>
                </a:solidFill>
                <a:latin typeface="Open Sans"/>
              </a:rPr>
              <a:t> (2023, May 2). </a:t>
            </a:r>
            <a:r>
              <a:rPr lang="en-US" sz="665" b="0" i="1" dirty="0">
                <a:solidFill>
                  <a:srgbClr val="1F1F1F"/>
                </a:solidFill>
                <a:latin typeface="Open Sans"/>
              </a:rPr>
              <a:t>AI created a song mimicking Drake and The Weeknd — what does that mean for copyright law?</a:t>
            </a:r>
            <a:r>
              <a:rPr lang="en-US" sz="665" b="0" i="0" dirty="0">
                <a:solidFill>
                  <a:srgbClr val="1F1F1F"/>
                </a:solidFill>
                <a:latin typeface="Open Sans"/>
              </a:rPr>
              <a:t> Harvard Law School Today.</a:t>
            </a:r>
            <a:endParaRPr lang="en-US"/>
          </a:p>
        </p:txBody>
      </p:sp>
      <p:sp>
        <p:nvSpPr>
          <p:cNvPr id="30" name="Rectangle">
            <a:extLst>
              <a:ext uri="{FF2B5EF4-FFF2-40B4-BE49-F238E27FC236}">
                <a16:creationId xmlns:a16="http://schemas.microsoft.com/office/drawing/2014/main" id="{A0C957D4-E4F1-4D51-EC0C-C161461E948E}"/>
              </a:ext>
            </a:extLst>
          </p:cNvPr>
          <p:cNvSpPr/>
          <p:nvPr/>
        </p:nvSpPr>
        <p:spPr>
          <a:xfrm>
            <a:off x="4667250" y="2333879"/>
            <a:ext cx="139700"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4"/>
              </a:lnSpc>
            </a:pPr>
            <a:r>
              <a:rPr lang="en-US" sz="665" b="0" i="0" dirty="0">
                <a:solidFill>
                  <a:srgbClr val="1F1F1F"/>
                </a:solidFill>
                <a:latin typeface="Open Sans"/>
              </a:rPr>
              <a:t>5. </a:t>
            </a:r>
            <a:endParaRPr lang="en-US"/>
          </a:p>
        </p:txBody>
      </p:sp>
      <p:sp>
        <p:nvSpPr>
          <p:cNvPr id="31" name="Rectangle">
            <a:extLst>
              <a:ext uri="{FF2B5EF4-FFF2-40B4-BE49-F238E27FC236}">
                <a16:creationId xmlns:a16="http://schemas.microsoft.com/office/drawing/2014/main" id="{A0C957D4-E4F1-4D51-EC0C-C161461E948E}"/>
              </a:ext>
            </a:extLst>
          </p:cNvPr>
          <p:cNvSpPr/>
          <p:nvPr/>
        </p:nvSpPr>
        <p:spPr>
          <a:xfrm>
            <a:off x="4825873" y="2333879"/>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4"/>
              </a:lnSpc>
            </a:pPr>
            <a:r>
              <a:rPr lang="en-US" sz="665" b="1" i="0" dirty="0">
                <a:solidFill>
                  <a:srgbClr val="6B2D5C"/>
                </a:solidFill>
                <a:latin typeface="Open Sans"/>
              </a:rPr>
              <a:t>Tschmuck, P.</a:t>
            </a:r>
            <a:r>
              <a:rPr lang="en-US" sz="665" b="0" i="0" dirty="0">
                <a:solidFill>
                  <a:srgbClr val="1F1F1F"/>
                </a:solidFill>
                <a:latin typeface="Open Sans"/>
              </a:rPr>
              <a:t> (2024, May 27). </a:t>
            </a:r>
            <a:r>
              <a:rPr lang="en-US" sz="665" b="0" i="1" dirty="0">
                <a:solidFill>
                  <a:srgbClr val="1F1F1F"/>
                </a:solidFill>
                <a:latin typeface="Open Sans"/>
              </a:rPr>
              <a:t>AI in the music industry — Part 17: “Fake Drake” and deep fakes</a:t>
            </a:r>
            <a:r>
              <a:rPr lang="en-US" sz="665" b="0" i="0" dirty="0">
                <a:solidFill>
                  <a:srgbClr val="1F1F1F"/>
                </a:solidFill>
                <a:latin typeface="Open Sans"/>
              </a:rPr>
              <a:t>. Music Business Research Blog.</a:t>
            </a:r>
            <a:endParaRPr lang="en-US"/>
          </a:p>
        </p:txBody>
      </p:sp>
      <p:sp>
        <p:nvSpPr>
          <p:cNvPr id="32" name="Rectangle">
            <a:extLst>
              <a:ext uri="{FF2B5EF4-FFF2-40B4-BE49-F238E27FC236}">
                <a16:creationId xmlns:a16="http://schemas.microsoft.com/office/drawing/2014/main" id="{A0C957D4-E4F1-4D51-EC0C-C161461E948E}"/>
              </a:ext>
            </a:extLst>
          </p:cNvPr>
          <p:cNvSpPr/>
          <p:nvPr/>
        </p:nvSpPr>
        <p:spPr>
          <a:xfrm>
            <a:off x="4667250" y="2568575"/>
            <a:ext cx="139700" cy="1140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r">
              <a:lnSpc>
                <a:spcPts val="765"/>
              </a:lnSpc>
            </a:pPr>
            <a:r>
              <a:rPr lang="en-US" sz="665" b="0" i="0" dirty="0">
                <a:solidFill>
                  <a:srgbClr val="1F1F1F"/>
                </a:solidFill>
                <a:latin typeface="Open Sans"/>
              </a:rPr>
              <a:t>6. </a:t>
            </a:r>
            <a:endParaRPr lang="en-US"/>
          </a:p>
        </p:txBody>
      </p:sp>
      <p:sp>
        <p:nvSpPr>
          <p:cNvPr id="33" name="Rectangle">
            <a:extLst>
              <a:ext uri="{FF2B5EF4-FFF2-40B4-BE49-F238E27FC236}">
                <a16:creationId xmlns:a16="http://schemas.microsoft.com/office/drawing/2014/main" id="{A0C957D4-E4F1-4D51-EC0C-C161461E948E}"/>
              </a:ext>
            </a:extLst>
          </p:cNvPr>
          <p:cNvSpPr/>
          <p:nvPr/>
        </p:nvSpPr>
        <p:spPr>
          <a:xfrm>
            <a:off x="4825873" y="2568575"/>
            <a:ext cx="3781552" cy="1940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lstStyle/>
          <a:p>
            <a:pPr algn="l">
              <a:lnSpc>
                <a:spcPts val="765"/>
              </a:lnSpc>
            </a:pPr>
            <a:r>
              <a:rPr lang="en-US" sz="665" b="1" i="0" dirty="0">
                <a:solidFill>
                  <a:srgbClr val="6B2D5C"/>
                </a:solidFill>
                <a:latin typeface="Open Sans"/>
              </a:rPr>
              <a:t>Ungruh, R., et al.</a:t>
            </a:r>
            <a:r>
              <a:rPr lang="en-US" sz="665" b="0" i="0" dirty="0">
                <a:solidFill>
                  <a:srgbClr val="1F1F1F"/>
                </a:solidFill>
                <a:latin typeface="Open Sans"/>
              </a:rPr>
              <a:t> (2024). </a:t>
            </a:r>
            <a:r>
              <a:rPr lang="en-US" sz="665" b="0" i="1" dirty="0">
                <a:solidFill>
                  <a:srgbClr val="1F1F1F"/>
                </a:solidFill>
                <a:latin typeface="Open Sans"/>
              </a:rPr>
              <a:t>Missing melodies: AI music generation and its “nearly” complete omission of the Global South</a:t>
            </a:r>
            <a:r>
              <a:rPr lang="en-US" sz="665" b="0" i="0" dirty="0">
                <a:solidFill>
                  <a:srgbClr val="1F1F1F"/>
                </a:solidFill>
                <a:latin typeface="Open Sans"/>
              </a:rPr>
              <a:t>. arXiv.</a:t>
            </a:r>
            <a:endParaRPr lang="en-US"/>
          </a:p>
        </p:txBody>
      </p:sp>
    </p:spTree>
    <p:extLst>
      <p:ext uri="{BB962C8B-B14F-4D97-AF65-F5344CB8AC3E}">
        <p14:creationId xmlns:p14="http://schemas.microsoft.com/office/powerpoint/2010/main" val="945381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TotalTime>
  <Words>4753</Words>
  <Application>Microsoft Office PowerPoint</Application>
  <PresentationFormat>On-screen Show (16:9)</PresentationFormat>
  <Paragraphs>428</Paragraphs>
  <Slides>20</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Open Sans SemiBold</vt:lpstr>
      <vt:lpstr>Calibri</vt:lpstr>
      <vt:lpstr>Montserrat</vt:lpstr>
      <vt:lpstr>Montserrat SemiBold</vt:lpstr>
      <vt:lpstr>Open Sans</vt:lpstr>
      <vt:lpstr>Times New Roman</vt:lpstr>
      <vt:lpstr>Arial</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Hip-Hop — Rewritten Presentation</dc:title>
  <dc:creator>Hix.AI PPTX Renderer</dc:creator>
  <cp:lastModifiedBy>Kiki Dravie</cp:lastModifiedBy>
  <cp:revision>6</cp:revision>
  <dcterms:created xsi:type="dcterms:W3CDTF">2023-07-09T20:28:40Z</dcterms:created>
  <dcterms:modified xsi:type="dcterms:W3CDTF">2026-06-23T02:52:50Z</dcterms:modified>
</cp:coreProperties>
</file>